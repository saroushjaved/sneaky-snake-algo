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91" r:id="rId8"/>
    <p:sldId id="292" r:id="rId9"/>
    <p:sldId id="293" r:id="rId10"/>
    <p:sldId id="294" r:id="rId11"/>
    <p:sldId id="300" r:id="rId12"/>
    <p:sldId id="296" r:id="rId13"/>
    <p:sldId id="297" r:id="rId14"/>
    <p:sldId id="298" r:id="rId15"/>
    <p:sldId id="262" r:id="rId16"/>
    <p:sldId id="263" r:id="rId17"/>
    <p:sldId id="264" r:id="rId18"/>
    <p:sldId id="265" r:id="rId19"/>
    <p:sldId id="266" r:id="rId20"/>
    <p:sldId id="267" r:id="rId21"/>
    <p:sldId id="268" r:id="rId22"/>
    <p:sldId id="269" r:id="rId23"/>
    <p:sldId id="271" r:id="rId24"/>
    <p:sldId id="272" r:id="rId25"/>
    <p:sldId id="273" r:id="rId26"/>
    <p:sldId id="274" r:id="rId27"/>
    <p:sldId id="275" r:id="rId28"/>
    <p:sldId id="276" r:id="rId29"/>
    <p:sldId id="277" r:id="rId30"/>
    <p:sldId id="301"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Lst>
  <p:sldSz cx="18288000" cy="10287000"/>
  <p:notesSz cx="6858000" cy="9144000"/>
  <p:embeddedFontLst>
    <p:embeddedFont>
      <p:font typeface="Source Han Serif JP Bold" panose="020B0604020202020204" charset="-128"/>
      <p:regular r:id="rId45"/>
    </p:embeddedFont>
    <p:embeddedFont>
      <p:font typeface="Calibri" panose="020F0502020204030204" pitchFamily="34" charset="0"/>
      <p:regular r:id="rId46"/>
      <p:bold r:id="rId47"/>
      <p:italic r:id="rId48"/>
      <p:boldItalic r:id="rId49"/>
    </p:embeddedFont>
    <p:embeddedFont>
      <p:font typeface="Cambria Math" panose="02040503050406030204" pitchFamily="18" charset="0"/>
      <p:regular r:id="rId50"/>
    </p:embeddedFont>
    <p:embeddedFont>
      <p:font typeface="Canva Sans Bold" panose="020B0604020202020204" charset="0"/>
      <p:regular r:id="rId51"/>
    </p:embeddedFont>
    <p:embeddedFont>
      <p:font typeface="Garet Bold" panose="020B0604020202020204" charset="0"/>
      <p:regular r:id="rId52"/>
    </p:embeddedFont>
    <p:embeddedFont>
      <p:font typeface="Mongolian Baiti" panose="03000500000000000000" pitchFamily="66" charset="0"/>
      <p:regular r:id="rId53"/>
    </p:embeddedFont>
    <p:embeddedFont>
      <p:font typeface="Monotype Corsiva" panose="03010101010201010101" pitchFamily="66" charset="0"/>
      <p:italic r:id="rId54"/>
    </p:embeddedFont>
    <p:embeddedFont>
      <p:font typeface="Open Sans Bold" panose="020B0604020202020204" charset="0"/>
      <p:regular r:id="rId55"/>
    </p:embeddedFont>
    <p:embeddedFont>
      <p:font typeface="Open Sans Light Bold" panose="020B0604020202020204" charset="0"/>
      <p:regular r:id="rId56"/>
    </p:embeddedFont>
    <p:embeddedFont>
      <p:font typeface="Times Neue Roman" panose="020B0604020202020204" charset="0"/>
      <p:regular r:id="rId57"/>
    </p:embeddedFont>
    <p:embeddedFont>
      <p:font typeface="Times Neue Roman Bold" panose="020B0604020202020204" charset="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94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65" autoAdjust="0"/>
    <p:restoredTop sz="88132" autoAdjust="0"/>
  </p:normalViewPr>
  <p:slideViewPr>
    <p:cSldViewPr>
      <p:cViewPr varScale="1">
        <p:scale>
          <a:sx n="41" d="100"/>
          <a:sy n="41" d="100"/>
        </p:scale>
        <p:origin x="1212"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5508F7-17CE-45FB-8EC2-0452EF15DA1C}" type="datetimeFigureOut">
              <a:rPr lang="en-US" smtClean="0"/>
              <a:t>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B7AEA2-5463-43BF-8DB8-BDA05D948301}" type="slidenum">
              <a:rPr lang="en-US" smtClean="0"/>
              <a:t>‹#›</a:t>
            </a:fld>
            <a:endParaRPr lang="en-US"/>
          </a:p>
        </p:txBody>
      </p:sp>
    </p:spTree>
    <p:extLst>
      <p:ext uri="{BB962C8B-B14F-4D97-AF65-F5344CB8AC3E}">
        <p14:creationId xmlns:p14="http://schemas.microsoft.com/office/powerpoint/2010/main" val="1071933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B7AEA2-5463-43BF-8DB8-BDA05D948301}" type="slidenum">
              <a:rPr lang="en-US" smtClean="0"/>
              <a:t>4</a:t>
            </a:fld>
            <a:endParaRPr lang="en-US"/>
          </a:p>
        </p:txBody>
      </p:sp>
    </p:spTree>
    <p:extLst>
      <p:ext uri="{BB962C8B-B14F-4D97-AF65-F5344CB8AC3E}">
        <p14:creationId xmlns:p14="http://schemas.microsoft.com/office/powerpoint/2010/main" val="4249698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69291" lvl="1" indent="-334646">
              <a:lnSpc>
                <a:spcPts val="4340"/>
              </a:lnSpc>
              <a:buFont typeface="Arial"/>
              <a:buChar char="•"/>
            </a:pPr>
            <a:r>
              <a:rPr lang="en-US" sz="1200" dirty="0">
                <a:solidFill>
                  <a:srgbClr val="000000"/>
                </a:solidFill>
                <a:latin typeface="Times Neue Roman"/>
              </a:rPr>
              <a:t> Integration with Visual Studio Enterprise</a:t>
            </a:r>
          </a:p>
          <a:p>
            <a:pPr marL="669291" lvl="1" indent="-334646">
              <a:lnSpc>
                <a:spcPts val="4340"/>
              </a:lnSpc>
              <a:buFont typeface="Arial"/>
              <a:buChar char="•"/>
            </a:pPr>
            <a:r>
              <a:rPr lang="en-US" sz="1200" dirty="0">
                <a:solidFill>
                  <a:srgbClr val="000000"/>
                </a:solidFill>
                <a:latin typeface="Times Neue Roman"/>
              </a:rPr>
              <a:t> Choose a data sets and adjust Edit Distance Threshold, Read Length, Number of Threads and Number of Reads</a:t>
            </a:r>
          </a:p>
          <a:p>
            <a:pPr marL="669291" lvl="1" indent="-334646">
              <a:lnSpc>
                <a:spcPts val="4340"/>
              </a:lnSpc>
              <a:buFont typeface="Arial"/>
              <a:buChar char="•"/>
            </a:pPr>
            <a:r>
              <a:rPr lang="en-US" sz="1200" dirty="0">
                <a:solidFill>
                  <a:srgbClr val="000000"/>
                </a:solidFill>
                <a:latin typeface="Times Neue Roman"/>
              </a:rPr>
              <a:t>Executed to measure the execution time in Debug  Mode</a:t>
            </a:r>
          </a:p>
          <a:p>
            <a:pPr marL="669291" lvl="1" indent="-334646">
              <a:lnSpc>
                <a:spcPts val="4340"/>
              </a:lnSpc>
              <a:buFont typeface="Arial"/>
              <a:buChar char="•"/>
            </a:pPr>
            <a:r>
              <a:rPr lang="en-US" sz="1200" dirty="0">
                <a:solidFill>
                  <a:srgbClr val="000000"/>
                </a:solidFill>
                <a:latin typeface="Times Neue Roman"/>
              </a:rPr>
              <a:t>Executed with CPU and Memory Profiler </a:t>
            </a:r>
          </a:p>
          <a:p>
            <a:pPr marL="669291" lvl="1" indent="-334646">
              <a:lnSpc>
                <a:spcPts val="4340"/>
              </a:lnSpc>
              <a:buFont typeface="Arial"/>
              <a:buChar char="•"/>
            </a:pPr>
            <a:r>
              <a:rPr lang="en-US" sz="1200" dirty="0">
                <a:solidFill>
                  <a:srgbClr val="000000"/>
                </a:solidFill>
                <a:latin typeface="Times Neue Roman"/>
              </a:rPr>
              <a:t>Observations Recorded </a:t>
            </a:r>
          </a:p>
          <a:p>
            <a:pPr marL="669291" lvl="1" indent="-334646">
              <a:lnSpc>
                <a:spcPts val="4340"/>
              </a:lnSpc>
              <a:buFont typeface="Arial"/>
              <a:buChar char="•"/>
            </a:pPr>
            <a:r>
              <a:rPr lang="en-US" sz="1200" dirty="0">
                <a:solidFill>
                  <a:srgbClr val="000000"/>
                </a:solidFill>
                <a:latin typeface="Times Neue Roman"/>
              </a:rPr>
              <a:t>Repeated for different Edit Distance Threshold </a:t>
            </a:r>
          </a:p>
          <a:p>
            <a:pPr marL="669291" lvl="1" indent="-334646">
              <a:lnSpc>
                <a:spcPts val="4340"/>
              </a:lnSpc>
              <a:buFont typeface="Arial"/>
              <a:buChar char="•"/>
            </a:pPr>
            <a:r>
              <a:rPr lang="en-US" sz="1200" dirty="0">
                <a:solidFill>
                  <a:srgbClr val="000000"/>
                </a:solidFill>
                <a:latin typeface="Times Neue Roman"/>
              </a:rPr>
              <a:t>Repeated for different number of threads </a:t>
            </a:r>
          </a:p>
          <a:p>
            <a:pPr marL="669291" lvl="1" indent="-334646">
              <a:lnSpc>
                <a:spcPts val="4340"/>
              </a:lnSpc>
              <a:buFont typeface="Arial"/>
              <a:buChar char="•"/>
            </a:pPr>
            <a:r>
              <a:rPr lang="en-US" sz="1200" dirty="0">
                <a:solidFill>
                  <a:srgbClr val="000000"/>
                </a:solidFill>
                <a:latin typeface="Times Neue Roman"/>
              </a:rPr>
              <a:t>Whole Process Repeated for different data sets</a:t>
            </a:r>
          </a:p>
          <a:p>
            <a:endParaRPr lang="en-US" dirty="0"/>
          </a:p>
        </p:txBody>
      </p:sp>
      <p:sp>
        <p:nvSpPr>
          <p:cNvPr id="4" name="Slide Number Placeholder 3"/>
          <p:cNvSpPr>
            <a:spLocks noGrp="1"/>
          </p:cNvSpPr>
          <p:nvPr>
            <p:ph type="sldNum" sz="quarter" idx="5"/>
          </p:nvPr>
        </p:nvSpPr>
        <p:spPr/>
        <p:txBody>
          <a:bodyPr/>
          <a:lstStyle/>
          <a:p>
            <a:fld id="{B1B7AEA2-5463-43BF-8DB8-BDA05D948301}" type="slidenum">
              <a:rPr lang="en-US" smtClean="0"/>
              <a:t>18</a:t>
            </a:fld>
            <a:endParaRPr lang="en-US"/>
          </a:p>
        </p:txBody>
      </p:sp>
    </p:spTree>
    <p:extLst>
      <p:ext uri="{BB962C8B-B14F-4D97-AF65-F5344CB8AC3E}">
        <p14:creationId xmlns:p14="http://schemas.microsoft.com/office/powerpoint/2010/main" val="2670951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ebi.ac.uk/ena/data/view/SRR826471" TargetMode="External"/><Relationship Id="rId2" Type="http://schemas.openxmlformats.org/officeDocument/2006/relationships/hyperlink" Target="https://www.ebi.ac.uk/ena/data/view/ERR240727"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4816593" cy="270933"/>
          </a:xfrm>
        </p:grpSpPr>
        <p:sp>
          <p:nvSpPr>
            <p:cNvPr id="3" name="Freeform 3"/>
            <p:cNvSpPr/>
            <p:nvPr/>
          </p:nvSpPr>
          <p:spPr>
            <a:xfrm>
              <a:off x="0" y="0"/>
              <a:ext cx="4816592" cy="270933"/>
            </a:xfrm>
            <a:custGeom>
              <a:avLst/>
              <a:gdLst/>
              <a:ahLst/>
              <a:cxnLst/>
              <a:rect l="l" t="t" r="r" b="b"/>
              <a:pathLst>
                <a:path w="4816592" h="270933">
                  <a:moveTo>
                    <a:pt x="0" y="0"/>
                  </a:moveTo>
                  <a:lnTo>
                    <a:pt x="4816592" y="0"/>
                  </a:lnTo>
                  <a:lnTo>
                    <a:pt x="4816592" y="270933"/>
                  </a:lnTo>
                  <a:lnTo>
                    <a:pt x="0" y="270933"/>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0" y="0"/>
            <a:ext cx="8138799" cy="1028700"/>
            <a:chOff x="0" y="0"/>
            <a:chExt cx="2143552" cy="270933"/>
          </a:xfrm>
        </p:grpSpPr>
        <p:sp>
          <p:nvSpPr>
            <p:cNvPr id="6" name="Freeform 6"/>
            <p:cNvSpPr/>
            <p:nvPr/>
          </p:nvSpPr>
          <p:spPr>
            <a:xfrm>
              <a:off x="0" y="0"/>
              <a:ext cx="2143552" cy="270933"/>
            </a:xfrm>
            <a:custGeom>
              <a:avLst/>
              <a:gdLst/>
              <a:ahLst/>
              <a:cxnLst/>
              <a:rect l="l" t="t" r="r" b="b"/>
              <a:pathLst>
                <a:path w="2143552" h="270933">
                  <a:moveTo>
                    <a:pt x="0" y="0"/>
                  </a:moveTo>
                  <a:lnTo>
                    <a:pt x="2143552" y="0"/>
                  </a:lnTo>
                  <a:lnTo>
                    <a:pt x="2143552" y="270933"/>
                  </a:lnTo>
                  <a:lnTo>
                    <a:pt x="0" y="270933"/>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0" y="9258300"/>
            <a:ext cx="8138799" cy="1028700"/>
            <a:chOff x="0" y="0"/>
            <a:chExt cx="2143552" cy="270933"/>
          </a:xfrm>
        </p:grpSpPr>
        <p:sp>
          <p:nvSpPr>
            <p:cNvPr id="9" name="Freeform 9"/>
            <p:cNvSpPr/>
            <p:nvPr/>
          </p:nvSpPr>
          <p:spPr>
            <a:xfrm>
              <a:off x="0" y="0"/>
              <a:ext cx="2143552" cy="270933"/>
            </a:xfrm>
            <a:custGeom>
              <a:avLst/>
              <a:gdLst/>
              <a:ahLst/>
              <a:cxnLst/>
              <a:rect l="l" t="t" r="r" b="b"/>
              <a:pathLst>
                <a:path w="2143552" h="270933">
                  <a:moveTo>
                    <a:pt x="0" y="0"/>
                  </a:moveTo>
                  <a:lnTo>
                    <a:pt x="2143552" y="0"/>
                  </a:lnTo>
                  <a:lnTo>
                    <a:pt x="2143552" y="270933"/>
                  </a:lnTo>
                  <a:lnTo>
                    <a:pt x="0" y="270933"/>
                  </a:lnTo>
                  <a:close/>
                </a:path>
              </a:pathLst>
            </a:custGeom>
            <a:solidFill>
              <a:srgbClr val="22466B"/>
            </a:soli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pic>
        <p:nvPicPr>
          <p:cNvPr id="11" name="Picture 11"/>
          <p:cNvPicPr>
            <a:picLocks noChangeAspect="1"/>
          </p:cNvPicPr>
          <p:nvPr/>
        </p:nvPicPr>
        <p:blipFill>
          <a:blip r:embed="rId2"/>
          <a:srcRect/>
          <a:stretch>
            <a:fillRect/>
          </a:stretch>
        </p:blipFill>
        <p:spPr>
          <a:xfrm>
            <a:off x="16408217" y="8353084"/>
            <a:ext cx="1375288" cy="1375288"/>
          </a:xfrm>
          <a:prstGeom prst="rect">
            <a:avLst/>
          </a:prstGeom>
        </p:spPr>
      </p:pic>
      <p:sp>
        <p:nvSpPr>
          <p:cNvPr id="12" name="TextBox 12"/>
          <p:cNvSpPr txBox="1"/>
          <p:nvPr/>
        </p:nvSpPr>
        <p:spPr>
          <a:xfrm>
            <a:off x="1651111" y="3064521"/>
            <a:ext cx="15444750" cy="2273290"/>
          </a:xfrm>
          <a:prstGeom prst="rect">
            <a:avLst/>
          </a:prstGeom>
        </p:spPr>
        <p:txBody>
          <a:bodyPr lIns="0" tIns="0" rIns="0" bIns="0" rtlCol="0" anchor="t">
            <a:spAutoFit/>
          </a:bodyPr>
          <a:lstStyle/>
          <a:p>
            <a:pPr algn="ctr">
              <a:lnSpc>
                <a:spcPts val="9100"/>
              </a:lnSpc>
            </a:pPr>
            <a:r>
              <a:rPr lang="en-US" sz="6500">
                <a:solidFill>
                  <a:srgbClr val="22466B"/>
                </a:solidFill>
                <a:latin typeface="Times Neue Roman Bold"/>
              </a:rPr>
              <a:t>Hands on Algorithm Acceleration using</a:t>
            </a:r>
          </a:p>
          <a:p>
            <a:pPr algn="ctr">
              <a:lnSpc>
                <a:spcPts val="9100"/>
              </a:lnSpc>
              <a:spcBef>
                <a:spcPct val="0"/>
              </a:spcBef>
            </a:pPr>
            <a:r>
              <a:rPr lang="en-US" sz="6500">
                <a:solidFill>
                  <a:srgbClr val="22466B"/>
                </a:solidFill>
                <a:latin typeface="Times Neue Roman Bold"/>
              </a:rPr>
              <a:t>Heterogeneous Computing Systems</a:t>
            </a:r>
          </a:p>
        </p:txBody>
      </p:sp>
      <p:sp>
        <p:nvSpPr>
          <p:cNvPr id="13" name="TextBox 13"/>
          <p:cNvSpPr txBox="1"/>
          <p:nvPr/>
        </p:nvSpPr>
        <p:spPr>
          <a:xfrm>
            <a:off x="4951343" y="5727336"/>
            <a:ext cx="8385314" cy="481330"/>
          </a:xfrm>
          <a:prstGeom prst="rect">
            <a:avLst/>
          </a:prstGeom>
        </p:spPr>
        <p:txBody>
          <a:bodyPr lIns="0" tIns="0" rIns="0" bIns="0" rtlCol="0" anchor="t">
            <a:spAutoFit/>
          </a:bodyPr>
          <a:lstStyle/>
          <a:p>
            <a:pPr algn="ctr">
              <a:lnSpc>
                <a:spcPts val="3919"/>
              </a:lnSpc>
              <a:spcBef>
                <a:spcPct val="0"/>
              </a:spcBef>
            </a:pPr>
            <a:r>
              <a:rPr lang="en-US" sz="2799" dirty="0">
                <a:solidFill>
                  <a:srgbClr val="000000"/>
                </a:solidFill>
                <a:latin typeface="Open Sans Bold"/>
              </a:rPr>
              <a:t>FINAL YEAR PROJECT PRESENTATION</a:t>
            </a:r>
          </a:p>
        </p:txBody>
      </p:sp>
      <p:sp>
        <p:nvSpPr>
          <p:cNvPr id="14" name="TextBox 14"/>
          <p:cNvSpPr txBox="1"/>
          <p:nvPr/>
        </p:nvSpPr>
        <p:spPr>
          <a:xfrm>
            <a:off x="8422296" y="355600"/>
            <a:ext cx="9828722" cy="330200"/>
          </a:xfrm>
          <a:prstGeom prst="rect">
            <a:avLst/>
          </a:prstGeom>
        </p:spPr>
        <p:txBody>
          <a:bodyPr lIns="0" tIns="0" rIns="0" bIns="0" rtlCol="0" anchor="t">
            <a:spAutoFit/>
          </a:bodyPr>
          <a:lstStyle/>
          <a:p>
            <a:pPr algn="just">
              <a:lnSpc>
                <a:spcPts val="2799"/>
              </a:lnSpc>
              <a:spcBef>
                <a:spcPct val="0"/>
              </a:spcBef>
            </a:pPr>
            <a:r>
              <a:rPr lang="en-US" sz="1999">
                <a:solidFill>
                  <a:srgbClr val="F1F0EA"/>
                </a:solidFill>
                <a:latin typeface="Garet Bold"/>
              </a:rPr>
              <a:t>PAKISTAN INSTITUTE OF ENGINEERING AND APPLIED SCIENCES </a:t>
            </a:r>
          </a:p>
        </p:txBody>
      </p:sp>
      <p:sp>
        <p:nvSpPr>
          <p:cNvPr id="15" name="TextBox 15"/>
          <p:cNvSpPr txBox="1"/>
          <p:nvPr/>
        </p:nvSpPr>
        <p:spPr>
          <a:xfrm>
            <a:off x="800368" y="355600"/>
            <a:ext cx="5940034" cy="330200"/>
          </a:xfrm>
          <a:prstGeom prst="rect">
            <a:avLst/>
          </a:prstGeom>
        </p:spPr>
        <p:txBody>
          <a:bodyPr lIns="0" tIns="0" rIns="0" bIns="0" rtlCol="0" anchor="t">
            <a:spAutoFit/>
          </a:bodyPr>
          <a:lstStyle/>
          <a:p>
            <a:pPr>
              <a:lnSpc>
                <a:spcPts val="2799"/>
              </a:lnSpc>
              <a:spcBef>
                <a:spcPct val="0"/>
              </a:spcBef>
            </a:pPr>
            <a:r>
              <a:rPr lang="en-US" sz="1999">
                <a:solidFill>
                  <a:srgbClr val="F1F0EA"/>
                </a:solidFill>
                <a:latin typeface="Garet Bold"/>
              </a:rPr>
              <a:t>DEPARTMENT OF ELECTRICAL ENGINEERING</a:t>
            </a:r>
          </a:p>
        </p:txBody>
      </p:sp>
      <p:sp>
        <p:nvSpPr>
          <p:cNvPr id="16" name="TextBox 16"/>
          <p:cNvSpPr txBox="1"/>
          <p:nvPr/>
        </p:nvSpPr>
        <p:spPr>
          <a:xfrm>
            <a:off x="1028700" y="9575482"/>
            <a:ext cx="1244822" cy="356235"/>
          </a:xfrm>
          <a:prstGeom prst="rect">
            <a:avLst/>
          </a:prstGeom>
        </p:spPr>
        <p:txBody>
          <a:bodyPr lIns="0" tIns="0" rIns="0" bIns="0" rtlCol="0" anchor="t">
            <a:spAutoFit/>
          </a:bodyPr>
          <a:lstStyle/>
          <a:p>
            <a:pPr>
              <a:lnSpc>
                <a:spcPts val="2939"/>
              </a:lnSpc>
              <a:spcBef>
                <a:spcPct val="0"/>
              </a:spcBef>
            </a:pPr>
            <a:r>
              <a:rPr lang="en-US" sz="2099">
                <a:solidFill>
                  <a:srgbClr val="F1F0EA"/>
                </a:solidFill>
                <a:latin typeface="Open Sans Light Bold"/>
              </a:rPr>
              <a:t>01</a:t>
            </a:r>
          </a:p>
        </p:txBody>
      </p:sp>
      <p:sp>
        <p:nvSpPr>
          <p:cNvPr id="17" name="TextBox 17"/>
          <p:cNvSpPr txBox="1"/>
          <p:nvPr/>
        </p:nvSpPr>
        <p:spPr>
          <a:xfrm>
            <a:off x="3650669" y="7421539"/>
            <a:ext cx="8743120" cy="931545"/>
          </a:xfrm>
          <a:prstGeom prst="rect">
            <a:avLst/>
          </a:prstGeom>
        </p:spPr>
        <p:txBody>
          <a:bodyPr lIns="0" tIns="0" rIns="0" bIns="0" rtlCol="0" anchor="t">
            <a:spAutoFit/>
          </a:bodyPr>
          <a:lstStyle/>
          <a:p>
            <a:pPr>
              <a:lnSpc>
                <a:spcPts val="3779"/>
              </a:lnSpc>
            </a:pPr>
            <a:r>
              <a:rPr lang="en-US" sz="2699">
                <a:solidFill>
                  <a:srgbClr val="474740"/>
                </a:solidFill>
                <a:latin typeface="Times Neue Roman"/>
              </a:rPr>
              <a:t>Mahgul Adnan (02-3-1-025-2019)</a:t>
            </a:r>
          </a:p>
          <a:p>
            <a:pPr>
              <a:lnSpc>
                <a:spcPts val="3779"/>
              </a:lnSpc>
              <a:spcBef>
                <a:spcPct val="0"/>
              </a:spcBef>
            </a:pPr>
            <a:r>
              <a:rPr lang="en-US" sz="2699">
                <a:solidFill>
                  <a:srgbClr val="474740"/>
                </a:solidFill>
                <a:latin typeface="Times Neue Roman"/>
              </a:rPr>
              <a:t>Soroush Javed Sulehri (02-3-1-070-2019)</a:t>
            </a:r>
          </a:p>
        </p:txBody>
      </p:sp>
      <p:sp>
        <p:nvSpPr>
          <p:cNvPr id="18" name="TextBox 18"/>
          <p:cNvSpPr txBox="1"/>
          <p:nvPr/>
        </p:nvSpPr>
        <p:spPr>
          <a:xfrm>
            <a:off x="717672" y="7462814"/>
            <a:ext cx="2760562" cy="448310"/>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Garet Bold"/>
              </a:rPr>
              <a:t>PRESENTED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692551" cy="10287000"/>
            <a:chOff x="0" y="0"/>
            <a:chExt cx="1235898" cy="2709333"/>
          </a:xfrm>
        </p:grpSpPr>
        <p:sp>
          <p:nvSpPr>
            <p:cNvPr id="3" name="Freeform 3"/>
            <p:cNvSpPr/>
            <p:nvPr/>
          </p:nvSpPr>
          <p:spPr>
            <a:xfrm>
              <a:off x="0" y="0"/>
              <a:ext cx="1235898" cy="2709333"/>
            </a:xfrm>
            <a:custGeom>
              <a:avLst/>
              <a:gdLst/>
              <a:ahLst/>
              <a:cxnLst/>
              <a:rect l="l" t="t" r="r" b="b"/>
              <a:pathLst>
                <a:path w="1235898" h="2709333">
                  <a:moveTo>
                    <a:pt x="0" y="0"/>
                  </a:moveTo>
                  <a:lnTo>
                    <a:pt x="1235898" y="0"/>
                  </a:lnTo>
                  <a:lnTo>
                    <a:pt x="1235898" y="2709333"/>
                  </a:lnTo>
                  <a:lnTo>
                    <a:pt x="0" y="2709333"/>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063337" y="3808511"/>
            <a:ext cx="676191" cy="356235"/>
          </a:xfrm>
          <a:prstGeom prst="rect">
            <a:avLst/>
          </a:prstGeom>
        </p:spPr>
        <p:txBody>
          <a:bodyPr lIns="0" tIns="0" rIns="0" bIns="0" rtlCol="0" anchor="t">
            <a:spAutoFit/>
          </a:bodyPr>
          <a:lstStyle/>
          <a:p>
            <a:pPr>
              <a:lnSpc>
                <a:spcPts val="2939"/>
              </a:lnSpc>
              <a:spcBef>
                <a:spcPct val="0"/>
              </a:spcBef>
            </a:pPr>
            <a:r>
              <a:rPr lang="en-US" sz="2099">
                <a:solidFill>
                  <a:srgbClr val="474740"/>
                </a:solidFill>
                <a:latin typeface="Open Sans Light Bold"/>
              </a:rPr>
              <a:t>01.</a:t>
            </a:r>
          </a:p>
        </p:txBody>
      </p:sp>
      <p:sp>
        <p:nvSpPr>
          <p:cNvPr id="6" name="TextBox 6"/>
          <p:cNvSpPr txBox="1"/>
          <p:nvPr/>
        </p:nvSpPr>
        <p:spPr>
          <a:xfrm>
            <a:off x="12462583" y="3808511"/>
            <a:ext cx="676191" cy="356235"/>
          </a:xfrm>
          <a:prstGeom prst="rect">
            <a:avLst/>
          </a:prstGeom>
        </p:spPr>
        <p:txBody>
          <a:bodyPr lIns="0" tIns="0" rIns="0" bIns="0" rtlCol="0" anchor="t">
            <a:spAutoFit/>
          </a:bodyPr>
          <a:lstStyle/>
          <a:p>
            <a:pPr>
              <a:lnSpc>
                <a:spcPts val="2939"/>
              </a:lnSpc>
              <a:spcBef>
                <a:spcPct val="0"/>
              </a:spcBef>
            </a:pPr>
            <a:r>
              <a:rPr lang="en-US" sz="2099" dirty="0">
                <a:solidFill>
                  <a:srgbClr val="474740"/>
                </a:solidFill>
                <a:latin typeface="Open Sans Light Bold"/>
              </a:rPr>
              <a:t>06.</a:t>
            </a:r>
          </a:p>
        </p:txBody>
      </p:sp>
      <p:sp>
        <p:nvSpPr>
          <p:cNvPr id="7" name="TextBox 7"/>
          <p:cNvSpPr txBox="1"/>
          <p:nvPr/>
        </p:nvSpPr>
        <p:spPr>
          <a:xfrm>
            <a:off x="7063337" y="4640996"/>
            <a:ext cx="676191" cy="356235"/>
          </a:xfrm>
          <a:prstGeom prst="rect">
            <a:avLst/>
          </a:prstGeom>
        </p:spPr>
        <p:txBody>
          <a:bodyPr lIns="0" tIns="0" rIns="0" bIns="0" rtlCol="0" anchor="t">
            <a:spAutoFit/>
          </a:bodyPr>
          <a:lstStyle/>
          <a:p>
            <a:pPr>
              <a:lnSpc>
                <a:spcPts val="2939"/>
              </a:lnSpc>
              <a:spcBef>
                <a:spcPct val="0"/>
              </a:spcBef>
            </a:pPr>
            <a:r>
              <a:rPr lang="en-US" sz="2099">
                <a:solidFill>
                  <a:srgbClr val="474740"/>
                </a:solidFill>
                <a:latin typeface="Open Sans Light Bold"/>
              </a:rPr>
              <a:t>02.</a:t>
            </a:r>
          </a:p>
        </p:txBody>
      </p:sp>
      <p:sp>
        <p:nvSpPr>
          <p:cNvPr id="8" name="TextBox 8"/>
          <p:cNvSpPr txBox="1"/>
          <p:nvPr/>
        </p:nvSpPr>
        <p:spPr>
          <a:xfrm>
            <a:off x="12462583" y="4640996"/>
            <a:ext cx="676191" cy="356235"/>
          </a:xfrm>
          <a:prstGeom prst="rect">
            <a:avLst/>
          </a:prstGeom>
        </p:spPr>
        <p:txBody>
          <a:bodyPr lIns="0" tIns="0" rIns="0" bIns="0" rtlCol="0" anchor="t">
            <a:spAutoFit/>
          </a:bodyPr>
          <a:lstStyle/>
          <a:p>
            <a:pPr>
              <a:lnSpc>
                <a:spcPts val="2939"/>
              </a:lnSpc>
              <a:spcBef>
                <a:spcPct val="0"/>
              </a:spcBef>
            </a:pPr>
            <a:r>
              <a:rPr lang="en-US" sz="2099" dirty="0">
                <a:solidFill>
                  <a:srgbClr val="474740"/>
                </a:solidFill>
                <a:latin typeface="Open Sans Light Bold"/>
              </a:rPr>
              <a:t>07.</a:t>
            </a:r>
          </a:p>
        </p:txBody>
      </p:sp>
      <p:sp>
        <p:nvSpPr>
          <p:cNvPr id="9" name="TextBox 9"/>
          <p:cNvSpPr txBox="1"/>
          <p:nvPr/>
        </p:nvSpPr>
        <p:spPr>
          <a:xfrm>
            <a:off x="12462583" y="5473481"/>
            <a:ext cx="676191" cy="356235"/>
          </a:xfrm>
          <a:prstGeom prst="rect">
            <a:avLst/>
          </a:prstGeom>
        </p:spPr>
        <p:txBody>
          <a:bodyPr lIns="0" tIns="0" rIns="0" bIns="0" rtlCol="0" anchor="t">
            <a:spAutoFit/>
          </a:bodyPr>
          <a:lstStyle/>
          <a:p>
            <a:pPr>
              <a:lnSpc>
                <a:spcPts val="2939"/>
              </a:lnSpc>
              <a:spcBef>
                <a:spcPct val="0"/>
              </a:spcBef>
            </a:pPr>
            <a:r>
              <a:rPr lang="en-US" sz="2099" dirty="0">
                <a:solidFill>
                  <a:srgbClr val="474740"/>
                </a:solidFill>
                <a:latin typeface="Open Sans Light Bold"/>
              </a:rPr>
              <a:t>08.</a:t>
            </a:r>
          </a:p>
        </p:txBody>
      </p:sp>
      <p:sp>
        <p:nvSpPr>
          <p:cNvPr id="10" name="TextBox 10"/>
          <p:cNvSpPr txBox="1"/>
          <p:nvPr/>
        </p:nvSpPr>
        <p:spPr>
          <a:xfrm>
            <a:off x="7063337" y="5496976"/>
            <a:ext cx="676191" cy="356235"/>
          </a:xfrm>
          <a:prstGeom prst="rect">
            <a:avLst/>
          </a:prstGeom>
        </p:spPr>
        <p:txBody>
          <a:bodyPr lIns="0" tIns="0" rIns="0" bIns="0" rtlCol="0" anchor="t">
            <a:spAutoFit/>
          </a:bodyPr>
          <a:lstStyle/>
          <a:p>
            <a:pPr>
              <a:lnSpc>
                <a:spcPts val="2939"/>
              </a:lnSpc>
              <a:spcBef>
                <a:spcPct val="0"/>
              </a:spcBef>
            </a:pPr>
            <a:r>
              <a:rPr lang="en-US" sz="2099" dirty="0">
                <a:solidFill>
                  <a:srgbClr val="474740"/>
                </a:solidFill>
                <a:latin typeface="Open Sans Light Bold"/>
              </a:rPr>
              <a:t>03.</a:t>
            </a:r>
          </a:p>
        </p:txBody>
      </p:sp>
      <p:sp>
        <p:nvSpPr>
          <p:cNvPr id="11" name="TextBox 11"/>
          <p:cNvSpPr txBox="1"/>
          <p:nvPr/>
        </p:nvSpPr>
        <p:spPr>
          <a:xfrm>
            <a:off x="12462583" y="6305966"/>
            <a:ext cx="676191" cy="356235"/>
          </a:xfrm>
          <a:prstGeom prst="rect">
            <a:avLst/>
          </a:prstGeom>
        </p:spPr>
        <p:txBody>
          <a:bodyPr lIns="0" tIns="0" rIns="0" bIns="0" rtlCol="0" anchor="t">
            <a:spAutoFit/>
          </a:bodyPr>
          <a:lstStyle/>
          <a:p>
            <a:pPr>
              <a:lnSpc>
                <a:spcPts val="2939"/>
              </a:lnSpc>
              <a:spcBef>
                <a:spcPct val="0"/>
              </a:spcBef>
            </a:pPr>
            <a:r>
              <a:rPr lang="en-US" sz="2099" dirty="0">
                <a:solidFill>
                  <a:srgbClr val="474740"/>
                </a:solidFill>
                <a:latin typeface="Open Sans Light Bold"/>
              </a:rPr>
              <a:t>09.</a:t>
            </a:r>
          </a:p>
        </p:txBody>
      </p:sp>
      <p:sp>
        <p:nvSpPr>
          <p:cNvPr id="12" name="TextBox 12"/>
          <p:cNvSpPr txBox="1"/>
          <p:nvPr/>
        </p:nvSpPr>
        <p:spPr>
          <a:xfrm>
            <a:off x="7063337" y="6329461"/>
            <a:ext cx="676191" cy="356235"/>
          </a:xfrm>
          <a:prstGeom prst="rect">
            <a:avLst/>
          </a:prstGeom>
        </p:spPr>
        <p:txBody>
          <a:bodyPr lIns="0" tIns="0" rIns="0" bIns="0" rtlCol="0" anchor="t">
            <a:spAutoFit/>
          </a:bodyPr>
          <a:lstStyle/>
          <a:p>
            <a:pPr>
              <a:lnSpc>
                <a:spcPts val="2939"/>
              </a:lnSpc>
              <a:spcBef>
                <a:spcPct val="0"/>
              </a:spcBef>
            </a:pPr>
            <a:r>
              <a:rPr lang="en-US" sz="2099" dirty="0">
                <a:solidFill>
                  <a:srgbClr val="474740"/>
                </a:solidFill>
                <a:latin typeface="Open Sans Light Bold"/>
              </a:rPr>
              <a:t>04.</a:t>
            </a:r>
          </a:p>
        </p:txBody>
      </p:sp>
      <p:sp>
        <p:nvSpPr>
          <p:cNvPr id="13" name="TextBox 13"/>
          <p:cNvSpPr txBox="1"/>
          <p:nvPr/>
        </p:nvSpPr>
        <p:spPr>
          <a:xfrm>
            <a:off x="7063337" y="7161946"/>
            <a:ext cx="676191" cy="356235"/>
          </a:xfrm>
          <a:prstGeom prst="rect">
            <a:avLst/>
          </a:prstGeom>
        </p:spPr>
        <p:txBody>
          <a:bodyPr lIns="0" tIns="0" rIns="0" bIns="0" rtlCol="0" anchor="t">
            <a:spAutoFit/>
          </a:bodyPr>
          <a:lstStyle/>
          <a:p>
            <a:pPr>
              <a:lnSpc>
                <a:spcPts val="2939"/>
              </a:lnSpc>
              <a:spcBef>
                <a:spcPct val="0"/>
              </a:spcBef>
            </a:pPr>
            <a:r>
              <a:rPr lang="en-US" sz="2099" dirty="0">
                <a:solidFill>
                  <a:srgbClr val="474740"/>
                </a:solidFill>
                <a:latin typeface="Open Sans Light Bold"/>
              </a:rPr>
              <a:t>05.</a:t>
            </a:r>
          </a:p>
        </p:txBody>
      </p:sp>
      <p:sp>
        <p:nvSpPr>
          <p:cNvPr id="15" name="TextBox 15"/>
          <p:cNvSpPr txBox="1"/>
          <p:nvPr/>
        </p:nvSpPr>
        <p:spPr>
          <a:xfrm>
            <a:off x="7063337" y="1839989"/>
            <a:ext cx="10784546" cy="1335403"/>
          </a:xfrm>
          <a:prstGeom prst="rect">
            <a:avLst/>
          </a:prstGeom>
        </p:spPr>
        <p:txBody>
          <a:bodyPr lIns="0" tIns="0" rIns="0" bIns="0" rtlCol="0" anchor="t">
            <a:spAutoFit/>
          </a:bodyPr>
          <a:lstStyle/>
          <a:p>
            <a:pPr>
              <a:lnSpc>
                <a:spcPts val="10920"/>
              </a:lnSpc>
              <a:spcBef>
                <a:spcPct val="0"/>
              </a:spcBef>
            </a:pPr>
            <a:r>
              <a:rPr lang="en-US" sz="7800" dirty="0">
                <a:solidFill>
                  <a:srgbClr val="22466B"/>
                </a:solidFill>
                <a:latin typeface="Source Han Serif JP Bold"/>
              </a:rPr>
              <a:t> Overview</a:t>
            </a:r>
          </a:p>
        </p:txBody>
      </p:sp>
      <p:sp>
        <p:nvSpPr>
          <p:cNvPr id="16" name="TextBox 16"/>
          <p:cNvSpPr txBox="1"/>
          <p:nvPr/>
        </p:nvSpPr>
        <p:spPr>
          <a:xfrm>
            <a:off x="7834778" y="3787238"/>
            <a:ext cx="4325894" cy="389255"/>
          </a:xfrm>
          <a:prstGeom prst="rect">
            <a:avLst/>
          </a:prstGeom>
        </p:spPr>
        <p:txBody>
          <a:bodyPr lIns="0" tIns="0" rIns="0" bIns="0" rtlCol="0" anchor="t">
            <a:spAutoFit/>
          </a:bodyPr>
          <a:lstStyle/>
          <a:p>
            <a:pPr>
              <a:lnSpc>
                <a:spcPts val="3219"/>
              </a:lnSpc>
              <a:spcBef>
                <a:spcPct val="0"/>
              </a:spcBef>
            </a:pPr>
            <a:r>
              <a:rPr lang="en-US" sz="2299">
                <a:solidFill>
                  <a:srgbClr val="000000"/>
                </a:solidFill>
                <a:latin typeface="Open Sans Light Bold"/>
              </a:rPr>
              <a:t>Introduction</a:t>
            </a:r>
          </a:p>
        </p:txBody>
      </p:sp>
      <p:sp>
        <p:nvSpPr>
          <p:cNvPr id="17" name="TextBox 17"/>
          <p:cNvSpPr txBox="1"/>
          <p:nvPr/>
        </p:nvSpPr>
        <p:spPr>
          <a:xfrm>
            <a:off x="13234024" y="3798986"/>
            <a:ext cx="4325894" cy="389255"/>
          </a:xfrm>
          <a:prstGeom prst="rect">
            <a:avLst/>
          </a:prstGeom>
        </p:spPr>
        <p:txBody>
          <a:bodyPr lIns="0" tIns="0" rIns="0" bIns="0" rtlCol="0" anchor="t">
            <a:spAutoFit/>
          </a:bodyPr>
          <a:lstStyle/>
          <a:p>
            <a:pPr>
              <a:lnSpc>
                <a:spcPts val="3219"/>
              </a:lnSpc>
              <a:spcBef>
                <a:spcPct val="0"/>
              </a:spcBef>
            </a:pPr>
            <a:r>
              <a:rPr lang="en-US" sz="2299" dirty="0">
                <a:solidFill>
                  <a:srgbClr val="000000"/>
                </a:solidFill>
                <a:latin typeface="Open Sans Light Bold"/>
              </a:rPr>
              <a:t>CPU Implementation</a:t>
            </a:r>
          </a:p>
        </p:txBody>
      </p:sp>
      <p:sp>
        <p:nvSpPr>
          <p:cNvPr id="18" name="TextBox 18"/>
          <p:cNvSpPr txBox="1"/>
          <p:nvPr/>
        </p:nvSpPr>
        <p:spPr>
          <a:xfrm>
            <a:off x="7834778" y="4619723"/>
            <a:ext cx="4325894" cy="389255"/>
          </a:xfrm>
          <a:prstGeom prst="rect">
            <a:avLst/>
          </a:prstGeom>
        </p:spPr>
        <p:txBody>
          <a:bodyPr lIns="0" tIns="0" rIns="0" bIns="0" rtlCol="0" anchor="t">
            <a:spAutoFit/>
          </a:bodyPr>
          <a:lstStyle/>
          <a:p>
            <a:pPr>
              <a:lnSpc>
                <a:spcPts val="3219"/>
              </a:lnSpc>
              <a:spcBef>
                <a:spcPct val="0"/>
              </a:spcBef>
            </a:pPr>
            <a:r>
              <a:rPr lang="en-US" sz="2299" dirty="0">
                <a:solidFill>
                  <a:srgbClr val="000000"/>
                </a:solidFill>
                <a:latin typeface="Open Sans Light Bold"/>
              </a:rPr>
              <a:t>Motivation</a:t>
            </a:r>
          </a:p>
        </p:txBody>
      </p:sp>
      <p:sp>
        <p:nvSpPr>
          <p:cNvPr id="19" name="TextBox 19"/>
          <p:cNvSpPr txBox="1"/>
          <p:nvPr/>
        </p:nvSpPr>
        <p:spPr>
          <a:xfrm>
            <a:off x="13234024" y="4631471"/>
            <a:ext cx="4325894" cy="389255"/>
          </a:xfrm>
          <a:prstGeom prst="rect">
            <a:avLst/>
          </a:prstGeom>
        </p:spPr>
        <p:txBody>
          <a:bodyPr lIns="0" tIns="0" rIns="0" bIns="0" rtlCol="0" anchor="t">
            <a:spAutoFit/>
          </a:bodyPr>
          <a:lstStyle/>
          <a:p>
            <a:pPr>
              <a:lnSpc>
                <a:spcPts val="3219"/>
              </a:lnSpc>
              <a:spcBef>
                <a:spcPct val="0"/>
              </a:spcBef>
            </a:pPr>
            <a:r>
              <a:rPr lang="en-US" sz="2299" dirty="0">
                <a:solidFill>
                  <a:srgbClr val="000000"/>
                </a:solidFill>
                <a:latin typeface="Open Sans Light Bold"/>
              </a:rPr>
              <a:t>Results and Discussion</a:t>
            </a:r>
          </a:p>
        </p:txBody>
      </p:sp>
      <p:sp>
        <p:nvSpPr>
          <p:cNvPr id="20" name="TextBox 20"/>
          <p:cNvSpPr txBox="1"/>
          <p:nvPr/>
        </p:nvSpPr>
        <p:spPr>
          <a:xfrm>
            <a:off x="13234024" y="5452208"/>
            <a:ext cx="4325894" cy="389255"/>
          </a:xfrm>
          <a:prstGeom prst="rect">
            <a:avLst/>
          </a:prstGeom>
        </p:spPr>
        <p:txBody>
          <a:bodyPr lIns="0" tIns="0" rIns="0" bIns="0" rtlCol="0" anchor="t">
            <a:spAutoFit/>
          </a:bodyPr>
          <a:lstStyle/>
          <a:p>
            <a:pPr>
              <a:lnSpc>
                <a:spcPts val="3219"/>
              </a:lnSpc>
              <a:spcBef>
                <a:spcPct val="0"/>
              </a:spcBef>
            </a:pPr>
            <a:r>
              <a:rPr lang="en-US" sz="2299" dirty="0">
                <a:solidFill>
                  <a:srgbClr val="000000"/>
                </a:solidFill>
                <a:latin typeface="Open Sans Light Bold"/>
              </a:rPr>
              <a:t>Conclusion</a:t>
            </a:r>
          </a:p>
        </p:txBody>
      </p:sp>
      <p:sp>
        <p:nvSpPr>
          <p:cNvPr id="21" name="TextBox 21"/>
          <p:cNvSpPr txBox="1"/>
          <p:nvPr/>
        </p:nvSpPr>
        <p:spPr>
          <a:xfrm>
            <a:off x="7834778" y="5475704"/>
            <a:ext cx="4325894" cy="389255"/>
          </a:xfrm>
          <a:prstGeom prst="rect">
            <a:avLst/>
          </a:prstGeom>
        </p:spPr>
        <p:txBody>
          <a:bodyPr lIns="0" tIns="0" rIns="0" bIns="0" rtlCol="0" anchor="t">
            <a:spAutoFit/>
          </a:bodyPr>
          <a:lstStyle/>
          <a:p>
            <a:pPr>
              <a:lnSpc>
                <a:spcPts val="3219"/>
              </a:lnSpc>
              <a:spcBef>
                <a:spcPct val="0"/>
              </a:spcBef>
            </a:pPr>
            <a:r>
              <a:rPr lang="en-US" sz="2299">
                <a:solidFill>
                  <a:srgbClr val="000000"/>
                </a:solidFill>
                <a:latin typeface="Open Sans Light Bold"/>
              </a:rPr>
              <a:t>Theory and Background</a:t>
            </a:r>
          </a:p>
        </p:txBody>
      </p:sp>
      <p:sp>
        <p:nvSpPr>
          <p:cNvPr id="22" name="TextBox 22"/>
          <p:cNvSpPr txBox="1"/>
          <p:nvPr/>
        </p:nvSpPr>
        <p:spPr>
          <a:xfrm>
            <a:off x="13234024" y="6296441"/>
            <a:ext cx="4325894" cy="389255"/>
          </a:xfrm>
          <a:prstGeom prst="rect">
            <a:avLst/>
          </a:prstGeom>
        </p:spPr>
        <p:txBody>
          <a:bodyPr lIns="0" tIns="0" rIns="0" bIns="0" rtlCol="0" anchor="t">
            <a:spAutoFit/>
          </a:bodyPr>
          <a:lstStyle/>
          <a:p>
            <a:pPr>
              <a:lnSpc>
                <a:spcPts val="3219"/>
              </a:lnSpc>
              <a:spcBef>
                <a:spcPct val="0"/>
              </a:spcBef>
            </a:pPr>
            <a:r>
              <a:rPr lang="en-US" sz="2299" dirty="0">
                <a:solidFill>
                  <a:srgbClr val="000000"/>
                </a:solidFill>
                <a:latin typeface="Open Sans Light Bold"/>
              </a:rPr>
              <a:t>Future Recommendation</a:t>
            </a:r>
          </a:p>
        </p:txBody>
      </p:sp>
      <p:sp>
        <p:nvSpPr>
          <p:cNvPr id="23" name="TextBox 23"/>
          <p:cNvSpPr txBox="1"/>
          <p:nvPr/>
        </p:nvSpPr>
        <p:spPr>
          <a:xfrm>
            <a:off x="7834778" y="6308189"/>
            <a:ext cx="4325894" cy="389255"/>
          </a:xfrm>
          <a:prstGeom prst="rect">
            <a:avLst/>
          </a:prstGeom>
        </p:spPr>
        <p:txBody>
          <a:bodyPr lIns="0" tIns="0" rIns="0" bIns="0" rtlCol="0" anchor="t">
            <a:spAutoFit/>
          </a:bodyPr>
          <a:lstStyle/>
          <a:p>
            <a:pPr>
              <a:lnSpc>
                <a:spcPts val="3219"/>
              </a:lnSpc>
              <a:spcBef>
                <a:spcPct val="0"/>
              </a:spcBef>
            </a:pPr>
            <a:r>
              <a:rPr lang="en-US" sz="2299">
                <a:solidFill>
                  <a:srgbClr val="000000"/>
                </a:solidFill>
                <a:latin typeface="Open Sans Light Bold"/>
              </a:rPr>
              <a:t>Literature Review</a:t>
            </a:r>
          </a:p>
        </p:txBody>
      </p:sp>
      <p:sp>
        <p:nvSpPr>
          <p:cNvPr id="24" name="TextBox 24"/>
          <p:cNvSpPr txBox="1"/>
          <p:nvPr/>
        </p:nvSpPr>
        <p:spPr>
          <a:xfrm>
            <a:off x="7834778" y="7140674"/>
            <a:ext cx="4325894" cy="389255"/>
          </a:xfrm>
          <a:prstGeom prst="rect">
            <a:avLst/>
          </a:prstGeom>
        </p:spPr>
        <p:txBody>
          <a:bodyPr lIns="0" tIns="0" rIns="0" bIns="0" rtlCol="0" anchor="t">
            <a:spAutoFit/>
          </a:bodyPr>
          <a:lstStyle/>
          <a:p>
            <a:pPr>
              <a:lnSpc>
                <a:spcPts val="3219"/>
              </a:lnSpc>
              <a:spcBef>
                <a:spcPct val="0"/>
              </a:spcBef>
            </a:pPr>
            <a:r>
              <a:rPr lang="en-US" sz="2299">
                <a:solidFill>
                  <a:srgbClr val="000000"/>
                </a:solidFill>
                <a:latin typeface="Open Sans Light Bold"/>
              </a:rPr>
              <a:t>Methodology</a:t>
            </a:r>
          </a:p>
        </p:txBody>
      </p:sp>
      <p:pic>
        <p:nvPicPr>
          <p:cNvPr id="26" name="Picture 26"/>
          <p:cNvPicPr>
            <a:picLocks noChangeAspect="1"/>
          </p:cNvPicPr>
          <p:nvPr/>
        </p:nvPicPr>
        <p:blipFill>
          <a:blip r:embed="rId2"/>
          <a:srcRect l="19303" r="19303"/>
          <a:stretch>
            <a:fillRect/>
          </a:stretch>
        </p:blipFill>
        <p:spPr>
          <a:xfrm>
            <a:off x="1028700" y="1028700"/>
            <a:ext cx="5052393" cy="8229600"/>
          </a:xfrm>
          <a:prstGeom prst="rect">
            <a:avLst/>
          </a:prstGeom>
        </p:spPr>
      </p:pic>
      <p:sp>
        <p:nvSpPr>
          <p:cNvPr id="27" name="TextBox 27"/>
          <p:cNvSpPr txBox="1"/>
          <p:nvPr/>
        </p:nvSpPr>
        <p:spPr>
          <a:xfrm>
            <a:off x="8703141" y="525734"/>
            <a:ext cx="9061766" cy="330200"/>
          </a:xfrm>
          <a:prstGeom prst="rect">
            <a:avLst/>
          </a:prstGeom>
        </p:spPr>
        <p:txBody>
          <a:bodyPr lIns="0" tIns="0" rIns="0" bIns="0" rtlCol="0" anchor="t">
            <a:spAutoFit/>
          </a:bodyPr>
          <a:lstStyle/>
          <a:p>
            <a:pPr algn="just">
              <a:lnSpc>
                <a:spcPts val="2799"/>
              </a:lnSpc>
              <a:spcBef>
                <a:spcPct val="0"/>
              </a:spcBef>
            </a:pPr>
            <a:r>
              <a:rPr lang="en-US" sz="1999">
                <a:solidFill>
                  <a:srgbClr val="000000"/>
                </a:solidFill>
                <a:latin typeface="Garet Bold"/>
              </a:rPr>
              <a:t>PAKISTAN INSTITUTE OF ENGINEERING AND APPLIED SCIENCES | 02</a:t>
            </a:r>
          </a:p>
        </p:txBody>
      </p:sp>
      <p:pic>
        <p:nvPicPr>
          <p:cNvPr id="28" name="Picture 28"/>
          <p:cNvPicPr>
            <a:picLocks noChangeAspect="1"/>
          </p:cNvPicPr>
          <p:nvPr/>
        </p:nvPicPr>
        <p:blipFill>
          <a:blip r:embed="rId3"/>
          <a:srcRect/>
          <a:stretch>
            <a:fillRect/>
          </a:stretch>
        </p:blipFill>
        <p:spPr>
          <a:xfrm>
            <a:off x="16408217" y="8353084"/>
            <a:ext cx="1375288" cy="1375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76300"/>
            <a:ext cx="10315986" cy="1368424"/>
          </a:xfrm>
          <a:prstGeom prst="rect">
            <a:avLst/>
          </a:prstGeom>
        </p:spPr>
        <p:txBody>
          <a:bodyPr lIns="0" tIns="0" rIns="0" bIns="0" rtlCol="0" anchor="t">
            <a:spAutoFit/>
          </a:bodyPr>
          <a:lstStyle/>
          <a:p>
            <a:pPr>
              <a:lnSpc>
                <a:spcPts val="11200"/>
              </a:lnSpc>
              <a:spcBef>
                <a:spcPct val="0"/>
              </a:spcBef>
            </a:pPr>
            <a:r>
              <a:rPr lang="en-US" sz="8000">
                <a:solidFill>
                  <a:srgbClr val="22466B"/>
                </a:solidFill>
                <a:latin typeface="Source Han Serif JP Bold"/>
              </a:rPr>
              <a:t>Introduction</a:t>
            </a:r>
          </a:p>
        </p:txBody>
      </p:sp>
      <p:sp>
        <p:nvSpPr>
          <p:cNvPr id="11" name="TextBox 11"/>
          <p:cNvSpPr txBox="1"/>
          <p:nvPr/>
        </p:nvSpPr>
        <p:spPr>
          <a:xfrm>
            <a:off x="7733872" y="113338"/>
            <a:ext cx="10490600" cy="389255"/>
          </a:xfrm>
          <a:prstGeom prst="rect">
            <a:avLst/>
          </a:prstGeom>
        </p:spPr>
        <p:txBody>
          <a:bodyPr lIns="0" tIns="0" rIns="0" bIns="0" rtlCol="0" anchor="t">
            <a:spAutoFit/>
          </a:bodyPr>
          <a:lstStyle/>
          <a:p>
            <a:pPr algn="just">
              <a:lnSpc>
                <a:spcPts val="3219"/>
              </a:lnSpc>
              <a:spcBef>
                <a:spcPct val="0"/>
              </a:spcBef>
            </a:pPr>
            <a:r>
              <a:rPr lang="en-US" sz="2299">
                <a:solidFill>
                  <a:srgbClr val="000000"/>
                </a:solidFill>
                <a:latin typeface="Garet Bold"/>
              </a:rPr>
              <a:t>PAKISTAN INSTITUTE OF ENGINEERING AND APPLIED SCIENCES | 03</a:t>
            </a:r>
          </a:p>
        </p:txBody>
      </p:sp>
      <p:sp>
        <p:nvSpPr>
          <p:cNvPr id="12" name="TextBox 12"/>
          <p:cNvSpPr txBox="1"/>
          <p:nvPr/>
        </p:nvSpPr>
        <p:spPr>
          <a:xfrm>
            <a:off x="1059862" y="2546939"/>
            <a:ext cx="13813831" cy="596899"/>
          </a:xfrm>
          <a:prstGeom prst="rect">
            <a:avLst/>
          </a:prstGeom>
        </p:spPr>
        <p:txBody>
          <a:bodyPr lIns="0" tIns="0" rIns="0" bIns="0" rtlCol="0" anchor="t">
            <a:spAutoFit/>
          </a:bodyPr>
          <a:lstStyle/>
          <a:p>
            <a:pPr>
              <a:lnSpc>
                <a:spcPts val="4900"/>
              </a:lnSpc>
            </a:pPr>
            <a:r>
              <a:rPr lang="en-US" sz="3500" dirty="0">
                <a:solidFill>
                  <a:srgbClr val="000000"/>
                </a:solidFill>
                <a:latin typeface="Canva Sans Bold"/>
              </a:rPr>
              <a:t>PROBLEM STATEMENT</a:t>
            </a:r>
          </a:p>
        </p:txBody>
      </p:sp>
      <p:sp>
        <p:nvSpPr>
          <p:cNvPr id="13" name="TextBox 13"/>
          <p:cNvSpPr txBox="1"/>
          <p:nvPr/>
        </p:nvSpPr>
        <p:spPr>
          <a:xfrm>
            <a:off x="1059862" y="3326449"/>
            <a:ext cx="16230599" cy="1144906"/>
          </a:xfrm>
          <a:prstGeom prst="rect">
            <a:avLst/>
          </a:prstGeom>
        </p:spPr>
        <p:txBody>
          <a:bodyPr wrap="square" lIns="0" tIns="0" rIns="0" bIns="0" rtlCol="0" anchor="t">
            <a:spAutoFit/>
          </a:bodyPr>
          <a:lstStyle/>
          <a:p>
            <a:pPr algn="just">
              <a:lnSpc>
                <a:spcPts val="4619"/>
              </a:lnSpc>
            </a:pPr>
            <a:r>
              <a:rPr lang="en-US" sz="3299" dirty="0">
                <a:solidFill>
                  <a:srgbClr val="000000"/>
                </a:solidFill>
                <a:latin typeface="Times Neue Roman"/>
              </a:rPr>
              <a:t>Accelerating Genome Sequencing Sneaky Snake Pre-alignment filtering algorithm using Heterogeneous Computing Systems </a:t>
            </a:r>
          </a:p>
        </p:txBody>
      </p:sp>
      <p:sp>
        <p:nvSpPr>
          <p:cNvPr id="14" name="TextBox 14"/>
          <p:cNvSpPr txBox="1"/>
          <p:nvPr/>
        </p:nvSpPr>
        <p:spPr>
          <a:xfrm>
            <a:off x="13898578" y="9315796"/>
            <a:ext cx="4325894" cy="563881"/>
          </a:xfrm>
          <a:prstGeom prst="rect">
            <a:avLst/>
          </a:prstGeom>
        </p:spPr>
        <p:txBody>
          <a:bodyPr lIns="0" tIns="0" rIns="0" bIns="0" rtlCol="0" anchor="t">
            <a:spAutoFit/>
          </a:bodyPr>
          <a:lstStyle/>
          <a:p>
            <a:pPr>
              <a:lnSpc>
                <a:spcPts val="4619"/>
              </a:lnSpc>
              <a:spcBef>
                <a:spcPct val="0"/>
              </a:spcBef>
            </a:pPr>
            <a:r>
              <a:rPr lang="en-US" sz="3299">
                <a:solidFill>
                  <a:srgbClr val="FFFFFF"/>
                </a:solidFill>
                <a:latin typeface="Open Sans Light Bold"/>
              </a:rPr>
              <a:t>01. Introduction</a:t>
            </a:r>
          </a:p>
        </p:txBody>
      </p:sp>
      <p:sp>
        <p:nvSpPr>
          <p:cNvPr id="15" name="TextBox 15"/>
          <p:cNvSpPr txBox="1"/>
          <p:nvPr/>
        </p:nvSpPr>
        <p:spPr>
          <a:xfrm>
            <a:off x="1028700" y="4730166"/>
            <a:ext cx="13813831" cy="596899"/>
          </a:xfrm>
          <a:prstGeom prst="rect">
            <a:avLst/>
          </a:prstGeom>
        </p:spPr>
        <p:txBody>
          <a:bodyPr lIns="0" tIns="0" rIns="0" bIns="0" rtlCol="0" anchor="t">
            <a:spAutoFit/>
          </a:bodyPr>
          <a:lstStyle/>
          <a:p>
            <a:pPr>
              <a:lnSpc>
                <a:spcPts val="4900"/>
              </a:lnSpc>
            </a:pPr>
            <a:r>
              <a:rPr lang="en-US" sz="3500" dirty="0">
                <a:solidFill>
                  <a:srgbClr val="000000"/>
                </a:solidFill>
                <a:latin typeface="Canva Sans Bold"/>
              </a:rPr>
              <a:t>OBJECTIVES</a:t>
            </a:r>
          </a:p>
        </p:txBody>
      </p:sp>
      <p:sp>
        <p:nvSpPr>
          <p:cNvPr id="16" name="TextBox 16"/>
          <p:cNvSpPr txBox="1"/>
          <p:nvPr/>
        </p:nvSpPr>
        <p:spPr>
          <a:xfrm>
            <a:off x="1028700" y="5522652"/>
            <a:ext cx="16230600" cy="2844690"/>
          </a:xfrm>
          <a:prstGeom prst="rect">
            <a:avLst/>
          </a:prstGeom>
        </p:spPr>
        <p:txBody>
          <a:bodyPr lIns="0" tIns="0" rIns="0" bIns="0" rtlCol="0" anchor="t">
            <a:spAutoFit/>
          </a:bodyPr>
          <a:lstStyle/>
          <a:p>
            <a:pPr marL="690871" lvl="1" indent="-345435" algn="just">
              <a:lnSpc>
                <a:spcPts val="4479"/>
              </a:lnSpc>
              <a:buFont typeface="Arial"/>
              <a:buChar char="•"/>
            </a:pPr>
            <a:r>
              <a:rPr lang="en-US" sz="3199" dirty="0">
                <a:solidFill>
                  <a:srgbClr val="000000"/>
                </a:solidFill>
                <a:latin typeface="Times Neue Roman"/>
              </a:rPr>
              <a:t>Understanding Heterogeneous Computing Systems </a:t>
            </a:r>
          </a:p>
          <a:p>
            <a:pPr marL="690871" lvl="1" indent="-345435" algn="just">
              <a:lnSpc>
                <a:spcPts val="4479"/>
              </a:lnSpc>
              <a:buFont typeface="Arial"/>
              <a:buChar char="•"/>
            </a:pPr>
            <a:r>
              <a:rPr lang="en-US" sz="3199" dirty="0">
                <a:solidFill>
                  <a:srgbClr val="000000"/>
                </a:solidFill>
                <a:latin typeface="Times Neue Roman"/>
              </a:rPr>
              <a:t>Understanding the basics of Genome Sequencing and Pre-alignment Filtering Algorithm </a:t>
            </a:r>
          </a:p>
          <a:p>
            <a:pPr marL="690871" lvl="1" indent="-345435" algn="just">
              <a:lnSpc>
                <a:spcPts val="4479"/>
              </a:lnSpc>
              <a:buFont typeface="Arial"/>
              <a:buChar char="•"/>
            </a:pPr>
            <a:r>
              <a:rPr lang="en-US" sz="3199" dirty="0">
                <a:solidFill>
                  <a:srgbClr val="000000"/>
                </a:solidFill>
                <a:latin typeface="Times Neue Roman"/>
              </a:rPr>
              <a:t>Implementation of Sneaky Snake Algorithm in a multi threaded fashion on a multi core processor (CPU)</a:t>
            </a:r>
          </a:p>
          <a:p>
            <a:pPr marL="690871" lvl="1" indent="-345435" algn="just">
              <a:lnSpc>
                <a:spcPts val="4479"/>
              </a:lnSpc>
              <a:buFont typeface="Arial"/>
              <a:buChar char="•"/>
            </a:pPr>
            <a:r>
              <a:rPr lang="en-US" sz="3199" dirty="0">
                <a:solidFill>
                  <a:srgbClr val="000000"/>
                </a:solidFill>
                <a:latin typeface="Times Neue Roman"/>
              </a:rPr>
              <a:t>Analyzing the performance of the implementation on CPU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3813155" y="1028700"/>
            <a:ext cx="3446145" cy="4114800"/>
          </a:xfrm>
          <a:prstGeom prst="rect">
            <a:avLst/>
          </a:prstGeom>
        </p:spPr>
      </p:pic>
      <p:sp>
        <p:nvSpPr>
          <p:cNvPr id="11" name="TextBox 11"/>
          <p:cNvSpPr txBox="1"/>
          <p:nvPr/>
        </p:nvSpPr>
        <p:spPr>
          <a:xfrm>
            <a:off x="1028700" y="876300"/>
            <a:ext cx="10315986" cy="1368424"/>
          </a:xfrm>
          <a:prstGeom prst="rect">
            <a:avLst/>
          </a:prstGeom>
        </p:spPr>
        <p:txBody>
          <a:bodyPr lIns="0" tIns="0" rIns="0" bIns="0" rtlCol="0" anchor="t">
            <a:spAutoFit/>
          </a:bodyPr>
          <a:lstStyle/>
          <a:p>
            <a:pPr>
              <a:lnSpc>
                <a:spcPts val="11200"/>
              </a:lnSpc>
              <a:spcBef>
                <a:spcPct val="0"/>
              </a:spcBef>
            </a:pPr>
            <a:r>
              <a:rPr lang="en-US" sz="8000">
                <a:solidFill>
                  <a:srgbClr val="22466B"/>
                </a:solidFill>
                <a:latin typeface="Source Han Serif JP Bold"/>
              </a:rPr>
              <a:t>Motivation</a:t>
            </a:r>
          </a:p>
        </p:txBody>
      </p:sp>
      <p:sp>
        <p:nvSpPr>
          <p:cNvPr id="12" name="TextBox 12"/>
          <p:cNvSpPr txBox="1"/>
          <p:nvPr/>
        </p:nvSpPr>
        <p:spPr>
          <a:xfrm>
            <a:off x="7733872" y="113338"/>
            <a:ext cx="10490600" cy="389255"/>
          </a:xfrm>
          <a:prstGeom prst="rect">
            <a:avLst/>
          </a:prstGeom>
        </p:spPr>
        <p:txBody>
          <a:bodyPr lIns="0" tIns="0" rIns="0" bIns="0" rtlCol="0" anchor="t">
            <a:spAutoFit/>
          </a:bodyPr>
          <a:lstStyle/>
          <a:p>
            <a:pPr algn="just">
              <a:lnSpc>
                <a:spcPts val="3219"/>
              </a:lnSpc>
              <a:spcBef>
                <a:spcPct val="0"/>
              </a:spcBef>
            </a:pPr>
            <a:r>
              <a:rPr lang="en-US" sz="2299">
                <a:solidFill>
                  <a:srgbClr val="000000"/>
                </a:solidFill>
                <a:latin typeface="Garet Bold"/>
              </a:rPr>
              <a:t>PAKISTAN INSTITUTE OF ENGINEERING AND APPLIED SCIENCES | 04</a:t>
            </a:r>
          </a:p>
        </p:txBody>
      </p:sp>
      <p:sp>
        <p:nvSpPr>
          <p:cNvPr id="13" name="TextBox 13"/>
          <p:cNvSpPr txBox="1"/>
          <p:nvPr/>
        </p:nvSpPr>
        <p:spPr>
          <a:xfrm>
            <a:off x="13898578" y="9315796"/>
            <a:ext cx="4325894" cy="563881"/>
          </a:xfrm>
          <a:prstGeom prst="rect">
            <a:avLst/>
          </a:prstGeom>
        </p:spPr>
        <p:txBody>
          <a:bodyPr lIns="0" tIns="0" rIns="0" bIns="0" rtlCol="0" anchor="t">
            <a:spAutoFit/>
          </a:bodyPr>
          <a:lstStyle/>
          <a:p>
            <a:pPr>
              <a:lnSpc>
                <a:spcPts val="4619"/>
              </a:lnSpc>
              <a:spcBef>
                <a:spcPct val="0"/>
              </a:spcBef>
            </a:pPr>
            <a:r>
              <a:rPr lang="en-US" sz="3299">
                <a:solidFill>
                  <a:srgbClr val="FFFFFF"/>
                </a:solidFill>
                <a:latin typeface="Open Sans Light Bold"/>
              </a:rPr>
              <a:t>02. Motivation</a:t>
            </a:r>
          </a:p>
        </p:txBody>
      </p:sp>
      <p:sp>
        <p:nvSpPr>
          <p:cNvPr id="14" name="TextBox 14"/>
          <p:cNvSpPr txBox="1"/>
          <p:nvPr/>
        </p:nvSpPr>
        <p:spPr>
          <a:xfrm>
            <a:off x="1028700" y="2482849"/>
            <a:ext cx="16230600" cy="2686685"/>
          </a:xfrm>
          <a:prstGeom prst="rect">
            <a:avLst/>
          </a:prstGeom>
        </p:spPr>
        <p:txBody>
          <a:bodyPr lIns="0" tIns="0" rIns="0" bIns="0" rtlCol="0" anchor="t">
            <a:spAutoFit/>
          </a:bodyPr>
          <a:lstStyle/>
          <a:p>
            <a:pPr marL="798818" lvl="1" indent="-399409" algn="just">
              <a:lnSpc>
                <a:spcPts val="5179"/>
              </a:lnSpc>
              <a:buFont typeface="Arial"/>
              <a:buChar char="•"/>
            </a:pPr>
            <a:r>
              <a:rPr lang="en-US" sz="3699" dirty="0">
                <a:solidFill>
                  <a:srgbClr val="000000"/>
                </a:solidFill>
                <a:latin typeface="Times Neue Roman"/>
              </a:rPr>
              <a:t>Increasing need of better and faster computing platforms</a:t>
            </a:r>
          </a:p>
          <a:p>
            <a:pPr marL="798818" lvl="1" indent="-399409" algn="just">
              <a:lnSpc>
                <a:spcPts val="5179"/>
              </a:lnSpc>
              <a:buFont typeface="Arial"/>
              <a:buChar char="•"/>
            </a:pPr>
            <a:r>
              <a:rPr lang="en-US" sz="3699" dirty="0">
                <a:solidFill>
                  <a:srgbClr val="000000"/>
                </a:solidFill>
                <a:latin typeface="Times Neue Roman"/>
              </a:rPr>
              <a:t>Moore's Law Reaching its Limit </a:t>
            </a:r>
          </a:p>
          <a:p>
            <a:pPr marL="798818" lvl="1" indent="-399409" algn="just">
              <a:lnSpc>
                <a:spcPts val="3884"/>
              </a:lnSpc>
              <a:buFont typeface="Arial"/>
              <a:buChar char="•"/>
            </a:pPr>
            <a:r>
              <a:rPr lang="en-US" sz="3699" dirty="0">
                <a:solidFill>
                  <a:srgbClr val="000000"/>
                </a:solidFill>
                <a:latin typeface="Times Neue Roman"/>
              </a:rPr>
              <a:t>Heterogeneous Computing is the tomorrow </a:t>
            </a:r>
          </a:p>
          <a:p>
            <a:pPr algn="just">
              <a:lnSpc>
                <a:spcPts val="2834"/>
              </a:lnSpc>
            </a:pPr>
            <a:endParaRPr lang="en-US" sz="3699" dirty="0">
              <a:solidFill>
                <a:srgbClr val="000000"/>
              </a:solidFill>
              <a:latin typeface="Times Neue Roman"/>
            </a:endParaRPr>
          </a:p>
          <a:p>
            <a:pPr algn="just">
              <a:lnSpc>
                <a:spcPts val="3674"/>
              </a:lnSpc>
            </a:pPr>
            <a:r>
              <a:rPr lang="en-US" sz="3499" dirty="0">
                <a:solidFill>
                  <a:srgbClr val="CD9461"/>
                </a:solidFill>
                <a:latin typeface="Garet Bold"/>
              </a:rPr>
              <a:t>WHY BIOINFORMATICS/GENOME SEQUENCING </a:t>
            </a:r>
          </a:p>
        </p:txBody>
      </p:sp>
      <p:sp>
        <p:nvSpPr>
          <p:cNvPr id="15" name="TextBox 15"/>
          <p:cNvSpPr txBox="1"/>
          <p:nvPr/>
        </p:nvSpPr>
        <p:spPr>
          <a:xfrm>
            <a:off x="1028700" y="5302885"/>
            <a:ext cx="8115300" cy="3939858"/>
          </a:xfrm>
          <a:prstGeom prst="rect">
            <a:avLst/>
          </a:prstGeom>
        </p:spPr>
        <p:txBody>
          <a:bodyPr lIns="0" tIns="0" rIns="0" bIns="0" rtlCol="0" anchor="t">
            <a:spAutoFit/>
          </a:bodyPr>
          <a:lstStyle/>
          <a:p>
            <a:pPr>
              <a:lnSpc>
                <a:spcPts val="5179"/>
              </a:lnSpc>
            </a:pPr>
            <a:r>
              <a:rPr lang="en-US" sz="3699" dirty="0">
                <a:solidFill>
                  <a:srgbClr val="000000"/>
                </a:solidFill>
                <a:latin typeface="Times Neue Roman"/>
              </a:rPr>
              <a:t>Recent Pandemic advocated the need of:</a:t>
            </a:r>
          </a:p>
          <a:p>
            <a:pPr marL="798828" lvl="1" indent="-399414">
              <a:lnSpc>
                <a:spcPts val="5179"/>
              </a:lnSpc>
              <a:buFont typeface="Arial"/>
              <a:buChar char="•"/>
            </a:pPr>
            <a:r>
              <a:rPr lang="en-US" sz="3699" dirty="0">
                <a:solidFill>
                  <a:srgbClr val="000000"/>
                </a:solidFill>
                <a:latin typeface="Times Neue Roman"/>
              </a:rPr>
              <a:t>Faster Diagnosis </a:t>
            </a:r>
          </a:p>
          <a:p>
            <a:pPr marL="798828" lvl="1" indent="-399414">
              <a:lnSpc>
                <a:spcPts val="5179"/>
              </a:lnSpc>
              <a:buFont typeface="Arial"/>
              <a:buChar char="•"/>
            </a:pPr>
            <a:r>
              <a:rPr lang="en-US" sz="3699" dirty="0">
                <a:solidFill>
                  <a:srgbClr val="000000"/>
                </a:solidFill>
                <a:latin typeface="Times Neue Roman"/>
              </a:rPr>
              <a:t>Accelerated Research</a:t>
            </a:r>
          </a:p>
          <a:p>
            <a:pPr marL="798828" lvl="1" indent="-399414">
              <a:lnSpc>
                <a:spcPts val="5179"/>
              </a:lnSpc>
              <a:buFont typeface="Arial"/>
              <a:buChar char="•"/>
            </a:pPr>
            <a:r>
              <a:rPr lang="en-US" sz="3699" dirty="0">
                <a:solidFill>
                  <a:srgbClr val="000000"/>
                </a:solidFill>
                <a:latin typeface="Times Neue Roman"/>
              </a:rPr>
              <a:t>Better understanding of Human at its core</a:t>
            </a:r>
          </a:p>
          <a:p>
            <a:pPr algn="ctr">
              <a:lnSpc>
                <a:spcPts val="5179"/>
              </a:lnSpc>
            </a:pPr>
            <a:endParaRPr lang="en-US" sz="3699" dirty="0">
              <a:solidFill>
                <a:srgbClr val="000000"/>
              </a:solidFill>
              <a:latin typeface="Times Neue Roman"/>
            </a:endParaRPr>
          </a:p>
        </p:txBody>
      </p:sp>
      <p:sp>
        <p:nvSpPr>
          <p:cNvPr id="16" name="TextBox 16"/>
          <p:cNvSpPr txBox="1"/>
          <p:nvPr/>
        </p:nvSpPr>
        <p:spPr>
          <a:xfrm>
            <a:off x="9840928" y="5407660"/>
            <a:ext cx="7703379" cy="3277870"/>
          </a:xfrm>
          <a:prstGeom prst="rect">
            <a:avLst/>
          </a:prstGeom>
        </p:spPr>
        <p:txBody>
          <a:bodyPr lIns="0" tIns="0" rIns="0" bIns="0" rtlCol="0" anchor="t">
            <a:spAutoFit/>
          </a:bodyPr>
          <a:lstStyle/>
          <a:p>
            <a:pPr marL="798828" lvl="1" indent="-399414">
              <a:lnSpc>
                <a:spcPts val="5179"/>
              </a:lnSpc>
              <a:buFont typeface="Arial"/>
              <a:buChar char="•"/>
            </a:pPr>
            <a:r>
              <a:rPr lang="en-US" sz="3699" dirty="0">
                <a:solidFill>
                  <a:srgbClr val="000000"/>
                </a:solidFill>
                <a:latin typeface="Times Neue Roman"/>
              </a:rPr>
              <a:t>Advancement in Bioinformatics is needed</a:t>
            </a:r>
          </a:p>
          <a:p>
            <a:pPr marL="798828" lvl="1" indent="-399414">
              <a:lnSpc>
                <a:spcPts val="5179"/>
              </a:lnSpc>
              <a:buFont typeface="Arial"/>
              <a:buChar char="•"/>
            </a:pPr>
            <a:r>
              <a:rPr lang="en-US" sz="3699" dirty="0">
                <a:solidFill>
                  <a:srgbClr val="000000"/>
                </a:solidFill>
                <a:latin typeface="Times Neue Roman"/>
              </a:rPr>
              <a:t>Genome Sequencing is in need of better and faster computing platforms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4590709" y="5138742"/>
            <a:ext cx="9695769" cy="0"/>
          </a:xfrm>
          <a:prstGeom prst="line">
            <a:avLst/>
          </a:prstGeom>
          <a:ln w="38100" cap="flat">
            <a:solidFill>
              <a:srgbClr val="22466B"/>
            </a:solidFill>
            <a:prstDash val="solid"/>
            <a:headEnd type="none" w="sm" len="sm"/>
            <a:tailEnd type="none" w="sm" len="sm"/>
          </a:ln>
        </p:spPr>
      </p:sp>
      <p:sp>
        <p:nvSpPr>
          <p:cNvPr id="3" name="AutoShape 3"/>
          <p:cNvSpPr/>
          <p:nvPr/>
        </p:nvSpPr>
        <p:spPr>
          <a:xfrm rot="-10800000">
            <a:off x="257175" y="290857"/>
            <a:ext cx="17782493" cy="0"/>
          </a:xfrm>
          <a:prstGeom prst="line">
            <a:avLst/>
          </a:prstGeom>
          <a:ln w="38100" cap="flat">
            <a:solidFill>
              <a:srgbClr val="000000"/>
            </a:solidFill>
            <a:prstDash val="solid"/>
            <a:headEnd type="none" w="sm" len="sm"/>
            <a:tailEnd type="none" w="sm" len="sm"/>
          </a:ln>
        </p:spPr>
      </p:sp>
      <p:sp>
        <p:nvSpPr>
          <p:cNvPr id="4" name="AutoShape 4"/>
          <p:cNvSpPr/>
          <p:nvPr/>
        </p:nvSpPr>
        <p:spPr>
          <a:xfrm rot="-10800000">
            <a:off x="257175" y="10005676"/>
            <a:ext cx="17687243" cy="0"/>
          </a:xfrm>
          <a:prstGeom prst="line">
            <a:avLst/>
          </a:prstGeom>
          <a:ln w="38100" cap="flat">
            <a:solidFill>
              <a:srgbClr val="000000"/>
            </a:solidFill>
            <a:prstDash val="solid"/>
            <a:headEnd type="none" w="sm" len="sm"/>
            <a:tailEnd type="none" w="sm" len="sm"/>
          </a:ln>
        </p:spPr>
      </p:sp>
      <p:sp>
        <p:nvSpPr>
          <p:cNvPr id="5" name="AutoShape 5"/>
          <p:cNvSpPr/>
          <p:nvPr/>
        </p:nvSpPr>
        <p:spPr>
          <a:xfrm rot="5400000">
            <a:off x="13032072" y="5298454"/>
            <a:ext cx="9977093" cy="0"/>
          </a:xfrm>
          <a:prstGeom prst="line">
            <a:avLst/>
          </a:prstGeom>
          <a:ln w="38100" cap="flat">
            <a:solidFill>
              <a:srgbClr val="22466B"/>
            </a:solidFill>
            <a:prstDash val="solid"/>
            <a:headEnd type="none" w="sm" len="sm"/>
            <a:tailEnd type="none" w="sm" len="sm"/>
          </a:ln>
        </p:spPr>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363603" y="5670805"/>
            <a:ext cx="5644895" cy="5644895"/>
          </a:xfrm>
          <a:prstGeom prst="rect">
            <a:avLst/>
          </a:prstGeom>
        </p:spPr>
      </p:pic>
      <p:sp>
        <p:nvSpPr>
          <p:cNvPr id="7" name="TextBox 7"/>
          <p:cNvSpPr txBox="1"/>
          <p:nvPr/>
        </p:nvSpPr>
        <p:spPr>
          <a:xfrm>
            <a:off x="1038225" y="438150"/>
            <a:ext cx="15238548" cy="4812066"/>
          </a:xfrm>
          <a:prstGeom prst="rect">
            <a:avLst/>
          </a:prstGeom>
        </p:spPr>
        <p:txBody>
          <a:bodyPr lIns="0" tIns="0" rIns="0" bIns="0" rtlCol="0" anchor="t">
            <a:spAutoFit/>
          </a:bodyPr>
          <a:lstStyle/>
          <a:p>
            <a:pPr>
              <a:lnSpc>
                <a:spcPts val="19318"/>
              </a:lnSpc>
            </a:pPr>
            <a:r>
              <a:rPr lang="en-US" sz="13798">
                <a:solidFill>
                  <a:srgbClr val="22466B"/>
                </a:solidFill>
                <a:latin typeface="Source Han Serif JP Bold"/>
              </a:rPr>
              <a:t>Background and </a:t>
            </a:r>
          </a:p>
          <a:p>
            <a:pPr>
              <a:lnSpc>
                <a:spcPts val="19318"/>
              </a:lnSpc>
              <a:spcBef>
                <a:spcPct val="0"/>
              </a:spcBef>
            </a:pPr>
            <a:r>
              <a:rPr lang="en-US" sz="13798">
                <a:solidFill>
                  <a:srgbClr val="22466B"/>
                </a:solidFill>
                <a:latin typeface="Source Han Serif JP Bold"/>
              </a:rPr>
              <a:t>Theory </a:t>
            </a:r>
          </a:p>
        </p:txBody>
      </p:sp>
      <p:sp>
        <p:nvSpPr>
          <p:cNvPr id="8" name="TextBox 8"/>
          <p:cNvSpPr txBox="1"/>
          <p:nvPr/>
        </p:nvSpPr>
        <p:spPr>
          <a:xfrm>
            <a:off x="1763486" y="5900766"/>
            <a:ext cx="13718041" cy="1953895"/>
          </a:xfrm>
          <a:prstGeom prst="rect">
            <a:avLst/>
          </a:prstGeom>
        </p:spPr>
        <p:txBody>
          <a:bodyPr lIns="0" tIns="0" rIns="0" bIns="0" rtlCol="0" anchor="t">
            <a:spAutoFit/>
          </a:bodyPr>
          <a:lstStyle/>
          <a:p>
            <a:pPr>
              <a:lnSpc>
                <a:spcPts val="5179"/>
              </a:lnSpc>
            </a:pPr>
            <a:r>
              <a:rPr lang="en-US" sz="3699" dirty="0">
                <a:solidFill>
                  <a:srgbClr val="000000"/>
                </a:solidFill>
                <a:latin typeface="Times Neue Roman"/>
              </a:rPr>
              <a:t>01 |  Heterogeneous Computing Systems </a:t>
            </a:r>
          </a:p>
          <a:p>
            <a:pPr>
              <a:lnSpc>
                <a:spcPts val="5179"/>
              </a:lnSpc>
            </a:pPr>
            <a:r>
              <a:rPr lang="en-US" sz="3699" dirty="0">
                <a:solidFill>
                  <a:srgbClr val="000000"/>
                </a:solidFill>
                <a:latin typeface="Times Neue Roman"/>
              </a:rPr>
              <a:t>02 |  Genome Sequencing and Pre-alignment Filtering </a:t>
            </a:r>
          </a:p>
          <a:p>
            <a:pPr>
              <a:lnSpc>
                <a:spcPts val="5179"/>
              </a:lnSpc>
            </a:pPr>
            <a:r>
              <a:rPr lang="en-US" sz="3699" dirty="0">
                <a:solidFill>
                  <a:srgbClr val="000000"/>
                </a:solidFill>
                <a:latin typeface="Times Neue Roman"/>
              </a:rPr>
              <a:t>03 |  Sneaky Snake Algorithm </a:t>
            </a: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1614405" y="7464553"/>
            <a:ext cx="5644895" cy="56448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16230600" cy="1177286"/>
          </a:xfrm>
          <a:prstGeom prst="rect">
            <a:avLst/>
          </a:prstGeom>
        </p:spPr>
        <p:txBody>
          <a:bodyPr lIns="0" tIns="0" rIns="0" bIns="0" rtlCol="0" anchor="t">
            <a:spAutoFit/>
          </a:bodyPr>
          <a:lstStyle/>
          <a:p>
            <a:pPr>
              <a:lnSpc>
                <a:spcPts val="9660"/>
              </a:lnSpc>
              <a:spcBef>
                <a:spcPct val="0"/>
              </a:spcBef>
            </a:pPr>
            <a:r>
              <a:rPr lang="en-US" sz="6900" dirty="0">
                <a:solidFill>
                  <a:srgbClr val="22466B"/>
                </a:solidFill>
                <a:latin typeface="Source Han Serif JP Bold"/>
              </a:rPr>
              <a:t>Heterogeneous Computing Systems </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06</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3" name="TextBox 13">
            <a:extLst>
              <a:ext uri="{FF2B5EF4-FFF2-40B4-BE49-F238E27FC236}">
                <a16:creationId xmlns:a16="http://schemas.microsoft.com/office/drawing/2014/main" id="{D58C20DF-E0F0-B4BE-3642-F5C42CFA8610}"/>
              </a:ext>
            </a:extLst>
          </p:cNvPr>
          <p:cNvSpPr txBox="1"/>
          <p:nvPr/>
        </p:nvSpPr>
        <p:spPr>
          <a:xfrm>
            <a:off x="980146" y="2073303"/>
            <a:ext cx="7630447" cy="7773218"/>
          </a:xfrm>
          <a:prstGeom prst="rect">
            <a:avLst/>
          </a:prstGeom>
        </p:spPr>
        <p:txBody>
          <a:bodyPr wrap="square" lIns="0" tIns="0" rIns="0" bIns="0" rtlCol="0" anchor="t">
            <a:spAutoFit/>
          </a:bodyPr>
          <a:lstStyle/>
          <a:p>
            <a:pPr marL="571500" indent="-571500">
              <a:buFont typeface="Arial" panose="020B0604020202020204" pitchFamily="34" charset="0"/>
              <a:buChar char="•"/>
            </a:pPr>
            <a:r>
              <a:rPr lang="en-US" sz="2800" dirty="0">
                <a:latin typeface="Times Neue Roman" panose="020B0604020202020204" charset="0"/>
              </a:rPr>
              <a:t>Composed of different types of processors</a:t>
            </a:r>
          </a:p>
          <a:p>
            <a:pPr marL="571500" indent="-571500">
              <a:buFont typeface="Arial" panose="020B0604020202020204" pitchFamily="34" charset="0"/>
              <a:buChar char="•"/>
            </a:pPr>
            <a:r>
              <a:rPr lang="en-US" sz="2800" dirty="0">
                <a:latin typeface="Times Neue Roman" panose="020B0604020202020204" charset="0"/>
              </a:rPr>
              <a:t>Different computing nodes are available</a:t>
            </a:r>
          </a:p>
          <a:p>
            <a:pPr marL="571500" indent="-571500">
              <a:buFont typeface="Arial" panose="020B0604020202020204" pitchFamily="34" charset="0"/>
              <a:buChar char="•"/>
            </a:pPr>
            <a:r>
              <a:rPr lang="en-US" sz="2800" dirty="0">
                <a:latin typeface="Times Neue Roman" panose="020B0604020202020204" charset="0"/>
              </a:rPr>
              <a:t>Workload is divided between processors according to their capability</a:t>
            </a:r>
          </a:p>
          <a:p>
            <a:pPr marL="571500" indent="-571500">
              <a:buFont typeface="Arial" panose="020B0604020202020204" pitchFamily="34" charset="0"/>
              <a:buChar char="•"/>
            </a:pPr>
            <a:r>
              <a:rPr lang="en-US" sz="2800" dirty="0">
                <a:latin typeface="Times Neue Roman" panose="020B0604020202020204" charset="0"/>
              </a:rPr>
              <a:t>Parallel systems</a:t>
            </a:r>
          </a:p>
          <a:p>
            <a:pPr marL="571500" indent="-571500">
              <a:buFont typeface="Arial" panose="020B0604020202020204" pitchFamily="34" charset="0"/>
              <a:buChar char="•"/>
            </a:pPr>
            <a:r>
              <a:rPr lang="en-US" sz="2800" dirty="0">
                <a:latin typeface="Times Neue Roman" panose="020B0604020202020204" charset="0"/>
              </a:rPr>
              <a:t>Thus, depending on the application use any of the four levels of parallelism</a:t>
            </a:r>
          </a:p>
          <a:p>
            <a:pPr marL="1485900" lvl="2" indent="-571500">
              <a:buFont typeface="Arial" panose="020B0604020202020204" pitchFamily="34" charset="0"/>
              <a:buChar char="•"/>
            </a:pPr>
            <a:r>
              <a:rPr lang="en-US" sz="2800" dirty="0">
                <a:latin typeface="Times Neue Roman" panose="020B0604020202020204" charset="0"/>
              </a:rPr>
              <a:t>Single Instruction stream-Single Data Stream (SISD)</a:t>
            </a:r>
          </a:p>
          <a:p>
            <a:pPr marL="1485900" lvl="2" indent="-571500">
              <a:buFont typeface="Arial" panose="020B0604020202020204" pitchFamily="34" charset="0"/>
              <a:buChar char="•"/>
            </a:pPr>
            <a:r>
              <a:rPr lang="en-US" sz="2800" dirty="0">
                <a:latin typeface="Times Neue Roman" panose="020B0604020202020204" charset="0"/>
              </a:rPr>
              <a:t>Single Instruction Stream-Multiple Data Stream (SIMD)</a:t>
            </a:r>
          </a:p>
          <a:p>
            <a:pPr marL="1485900" lvl="2" indent="-571500">
              <a:buFont typeface="Arial" panose="020B0604020202020204" pitchFamily="34" charset="0"/>
              <a:buChar char="•"/>
            </a:pPr>
            <a:r>
              <a:rPr lang="en-US" sz="2800" dirty="0">
                <a:latin typeface="Times Neue Roman" panose="020B0604020202020204" charset="0"/>
              </a:rPr>
              <a:t>Multiple Instruction Stream-Single Data Stream (MISD)</a:t>
            </a:r>
          </a:p>
          <a:p>
            <a:pPr marL="1485900" lvl="2" indent="-571500">
              <a:buFont typeface="Arial" panose="020B0604020202020204" pitchFamily="34" charset="0"/>
              <a:buChar char="•"/>
            </a:pPr>
            <a:r>
              <a:rPr lang="en-US" sz="2800" dirty="0">
                <a:latin typeface="Times Neue Roman" panose="020B0604020202020204" charset="0"/>
              </a:rPr>
              <a:t>Multiple Instruction Stream-Multiple Data Stream (MIMD)</a:t>
            </a:r>
          </a:p>
          <a:p>
            <a:pPr marL="571500" indent="-571500">
              <a:buFont typeface="Arial" panose="020B0604020202020204" pitchFamily="34" charset="0"/>
              <a:buChar char="•"/>
            </a:pPr>
            <a:endParaRPr lang="en-PK" sz="4000" dirty="0">
              <a:latin typeface="Times Neue Roman" panose="020B0604020202020204" charset="0"/>
            </a:endParaRPr>
          </a:p>
          <a:p>
            <a:pPr marL="798818" lvl="1" indent="-399409" algn="just">
              <a:lnSpc>
                <a:spcPts val="5179"/>
              </a:lnSpc>
              <a:buFont typeface="Arial"/>
              <a:buChar char="•"/>
            </a:pPr>
            <a:endParaRPr lang="en-US" sz="6000" dirty="0">
              <a:solidFill>
                <a:srgbClr val="CD9461"/>
              </a:solidFill>
              <a:latin typeface="Times Neue Roman" panose="020B0604020202020204" charset="0"/>
            </a:endParaRPr>
          </a:p>
        </p:txBody>
      </p:sp>
      <p:pic>
        <p:nvPicPr>
          <p:cNvPr id="15" name="Picture 14">
            <a:extLst>
              <a:ext uri="{FF2B5EF4-FFF2-40B4-BE49-F238E27FC236}">
                <a16:creationId xmlns:a16="http://schemas.microsoft.com/office/drawing/2014/main" id="{C5D0CE84-BA6C-E3E6-2492-590AB1F85503}"/>
              </a:ext>
            </a:extLst>
          </p:cNvPr>
          <p:cNvPicPr>
            <a:picLocks noChangeAspect="1"/>
          </p:cNvPicPr>
          <p:nvPr/>
        </p:nvPicPr>
        <p:blipFill>
          <a:blip r:embed="rId2"/>
          <a:stretch>
            <a:fillRect/>
          </a:stretch>
        </p:blipFill>
        <p:spPr>
          <a:xfrm>
            <a:off x="8421488" y="2368605"/>
            <a:ext cx="9618862" cy="51154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16230600" cy="1177286"/>
          </a:xfrm>
          <a:prstGeom prst="rect">
            <a:avLst/>
          </a:prstGeom>
        </p:spPr>
        <p:txBody>
          <a:bodyPr lIns="0" tIns="0" rIns="0" bIns="0" rtlCol="0" anchor="t">
            <a:spAutoFit/>
          </a:bodyPr>
          <a:lstStyle/>
          <a:p>
            <a:pPr>
              <a:lnSpc>
                <a:spcPts val="9660"/>
              </a:lnSpc>
              <a:spcBef>
                <a:spcPct val="0"/>
              </a:spcBef>
            </a:pPr>
            <a:r>
              <a:rPr lang="en-US" sz="6900" dirty="0">
                <a:solidFill>
                  <a:srgbClr val="22466B"/>
                </a:solidFill>
                <a:latin typeface="Source Han Serif JP Bold"/>
              </a:rPr>
              <a:t>Single Instruction Multiple Data</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07</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6" name="Content Placeholder 2">
            <a:extLst>
              <a:ext uri="{FF2B5EF4-FFF2-40B4-BE49-F238E27FC236}">
                <a16:creationId xmlns:a16="http://schemas.microsoft.com/office/drawing/2014/main" id="{0899436A-69A8-6C4F-8679-F3ED950E885D}"/>
              </a:ext>
            </a:extLst>
          </p:cNvPr>
          <p:cNvSpPr txBox="1">
            <a:spLocks/>
          </p:cNvSpPr>
          <p:nvPr/>
        </p:nvSpPr>
        <p:spPr>
          <a:xfrm>
            <a:off x="1125667" y="2371586"/>
            <a:ext cx="7484933" cy="435133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a:latin typeface="Times Neue Roman" panose="020B0604020202020204" charset="0"/>
              </a:rPr>
              <a:t>Only one instruction is available with all the processors</a:t>
            </a:r>
          </a:p>
          <a:p>
            <a:r>
              <a:rPr lang="en-US" sz="3600" dirty="0">
                <a:latin typeface="Times Neue Roman" panose="020B0604020202020204" charset="0"/>
              </a:rPr>
              <a:t>Each processor has its own data on which it executes instructions</a:t>
            </a:r>
          </a:p>
          <a:p>
            <a:r>
              <a:rPr lang="en-US" sz="3600" dirty="0">
                <a:latin typeface="Times Neue Roman" panose="020B0604020202020204" charset="0"/>
              </a:rPr>
              <a:t>Used for vector operation processing and digital signal processing</a:t>
            </a:r>
          </a:p>
          <a:p>
            <a:r>
              <a:rPr lang="en-US" sz="3600" dirty="0">
                <a:latin typeface="Times Neue Roman" panose="020B0604020202020204" charset="0"/>
              </a:rPr>
              <a:t>Primary goal: Maximize performance while using the least amount of power</a:t>
            </a:r>
          </a:p>
        </p:txBody>
      </p:sp>
      <p:pic>
        <p:nvPicPr>
          <p:cNvPr id="18" name="Picture 17">
            <a:extLst>
              <a:ext uri="{FF2B5EF4-FFF2-40B4-BE49-F238E27FC236}">
                <a16:creationId xmlns:a16="http://schemas.microsoft.com/office/drawing/2014/main" id="{9F64EE9A-D31D-881E-3F8B-D567597DD159}"/>
              </a:ext>
            </a:extLst>
          </p:cNvPr>
          <p:cNvPicPr>
            <a:picLocks noChangeAspect="1"/>
          </p:cNvPicPr>
          <p:nvPr/>
        </p:nvPicPr>
        <p:blipFill>
          <a:blip r:embed="rId2"/>
          <a:stretch>
            <a:fillRect/>
          </a:stretch>
        </p:blipFill>
        <p:spPr>
          <a:xfrm>
            <a:off x="8610600" y="2374374"/>
            <a:ext cx="9021434" cy="4906060"/>
          </a:xfrm>
          <a:prstGeom prst="rect">
            <a:avLst/>
          </a:prstGeom>
        </p:spPr>
      </p:pic>
    </p:spTree>
    <p:extLst>
      <p:ext uri="{BB962C8B-B14F-4D97-AF65-F5344CB8AC3E}">
        <p14:creationId xmlns:p14="http://schemas.microsoft.com/office/powerpoint/2010/main" val="4225149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16230600" cy="1135054"/>
          </a:xfrm>
          <a:prstGeom prst="rect">
            <a:avLst/>
          </a:prstGeom>
        </p:spPr>
        <p:txBody>
          <a:bodyPr lIns="0" tIns="0" rIns="0" bIns="0" rtlCol="0" anchor="t">
            <a:spAutoFit/>
          </a:bodyPr>
          <a:lstStyle/>
          <a:p>
            <a:pPr>
              <a:lnSpc>
                <a:spcPts val="9660"/>
              </a:lnSpc>
              <a:spcBef>
                <a:spcPct val="0"/>
              </a:spcBef>
            </a:pPr>
            <a:r>
              <a:rPr lang="en-US" sz="6000" dirty="0">
                <a:solidFill>
                  <a:srgbClr val="22466B"/>
                </a:solidFill>
                <a:latin typeface="Source Han Serif JP Bold"/>
              </a:rPr>
              <a:t>Different Processors Combinations</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08</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graphicFrame>
        <p:nvGraphicFramePr>
          <p:cNvPr id="13" name="Table 13">
            <a:extLst>
              <a:ext uri="{FF2B5EF4-FFF2-40B4-BE49-F238E27FC236}">
                <a16:creationId xmlns:a16="http://schemas.microsoft.com/office/drawing/2014/main" id="{BB56B570-198C-548C-6889-257E27FE97C5}"/>
              </a:ext>
            </a:extLst>
          </p:cNvPr>
          <p:cNvGraphicFramePr>
            <a:graphicFrameLocks noGrp="1"/>
          </p:cNvGraphicFramePr>
          <p:nvPr>
            <p:extLst>
              <p:ext uri="{D42A27DB-BD31-4B8C-83A1-F6EECF244321}">
                <p14:modId xmlns:p14="http://schemas.microsoft.com/office/powerpoint/2010/main" val="2417345500"/>
              </p:ext>
            </p:extLst>
          </p:nvPr>
        </p:nvGraphicFramePr>
        <p:xfrm>
          <a:off x="1099646" y="2394729"/>
          <a:ext cx="16229349" cy="2743200"/>
        </p:xfrm>
        <a:graphic>
          <a:graphicData uri="http://schemas.openxmlformats.org/drawingml/2006/table">
            <a:tbl>
              <a:tblPr bandRow="1">
                <a:tableStyleId>{5C22544A-7EE6-4342-B048-85BDC9FD1C3A}</a:tableStyleId>
              </a:tblPr>
              <a:tblGrid>
                <a:gridCol w="16229349">
                  <a:extLst>
                    <a:ext uri="{9D8B030D-6E8A-4147-A177-3AD203B41FA5}">
                      <a16:colId xmlns:a16="http://schemas.microsoft.com/office/drawing/2014/main" val="1125222239"/>
                    </a:ext>
                  </a:extLst>
                </a:gridCol>
              </a:tblGrid>
              <a:tr h="370840">
                <a:tc>
                  <a:txBody>
                    <a:bodyPr/>
                    <a:lstStyle/>
                    <a:p>
                      <a:r>
                        <a:rPr lang="en-US" sz="2400" b="1" dirty="0">
                          <a:latin typeface="Times Neue Roman" panose="020B0604020202020204" charset="0"/>
                        </a:rPr>
                        <a:t>CPU </a:t>
                      </a:r>
                      <a:r>
                        <a:rPr lang="en-US" sz="2400" b="1">
                          <a:latin typeface="Times Neue Roman" panose="020B0604020202020204" charset="0"/>
                        </a:rPr>
                        <a:t>and ASIC</a:t>
                      </a:r>
                      <a:endParaRPr lang="en-US" sz="2400" b="1" dirty="0">
                        <a:latin typeface="Times Neue Roman" panose="020B0604020202020204" charset="0"/>
                      </a:endParaRPr>
                    </a:p>
                  </a:txBody>
                  <a:tcPr/>
                </a:tc>
                <a:extLst>
                  <a:ext uri="{0D108BD9-81ED-4DB2-BD59-A6C34878D82A}">
                    <a16:rowId xmlns:a16="http://schemas.microsoft.com/office/drawing/2014/main" val="21925441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ue Roman" panose="020B0604020202020204" charset="0"/>
                        </a:rPr>
                        <a:t>Simplest and low-power consuming architecture</a:t>
                      </a:r>
                    </a:p>
                  </a:txBody>
                  <a:tcPr/>
                </a:tc>
                <a:extLst>
                  <a:ext uri="{0D108BD9-81ED-4DB2-BD59-A6C34878D82A}">
                    <a16:rowId xmlns:a16="http://schemas.microsoft.com/office/drawing/2014/main" val="2764421564"/>
                  </a:ext>
                </a:extLst>
              </a:tr>
              <a:tr h="370840">
                <a:tc>
                  <a:txBody>
                    <a:bodyPr/>
                    <a:lstStyle/>
                    <a:p>
                      <a:r>
                        <a:rPr lang="en-US" sz="2400" b="1" dirty="0">
                          <a:latin typeface="Times Neue Roman" panose="020B0604020202020204" charset="0"/>
                        </a:rPr>
                        <a:t>CPU and GPU</a:t>
                      </a:r>
                    </a:p>
                  </a:txBody>
                  <a:tcPr/>
                </a:tc>
                <a:extLst>
                  <a:ext uri="{0D108BD9-81ED-4DB2-BD59-A6C34878D82A}">
                    <a16:rowId xmlns:a16="http://schemas.microsoft.com/office/drawing/2014/main" val="33274307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ue Roman" panose="020B0604020202020204" charset="0"/>
                        </a:rPr>
                        <a:t>Increases the throughput of data and the number of concurrent calculations within an application</a:t>
                      </a:r>
                    </a:p>
                  </a:txBody>
                  <a:tcPr/>
                </a:tc>
                <a:extLst>
                  <a:ext uri="{0D108BD9-81ED-4DB2-BD59-A6C34878D82A}">
                    <a16:rowId xmlns:a16="http://schemas.microsoft.com/office/drawing/2014/main" val="2276500606"/>
                  </a:ext>
                </a:extLst>
              </a:tr>
              <a:tr h="370840">
                <a:tc>
                  <a:txBody>
                    <a:bodyPr/>
                    <a:lstStyle/>
                    <a:p>
                      <a:r>
                        <a:rPr lang="en-US" sz="2400" b="1" dirty="0">
                          <a:latin typeface="Times Neue Roman" panose="020B0604020202020204" charset="0"/>
                        </a:rPr>
                        <a:t>CPU and FPGA</a:t>
                      </a:r>
                    </a:p>
                  </a:txBody>
                  <a:tcPr/>
                </a:tc>
                <a:extLst>
                  <a:ext uri="{0D108BD9-81ED-4DB2-BD59-A6C34878D82A}">
                    <a16:rowId xmlns:a16="http://schemas.microsoft.com/office/drawing/2014/main" val="4999625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ue Roman" panose="020B0604020202020204" charset="0"/>
                        </a:rPr>
                        <a:t>Can execute ASM algorithm much more quickly than a CPU</a:t>
                      </a:r>
                    </a:p>
                  </a:txBody>
                  <a:tcPr/>
                </a:tc>
                <a:extLst>
                  <a:ext uri="{0D108BD9-81ED-4DB2-BD59-A6C34878D82A}">
                    <a16:rowId xmlns:a16="http://schemas.microsoft.com/office/drawing/2014/main" val="556131126"/>
                  </a:ext>
                </a:extLst>
              </a:tr>
            </a:tbl>
          </a:graphicData>
        </a:graphic>
      </p:graphicFrame>
      <p:sp>
        <p:nvSpPr>
          <p:cNvPr id="15" name="TextBox 14">
            <a:extLst>
              <a:ext uri="{FF2B5EF4-FFF2-40B4-BE49-F238E27FC236}">
                <a16:creationId xmlns:a16="http://schemas.microsoft.com/office/drawing/2014/main" id="{5E21DE9D-6C23-BAC1-225C-772CF940A737}"/>
              </a:ext>
            </a:extLst>
          </p:cNvPr>
          <p:cNvSpPr txBox="1"/>
          <p:nvPr/>
        </p:nvSpPr>
        <p:spPr>
          <a:xfrm>
            <a:off x="1003308" y="5574105"/>
            <a:ext cx="17027975" cy="2554545"/>
          </a:xfrm>
          <a:prstGeom prst="rect">
            <a:avLst/>
          </a:prstGeom>
          <a:noFill/>
        </p:spPr>
        <p:txBody>
          <a:bodyPr wrap="square">
            <a:spAutoFit/>
          </a:bodyPr>
          <a:lstStyle/>
          <a:p>
            <a:r>
              <a:rPr lang="en-US" sz="3200" b="1" dirty="0">
                <a:solidFill>
                  <a:srgbClr val="CD9461"/>
                </a:solidFill>
                <a:latin typeface="Times Neue Roman" panose="020B0604020202020204" charset="0"/>
              </a:rPr>
              <a:t>Advantages of Heterogenous Systems </a:t>
            </a:r>
          </a:p>
          <a:p>
            <a:pPr marL="457200" indent="-457200">
              <a:buFont typeface="Arial" panose="020B0604020202020204" pitchFamily="34" charset="0"/>
              <a:buChar char="•"/>
            </a:pPr>
            <a:r>
              <a:rPr lang="en-US" sz="3200" dirty="0">
                <a:latin typeface="Times Neue Roman" panose="020B0604020202020204" charset="0"/>
              </a:rPr>
              <a:t>Parallel task division technology</a:t>
            </a:r>
          </a:p>
          <a:p>
            <a:pPr marL="457200" indent="-457200">
              <a:buFont typeface="Arial" panose="020B0604020202020204" pitchFamily="34" charset="0"/>
              <a:buChar char="•"/>
            </a:pPr>
            <a:r>
              <a:rPr lang="en-US" sz="3200" dirty="0">
                <a:latin typeface="Times Neue Roman" panose="020B0604020202020204" charset="0"/>
              </a:rPr>
              <a:t>Increases the computation speed but also play their role in reducing the power consumption</a:t>
            </a:r>
          </a:p>
          <a:p>
            <a:pPr marL="457200" indent="-457200">
              <a:buFont typeface="Arial" panose="020B0604020202020204" pitchFamily="34" charset="0"/>
              <a:buChar char="•"/>
            </a:pPr>
            <a:r>
              <a:rPr lang="en-US" sz="3200" dirty="0">
                <a:latin typeface="Times Neue Roman" panose="020B0604020202020204" charset="0"/>
              </a:rPr>
              <a:t>Paved way for the introduction of data communication technology between Heterogeneous Processors</a:t>
            </a:r>
          </a:p>
        </p:txBody>
      </p:sp>
    </p:spTree>
    <p:extLst>
      <p:ext uri="{BB962C8B-B14F-4D97-AF65-F5344CB8AC3E}">
        <p14:creationId xmlns:p14="http://schemas.microsoft.com/office/powerpoint/2010/main" val="218739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16230600" cy="1135054"/>
          </a:xfrm>
          <a:prstGeom prst="rect">
            <a:avLst/>
          </a:prstGeom>
        </p:spPr>
        <p:txBody>
          <a:bodyPr lIns="0" tIns="0" rIns="0" bIns="0" rtlCol="0" anchor="t">
            <a:spAutoFit/>
          </a:bodyPr>
          <a:lstStyle/>
          <a:p>
            <a:pPr>
              <a:lnSpc>
                <a:spcPts val="9660"/>
              </a:lnSpc>
              <a:spcBef>
                <a:spcPct val="0"/>
              </a:spcBef>
            </a:pPr>
            <a:r>
              <a:rPr lang="en-US" sz="6000" dirty="0">
                <a:solidFill>
                  <a:srgbClr val="22466B"/>
                </a:solidFill>
                <a:latin typeface="Source Han Serif JP Bold"/>
              </a:rPr>
              <a:t>Genome Sequencing</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09</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6" name="TextBox 15">
            <a:extLst>
              <a:ext uri="{FF2B5EF4-FFF2-40B4-BE49-F238E27FC236}">
                <a16:creationId xmlns:a16="http://schemas.microsoft.com/office/drawing/2014/main" id="{A1BE34F4-D4B1-D832-2A0A-815AA790062D}"/>
              </a:ext>
            </a:extLst>
          </p:cNvPr>
          <p:cNvSpPr txBox="1"/>
          <p:nvPr/>
        </p:nvSpPr>
        <p:spPr>
          <a:xfrm>
            <a:off x="1097789" y="2348262"/>
            <a:ext cx="8046210" cy="6986528"/>
          </a:xfrm>
          <a:prstGeom prst="rect">
            <a:avLst/>
          </a:prstGeom>
          <a:noFill/>
        </p:spPr>
        <p:txBody>
          <a:bodyPr wrap="square">
            <a:spAutoFit/>
          </a:bodyPr>
          <a:lstStyle/>
          <a:p>
            <a:r>
              <a:rPr lang="en-US" sz="3200" b="1" dirty="0">
                <a:latin typeface="Times Neue Roman" panose="020B0604020202020204" charset="0"/>
              </a:rPr>
              <a:t>What is Human Genome?</a:t>
            </a:r>
          </a:p>
          <a:p>
            <a:pPr marL="914400" lvl="1" indent="-457200">
              <a:buFont typeface="Arial" panose="020B0604020202020204" pitchFamily="34" charset="0"/>
              <a:buChar char="•"/>
            </a:pPr>
            <a:r>
              <a:rPr lang="en-US" sz="3200" dirty="0">
                <a:latin typeface="Times Neue Roman" panose="020B0604020202020204" charset="0"/>
              </a:rPr>
              <a:t>Complete set of all nucleic acid sequences for homo sapiens, encoded as DNA within 23 chromosomes</a:t>
            </a:r>
          </a:p>
          <a:p>
            <a:pPr marL="914400" lvl="1" indent="-457200">
              <a:buFont typeface="Arial" panose="020B0604020202020204" pitchFamily="34" charset="0"/>
              <a:buChar char="•"/>
            </a:pPr>
            <a:r>
              <a:rPr lang="en-US" sz="3200" dirty="0">
                <a:latin typeface="Times Neue Roman" panose="020B0604020202020204" charset="0"/>
              </a:rPr>
              <a:t>Consists of three billion base pairs, forming one long polymer</a:t>
            </a:r>
          </a:p>
          <a:p>
            <a:pPr marL="914400" lvl="1" indent="-457200">
              <a:buFont typeface="Arial" panose="020B0604020202020204" pitchFamily="34" charset="0"/>
              <a:buChar char="•"/>
            </a:pPr>
            <a:r>
              <a:rPr lang="en-US" sz="3200" dirty="0">
                <a:latin typeface="Times Neue Roman" panose="020B0604020202020204" charset="0"/>
              </a:rPr>
              <a:t>Classified as coding and non-coding DNA</a:t>
            </a:r>
          </a:p>
          <a:p>
            <a:r>
              <a:rPr lang="en-US" sz="3200" b="1" dirty="0">
                <a:latin typeface="Times Neue Roman" panose="020B0604020202020204" charset="0"/>
              </a:rPr>
              <a:t>Genome Sequencing Process</a:t>
            </a:r>
          </a:p>
          <a:p>
            <a:pPr marL="914400" lvl="1" indent="-457200">
              <a:buFont typeface="Arial" panose="020B0604020202020204" pitchFamily="34" charset="0"/>
              <a:buChar char="•"/>
            </a:pPr>
            <a:r>
              <a:rPr lang="en-US" sz="3200" dirty="0">
                <a:latin typeface="Times Neue Roman" panose="020B0604020202020204" charset="0"/>
              </a:rPr>
              <a:t>Determining the genome of an organism in its entirety or near to that</a:t>
            </a:r>
          </a:p>
          <a:p>
            <a:pPr marL="914400" lvl="1" indent="-457200">
              <a:buFont typeface="Arial" panose="020B0604020202020204" pitchFamily="34" charset="0"/>
              <a:buChar char="•"/>
            </a:pPr>
            <a:r>
              <a:rPr lang="en-US" sz="3200" dirty="0">
                <a:latin typeface="Times Neue Roman" panose="020B0604020202020204" charset="0"/>
              </a:rPr>
              <a:t>Helps determines the intricacies hidden behind the coded sequence that living cells contain</a:t>
            </a:r>
          </a:p>
          <a:p>
            <a:pPr lvl="1"/>
            <a:endParaRPr lang="en-US" sz="3200" dirty="0">
              <a:latin typeface="Times Neue Roman" panose="020B0604020202020204" charset="0"/>
            </a:endParaRPr>
          </a:p>
        </p:txBody>
      </p:sp>
      <p:sp>
        <p:nvSpPr>
          <p:cNvPr id="18" name="TextBox 17">
            <a:extLst>
              <a:ext uri="{FF2B5EF4-FFF2-40B4-BE49-F238E27FC236}">
                <a16:creationId xmlns:a16="http://schemas.microsoft.com/office/drawing/2014/main" id="{87C5DBC4-2499-740F-09D3-62C3766DDEBA}"/>
              </a:ext>
            </a:extLst>
          </p:cNvPr>
          <p:cNvSpPr txBox="1"/>
          <p:nvPr/>
        </p:nvSpPr>
        <p:spPr>
          <a:xfrm>
            <a:off x="9659988" y="3070595"/>
            <a:ext cx="8046209" cy="5016758"/>
          </a:xfrm>
          <a:prstGeom prst="rect">
            <a:avLst/>
          </a:prstGeom>
          <a:noFill/>
        </p:spPr>
        <p:txBody>
          <a:bodyPr wrap="square">
            <a:spAutoFit/>
          </a:bodyPr>
          <a:lstStyle/>
          <a:p>
            <a:pPr lvl="1"/>
            <a:r>
              <a:rPr lang="en-US" sz="3200" b="1" dirty="0">
                <a:latin typeface="Times Neue Roman" panose="020B0604020202020204" charset="0"/>
              </a:rPr>
              <a:t>This process can be divided into the following steps:</a:t>
            </a:r>
          </a:p>
          <a:p>
            <a:pPr marL="971550" lvl="1" indent="-514350">
              <a:buFont typeface="+mj-lt"/>
              <a:buAutoNum type="arabicPeriod"/>
            </a:pPr>
            <a:r>
              <a:rPr lang="en-US" sz="3200" dirty="0">
                <a:latin typeface="Times Neue Roman" panose="020B0604020202020204" charset="0"/>
              </a:rPr>
              <a:t>Obtaining reads from sequencer</a:t>
            </a:r>
          </a:p>
          <a:p>
            <a:pPr marL="971550" lvl="1" indent="-514350">
              <a:buFont typeface="+mj-lt"/>
              <a:buAutoNum type="arabicPeriod"/>
            </a:pPr>
            <a:r>
              <a:rPr lang="en-US" sz="3200" dirty="0">
                <a:latin typeface="Times Neue Roman" panose="020B0604020202020204" charset="0"/>
              </a:rPr>
              <a:t>Taking reads from the sequencer and mapping them onto the reference genome (Read Mapping)</a:t>
            </a:r>
          </a:p>
          <a:p>
            <a:pPr lvl="1"/>
            <a:r>
              <a:rPr lang="en-US" sz="3200" dirty="0">
                <a:latin typeface="Times Neue Roman" panose="020B0604020202020204" charset="0"/>
              </a:rPr>
              <a:t>Read mapping is further divided into</a:t>
            </a:r>
          </a:p>
          <a:p>
            <a:pPr marL="1371600" lvl="2" indent="-457200">
              <a:buFont typeface="Arial" panose="020B0604020202020204" pitchFamily="34" charset="0"/>
              <a:buChar char="•"/>
            </a:pPr>
            <a:r>
              <a:rPr lang="en-US" sz="3200" dirty="0">
                <a:latin typeface="Times Neue Roman" panose="020B0604020202020204" charset="0"/>
              </a:rPr>
              <a:t>Indexing and Querying</a:t>
            </a:r>
          </a:p>
          <a:p>
            <a:pPr marL="1371600" lvl="2" indent="-457200">
              <a:buFont typeface="Arial" panose="020B0604020202020204" pitchFamily="34" charset="0"/>
              <a:buChar char="•"/>
            </a:pPr>
            <a:r>
              <a:rPr lang="en-US" sz="3200" dirty="0">
                <a:latin typeface="Times Neue Roman" panose="020B0604020202020204" charset="0"/>
              </a:rPr>
              <a:t>Pre-alignment filtering</a:t>
            </a:r>
          </a:p>
          <a:p>
            <a:pPr marL="1371600" lvl="2" indent="-457200">
              <a:buFont typeface="Arial" panose="020B0604020202020204" pitchFamily="34" charset="0"/>
              <a:buChar char="•"/>
            </a:pPr>
            <a:r>
              <a:rPr lang="en-US" sz="3200" dirty="0">
                <a:latin typeface="Times Neue Roman" panose="020B0604020202020204" charset="0"/>
              </a:rPr>
              <a:t>Sequence Alignment</a:t>
            </a:r>
            <a:endParaRPr lang="en-PK" sz="3200" dirty="0">
              <a:latin typeface="Times Neue Roman" panose="020B0604020202020204" charset="0"/>
            </a:endParaRPr>
          </a:p>
        </p:txBody>
      </p:sp>
    </p:spTree>
    <p:extLst>
      <p:ext uri="{BB962C8B-B14F-4D97-AF65-F5344CB8AC3E}">
        <p14:creationId xmlns:p14="http://schemas.microsoft.com/office/powerpoint/2010/main" val="3424215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8496295" cy="1135054"/>
          </a:xfrm>
          <a:prstGeom prst="rect">
            <a:avLst/>
          </a:prstGeom>
        </p:spPr>
        <p:txBody>
          <a:bodyPr wrap="square" lIns="0" tIns="0" rIns="0" bIns="0" rtlCol="0" anchor="t">
            <a:spAutoFit/>
          </a:bodyPr>
          <a:lstStyle/>
          <a:p>
            <a:pPr>
              <a:lnSpc>
                <a:spcPts val="9660"/>
              </a:lnSpc>
              <a:spcBef>
                <a:spcPct val="0"/>
              </a:spcBef>
            </a:pPr>
            <a:r>
              <a:rPr lang="en-US" sz="6000" dirty="0">
                <a:solidFill>
                  <a:srgbClr val="22466B"/>
                </a:solidFill>
                <a:latin typeface="Source Han Serif JP Bold"/>
              </a:rPr>
              <a:t>Genome Sequencing</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10</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pic>
        <p:nvPicPr>
          <p:cNvPr id="14" name="Picture 13">
            <a:extLst>
              <a:ext uri="{FF2B5EF4-FFF2-40B4-BE49-F238E27FC236}">
                <a16:creationId xmlns:a16="http://schemas.microsoft.com/office/drawing/2014/main" id="{D71F76C0-ECEB-26A1-BCFC-E3FF905F1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667" y="2102271"/>
            <a:ext cx="8096250" cy="6591300"/>
          </a:xfrm>
          <a:prstGeom prst="rect">
            <a:avLst/>
          </a:prstGeom>
        </p:spPr>
      </p:pic>
      <p:sp>
        <p:nvSpPr>
          <p:cNvPr id="17" name="TextBox 16">
            <a:extLst>
              <a:ext uri="{FF2B5EF4-FFF2-40B4-BE49-F238E27FC236}">
                <a16:creationId xmlns:a16="http://schemas.microsoft.com/office/drawing/2014/main" id="{77C83376-7D53-2768-90EE-DFE8A0D5ECE3}"/>
              </a:ext>
            </a:extLst>
          </p:cNvPr>
          <p:cNvSpPr txBox="1"/>
          <p:nvPr/>
        </p:nvSpPr>
        <p:spPr>
          <a:xfrm>
            <a:off x="9734550" y="3086730"/>
            <a:ext cx="8096250" cy="5016758"/>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ue Roman" panose="020B0604020202020204" charset="0"/>
              </a:rPr>
              <a:t>A technique used to accelerate the process of genome sequencing </a:t>
            </a:r>
          </a:p>
          <a:p>
            <a:pPr marL="457200" indent="-457200">
              <a:buFont typeface="Arial" panose="020B0604020202020204" pitchFamily="34" charset="0"/>
              <a:buChar char="•"/>
            </a:pPr>
            <a:r>
              <a:rPr lang="en-US" sz="3200" dirty="0">
                <a:latin typeface="Times Neue Roman" panose="020B0604020202020204" charset="0"/>
              </a:rPr>
              <a:t>Reduces the need for DP algorithm used by the sequence alignment technique</a:t>
            </a:r>
          </a:p>
          <a:p>
            <a:r>
              <a:rPr lang="en-US" sz="3200" b="1" dirty="0">
                <a:latin typeface="Times Neue Roman" panose="020B0604020202020204" charset="0"/>
              </a:rPr>
              <a:t>Types of Pre-Alignment Filtering algorithm</a:t>
            </a:r>
          </a:p>
          <a:p>
            <a:pPr marL="1028700" lvl="1" indent="-571500">
              <a:buFont typeface="+mj-lt"/>
              <a:buAutoNum type="romanLcPeriod"/>
            </a:pPr>
            <a:r>
              <a:rPr lang="en-US" sz="3200" dirty="0">
                <a:latin typeface="Times Neue Roman" panose="020B0604020202020204" charset="0"/>
              </a:rPr>
              <a:t>Shifted Hamming Distance </a:t>
            </a:r>
          </a:p>
          <a:p>
            <a:pPr marL="1028700" lvl="1" indent="-571500">
              <a:buFont typeface="+mj-lt"/>
              <a:buAutoNum type="romanLcPeriod"/>
            </a:pPr>
            <a:r>
              <a:rPr lang="en-US" sz="3200" dirty="0">
                <a:latin typeface="Times Neue Roman" panose="020B0604020202020204" charset="0"/>
              </a:rPr>
              <a:t>Gatekeeper Algorithm</a:t>
            </a:r>
          </a:p>
          <a:p>
            <a:pPr marL="1028700" lvl="1" indent="-571500">
              <a:buFont typeface="+mj-lt"/>
              <a:buAutoNum type="romanLcPeriod"/>
            </a:pPr>
            <a:r>
              <a:rPr lang="en-US" sz="3200" dirty="0">
                <a:latin typeface="Times Neue Roman" panose="020B0604020202020204" charset="0"/>
              </a:rPr>
              <a:t>MAGNET </a:t>
            </a:r>
          </a:p>
          <a:p>
            <a:pPr marL="1028700" lvl="1" indent="-571500">
              <a:buFont typeface="+mj-lt"/>
              <a:buAutoNum type="romanLcPeriod"/>
            </a:pPr>
            <a:r>
              <a:rPr lang="en-US" sz="3200" dirty="0" err="1">
                <a:latin typeface="Times Neue Roman" panose="020B0604020202020204" charset="0"/>
              </a:rPr>
              <a:t>Shouji</a:t>
            </a:r>
            <a:r>
              <a:rPr lang="en-US" sz="3200" dirty="0">
                <a:latin typeface="Times Neue Roman" panose="020B0604020202020204" charset="0"/>
              </a:rPr>
              <a:t> </a:t>
            </a:r>
          </a:p>
          <a:p>
            <a:pPr marL="1028700" lvl="1" indent="-571500">
              <a:buFont typeface="+mj-lt"/>
              <a:buAutoNum type="romanLcPeriod"/>
            </a:pPr>
            <a:r>
              <a:rPr lang="en-US" sz="3200" dirty="0">
                <a:latin typeface="Times Neue Roman" panose="020B0604020202020204" charset="0"/>
              </a:rPr>
              <a:t>Sneaky Snake Algorithm </a:t>
            </a:r>
            <a:endParaRPr lang="en-PK" sz="3200" dirty="0">
              <a:latin typeface="Times Neue Roman" panose="020B0604020202020204" charset="0"/>
            </a:endParaRPr>
          </a:p>
        </p:txBody>
      </p:sp>
      <p:sp>
        <p:nvSpPr>
          <p:cNvPr id="19" name="TextBox 10">
            <a:extLst>
              <a:ext uri="{FF2B5EF4-FFF2-40B4-BE49-F238E27FC236}">
                <a16:creationId xmlns:a16="http://schemas.microsoft.com/office/drawing/2014/main" id="{90EF5A0F-73C9-DD2D-2988-7DEA69E1422C}"/>
              </a:ext>
            </a:extLst>
          </p:cNvPr>
          <p:cNvSpPr txBox="1"/>
          <p:nvPr/>
        </p:nvSpPr>
        <p:spPr>
          <a:xfrm>
            <a:off x="9791705" y="1879346"/>
            <a:ext cx="8496295" cy="1056058"/>
          </a:xfrm>
          <a:prstGeom prst="rect">
            <a:avLst/>
          </a:prstGeom>
        </p:spPr>
        <p:txBody>
          <a:bodyPr wrap="square" lIns="0" tIns="0" rIns="0" bIns="0" rtlCol="0" anchor="t">
            <a:spAutoFit/>
          </a:bodyPr>
          <a:lstStyle/>
          <a:p>
            <a:pPr>
              <a:lnSpc>
                <a:spcPts val="9660"/>
              </a:lnSpc>
              <a:spcBef>
                <a:spcPct val="0"/>
              </a:spcBef>
            </a:pPr>
            <a:r>
              <a:rPr lang="en-US" sz="3200" b="1" dirty="0">
                <a:solidFill>
                  <a:srgbClr val="CD9461"/>
                </a:solidFill>
                <a:latin typeface="Garet Bold" panose="020B0604020202020204" charset="0"/>
              </a:rPr>
              <a:t>Pre-Alignment Filtering</a:t>
            </a:r>
          </a:p>
        </p:txBody>
      </p:sp>
    </p:spTree>
    <p:extLst>
      <p:ext uri="{BB962C8B-B14F-4D97-AF65-F5344CB8AC3E}">
        <p14:creationId xmlns:p14="http://schemas.microsoft.com/office/powerpoint/2010/main" val="1405263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8496295" cy="1135054"/>
          </a:xfrm>
          <a:prstGeom prst="rect">
            <a:avLst/>
          </a:prstGeom>
        </p:spPr>
        <p:txBody>
          <a:bodyPr wrap="square" lIns="0" tIns="0" rIns="0" bIns="0" rtlCol="0" anchor="t">
            <a:spAutoFit/>
          </a:bodyPr>
          <a:lstStyle/>
          <a:p>
            <a:pPr>
              <a:lnSpc>
                <a:spcPts val="9660"/>
              </a:lnSpc>
              <a:spcBef>
                <a:spcPct val="0"/>
              </a:spcBef>
            </a:pPr>
            <a:r>
              <a:rPr lang="en-US" sz="6000" dirty="0">
                <a:solidFill>
                  <a:srgbClr val="22466B"/>
                </a:solidFill>
                <a:latin typeface="Source Han Serif JP Bold"/>
              </a:rPr>
              <a:t>Literature Review</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11</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graphicFrame>
        <p:nvGraphicFramePr>
          <p:cNvPr id="13" name="Table 13">
            <a:extLst>
              <a:ext uri="{FF2B5EF4-FFF2-40B4-BE49-F238E27FC236}">
                <a16:creationId xmlns:a16="http://schemas.microsoft.com/office/drawing/2014/main" id="{4A14DBDC-B4A4-048A-A022-9626DE31A5F1}"/>
              </a:ext>
            </a:extLst>
          </p:cNvPr>
          <p:cNvGraphicFramePr>
            <a:graphicFrameLocks noGrp="1"/>
          </p:cNvGraphicFramePr>
          <p:nvPr>
            <p:extLst>
              <p:ext uri="{D42A27DB-BD31-4B8C-83A1-F6EECF244321}">
                <p14:modId xmlns:p14="http://schemas.microsoft.com/office/powerpoint/2010/main" val="2920643682"/>
              </p:ext>
            </p:extLst>
          </p:nvPr>
        </p:nvGraphicFramePr>
        <p:xfrm>
          <a:off x="1905003" y="2416154"/>
          <a:ext cx="14634481" cy="5927747"/>
        </p:xfrm>
        <a:graphic>
          <a:graphicData uri="http://schemas.openxmlformats.org/drawingml/2006/table">
            <a:tbl>
              <a:tblPr firstRow="1" bandRow="1">
                <a:tableStyleId>{5C22544A-7EE6-4342-B048-85BDC9FD1C3A}</a:tableStyleId>
              </a:tblPr>
              <a:tblGrid>
                <a:gridCol w="3772956">
                  <a:extLst>
                    <a:ext uri="{9D8B030D-6E8A-4147-A177-3AD203B41FA5}">
                      <a16:colId xmlns:a16="http://schemas.microsoft.com/office/drawing/2014/main" val="4103202703"/>
                    </a:ext>
                  </a:extLst>
                </a:gridCol>
                <a:gridCol w="10861525">
                  <a:extLst>
                    <a:ext uri="{9D8B030D-6E8A-4147-A177-3AD203B41FA5}">
                      <a16:colId xmlns:a16="http://schemas.microsoft.com/office/drawing/2014/main" val="531403329"/>
                    </a:ext>
                  </a:extLst>
                </a:gridCol>
              </a:tblGrid>
              <a:tr h="601154">
                <a:tc>
                  <a:txBody>
                    <a:bodyPr/>
                    <a:lstStyle/>
                    <a:p>
                      <a:r>
                        <a:rPr lang="en-US" sz="3200" dirty="0"/>
                        <a:t>ALGORITHM</a:t>
                      </a:r>
                    </a:p>
                  </a:txBody>
                  <a:tcPr/>
                </a:tc>
                <a:tc>
                  <a:txBody>
                    <a:bodyPr/>
                    <a:lstStyle/>
                    <a:p>
                      <a:r>
                        <a:rPr lang="en-US" sz="3200" dirty="0"/>
                        <a:t>DESCRIPTION</a:t>
                      </a:r>
                    </a:p>
                  </a:txBody>
                  <a:tcPr/>
                </a:tc>
                <a:extLst>
                  <a:ext uri="{0D108BD9-81ED-4DB2-BD59-A6C34878D82A}">
                    <a16:rowId xmlns:a16="http://schemas.microsoft.com/office/drawing/2014/main" val="3871496732"/>
                  </a:ext>
                </a:extLst>
              </a:tr>
              <a:tr h="2086356">
                <a:tc>
                  <a:txBody>
                    <a:bodyPr/>
                    <a:lstStyle/>
                    <a:p>
                      <a:r>
                        <a:rPr lang="en-US" sz="3200" dirty="0">
                          <a:latin typeface="Times Neue Roman" panose="020B0604020202020204" charset="0"/>
                        </a:rPr>
                        <a:t>SHD</a:t>
                      </a:r>
                    </a:p>
                  </a:txBody>
                  <a:tcPr/>
                </a:tc>
                <a:tc>
                  <a:txBody>
                    <a:bodyPr/>
                    <a:lstStyle/>
                    <a:p>
                      <a:pPr marL="285750" indent="-285750">
                        <a:buFont typeface="Arial" panose="020B0604020202020204" pitchFamily="34" charset="0"/>
                        <a:buChar char="•"/>
                      </a:pPr>
                      <a:r>
                        <a:rPr lang="en-US" sz="3200" dirty="0">
                          <a:latin typeface="Times Neue Roman" panose="020B0604020202020204" charset="0"/>
                        </a:rPr>
                        <a:t>Limited by the capability of SIMD machines</a:t>
                      </a:r>
                    </a:p>
                    <a:p>
                      <a:pPr marL="285750" indent="-285750">
                        <a:buFont typeface="Arial" panose="020B0604020202020204" pitchFamily="34" charset="0"/>
                        <a:buChar char="•"/>
                      </a:pPr>
                      <a:r>
                        <a:rPr lang="en-US" sz="3200" dirty="0">
                          <a:latin typeface="Times Neue Roman" panose="020B0604020202020204" charset="0"/>
                        </a:rPr>
                        <a:t>Can only take 128 bit input read at a time</a:t>
                      </a:r>
                    </a:p>
                    <a:p>
                      <a:pPr marL="285750" indent="-285750">
                        <a:buFont typeface="Arial" panose="020B0604020202020204" pitchFamily="34" charset="0"/>
                        <a:buChar char="•"/>
                      </a:pPr>
                      <a:r>
                        <a:rPr lang="en-US" sz="3200" dirty="0">
                          <a:latin typeface="Times Neue Roman" panose="020B0604020202020204" charset="0"/>
                        </a:rPr>
                        <a:t>Is slower as compared to other algorithms due to sequential comparison</a:t>
                      </a:r>
                    </a:p>
                  </a:txBody>
                  <a:tcPr/>
                </a:tc>
                <a:extLst>
                  <a:ext uri="{0D108BD9-81ED-4DB2-BD59-A6C34878D82A}">
                    <a16:rowId xmlns:a16="http://schemas.microsoft.com/office/drawing/2014/main" val="3301690269"/>
                  </a:ext>
                </a:extLst>
              </a:tr>
              <a:tr h="658814">
                <a:tc>
                  <a:txBody>
                    <a:bodyPr/>
                    <a:lstStyle/>
                    <a:p>
                      <a:r>
                        <a:rPr lang="en-US" sz="3200" dirty="0">
                          <a:latin typeface="Times Neue Roman" panose="020B0604020202020204" charset="0"/>
                        </a:rPr>
                        <a:t>Gatekeeper</a:t>
                      </a:r>
                    </a:p>
                  </a:txBody>
                  <a:tcPr/>
                </a:tc>
                <a:tc>
                  <a:txBody>
                    <a:bodyPr/>
                    <a:lstStyle/>
                    <a:p>
                      <a:pPr marL="285750" indent="-285750">
                        <a:buFont typeface="Arial" panose="020B0604020202020204" pitchFamily="34" charset="0"/>
                        <a:buChar char="•"/>
                      </a:pPr>
                      <a:r>
                        <a:rPr lang="en-US" sz="3200" dirty="0">
                          <a:latin typeface="Times Neue Roman" panose="020B0604020202020204" charset="0"/>
                        </a:rPr>
                        <a:t>Inaccurate after a certain edit distance threshold</a:t>
                      </a:r>
                    </a:p>
                  </a:txBody>
                  <a:tcPr/>
                </a:tc>
                <a:extLst>
                  <a:ext uri="{0D108BD9-81ED-4DB2-BD59-A6C34878D82A}">
                    <a16:rowId xmlns:a16="http://schemas.microsoft.com/office/drawing/2014/main" val="1084437180"/>
                  </a:ext>
                </a:extLst>
              </a:tr>
              <a:tr h="2581423">
                <a:tc>
                  <a:txBody>
                    <a:bodyPr/>
                    <a:lstStyle/>
                    <a:p>
                      <a:r>
                        <a:rPr lang="en-US" sz="3200" dirty="0">
                          <a:latin typeface="Times Neue Roman" panose="020B0604020202020204" charset="0"/>
                        </a:rPr>
                        <a:t>Sneaky Snake</a:t>
                      </a:r>
                    </a:p>
                  </a:txBody>
                  <a:tcPr/>
                </a:tc>
                <a:tc>
                  <a:txBody>
                    <a:bodyPr/>
                    <a:lstStyle/>
                    <a:p>
                      <a:pPr marL="285750" indent="-285750">
                        <a:buFont typeface="Arial" panose="020B0604020202020204" pitchFamily="34" charset="0"/>
                        <a:buChar char="•"/>
                      </a:pPr>
                      <a:r>
                        <a:rPr lang="en-US" sz="3200" dirty="0">
                          <a:latin typeface="Times Neue Roman" panose="020B0604020202020204" charset="0"/>
                        </a:rPr>
                        <a:t>Improves the accuracy of pre-alignment filtering by 4 times as compared to other algorithms</a:t>
                      </a:r>
                    </a:p>
                    <a:p>
                      <a:pPr marL="285750" indent="-285750">
                        <a:buFont typeface="Arial" panose="020B0604020202020204" pitchFamily="34" charset="0"/>
                        <a:buChar char="•"/>
                      </a:pPr>
                      <a:r>
                        <a:rPr lang="en-US" sz="3200" dirty="0">
                          <a:latin typeface="Times Neue Roman" panose="020B0604020202020204" charset="0"/>
                        </a:rPr>
                        <a:t>Can be implemented on CPUs, GPUs, FPGAs</a:t>
                      </a:r>
                    </a:p>
                    <a:p>
                      <a:pPr marL="285750" indent="-285750">
                        <a:buFont typeface="Arial" panose="020B0604020202020204" pitchFamily="34" charset="0"/>
                        <a:buChar char="•"/>
                      </a:pPr>
                      <a:r>
                        <a:rPr lang="en-US" sz="3200" dirty="0">
                          <a:latin typeface="Times Neue Roman" panose="020B0604020202020204" charset="0"/>
                        </a:rPr>
                        <a:t>Only algorithm which can be implemented on different processors</a:t>
                      </a:r>
                    </a:p>
                  </a:txBody>
                  <a:tcPr/>
                </a:tc>
                <a:extLst>
                  <a:ext uri="{0D108BD9-81ED-4DB2-BD59-A6C34878D82A}">
                    <a16:rowId xmlns:a16="http://schemas.microsoft.com/office/drawing/2014/main" val="912153613"/>
                  </a:ext>
                </a:extLst>
              </a:tr>
            </a:tbl>
          </a:graphicData>
        </a:graphic>
      </p:graphicFrame>
    </p:spTree>
    <p:extLst>
      <p:ext uri="{BB962C8B-B14F-4D97-AF65-F5344CB8AC3E}">
        <p14:creationId xmlns:p14="http://schemas.microsoft.com/office/powerpoint/2010/main" val="1616681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12077700" cy="1116716"/>
          </a:xfrm>
          <a:prstGeom prst="rect">
            <a:avLst/>
          </a:prstGeom>
        </p:spPr>
        <p:txBody>
          <a:bodyPr wrap="square" lIns="0" tIns="0" rIns="0" bIns="0" rtlCol="0" anchor="t">
            <a:spAutoFit/>
          </a:bodyPr>
          <a:lstStyle/>
          <a:p>
            <a:pPr>
              <a:lnSpc>
                <a:spcPts val="9660"/>
              </a:lnSpc>
              <a:spcBef>
                <a:spcPct val="0"/>
              </a:spcBef>
            </a:pPr>
            <a:r>
              <a:rPr lang="en-US" sz="6000" dirty="0">
                <a:solidFill>
                  <a:srgbClr val="22466B"/>
                </a:solidFill>
                <a:latin typeface="Source Han Serif JP Bold"/>
              </a:rPr>
              <a:t>Sneaky Snake Algorithm</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12</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5" name="TextBox 14">
            <a:extLst>
              <a:ext uri="{FF2B5EF4-FFF2-40B4-BE49-F238E27FC236}">
                <a16:creationId xmlns:a16="http://schemas.microsoft.com/office/drawing/2014/main" id="{6C4F1AB8-0184-7739-B35B-4572C9FB720E}"/>
              </a:ext>
            </a:extLst>
          </p:cNvPr>
          <p:cNvSpPr txBox="1"/>
          <p:nvPr/>
        </p:nvSpPr>
        <p:spPr>
          <a:xfrm>
            <a:off x="1028699" y="2319278"/>
            <a:ext cx="15278097" cy="6801862"/>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ue Roman" panose="020B0604020202020204" charset="0"/>
              </a:rPr>
              <a:t>Highly accurate and highly parallel pre-alignment filter that reduced computations</a:t>
            </a:r>
          </a:p>
          <a:p>
            <a:pPr marL="457200" indent="-457200">
              <a:buFont typeface="Arial" panose="020B0604020202020204" pitchFamily="34" charset="0"/>
              <a:buChar char="•"/>
            </a:pPr>
            <a:r>
              <a:rPr lang="en-US" sz="3200" dirty="0">
                <a:latin typeface="Times Neue Roman" panose="020B0604020202020204" charset="0"/>
              </a:rPr>
              <a:t>Focuses on reducing the </a:t>
            </a:r>
            <a:r>
              <a:rPr lang="en-US" sz="3200" b="1" dirty="0">
                <a:latin typeface="Times Neue Roman" panose="020B0604020202020204" charset="0"/>
              </a:rPr>
              <a:t>Approximate String Matching (ASM) problem to single net routing (SNR)</a:t>
            </a:r>
          </a:p>
          <a:p>
            <a:pPr marL="457200" indent="-457200">
              <a:buFont typeface="Arial" panose="020B0604020202020204" pitchFamily="34" charset="0"/>
              <a:buChar char="•"/>
            </a:pPr>
            <a:r>
              <a:rPr lang="en-US" sz="3200" dirty="0">
                <a:latin typeface="Times Neue Roman" panose="020B0604020202020204" charset="0"/>
              </a:rPr>
              <a:t>Works by eliminating sequences with edits greater than a certain edit distance threshold</a:t>
            </a:r>
          </a:p>
          <a:p>
            <a:pPr marL="914400" lvl="1" indent="-457200">
              <a:buFont typeface="Arial" panose="020B0604020202020204" pitchFamily="34" charset="0"/>
              <a:buChar char="•"/>
            </a:pPr>
            <a:r>
              <a:rPr lang="en-US" sz="3200" b="1" dirty="0">
                <a:latin typeface="Times Neue Roman" panose="020B0604020202020204" charset="0"/>
              </a:rPr>
              <a:t>Edit Distance Threshold </a:t>
            </a:r>
            <a:r>
              <a:rPr lang="en-US" sz="3200" dirty="0">
                <a:latin typeface="Times Neue Roman" panose="020B0604020202020204" charset="0"/>
              </a:rPr>
              <a:t>is defined as the minimum number of edits needed to convert one sequence into the other</a:t>
            </a:r>
          </a:p>
          <a:p>
            <a:pPr lvl="1"/>
            <a:endParaRPr lang="en-US" sz="3200" dirty="0">
              <a:latin typeface="Times Neue Roman" panose="020B0604020202020204" charset="0"/>
            </a:endParaRPr>
          </a:p>
          <a:p>
            <a:pPr lvl="1"/>
            <a:r>
              <a:rPr lang="en-US" sz="4000" b="1" dirty="0">
                <a:solidFill>
                  <a:srgbClr val="CD9461"/>
                </a:solidFill>
                <a:latin typeface="Garet Bold" panose="020B0604020202020204" charset="0"/>
              </a:rPr>
              <a:t>Single Net Routing Problem</a:t>
            </a:r>
          </a:p>
          <a:p>
            <a:pPr marL="114300" indent="-457200">
              <a:buFont typeface="Arial" panose="020B0604020202020204" pitchFamily="34" charset="0"/>
              <a:buChar char="•"/>
            </a:pPr>
            <a:r>
              <a:rPr lang="en-US" sz="3200" dirty="0">
                <a:latin typeface="Times Neue Roman" panose="020B0604020202020204" charset="0"/>
              </a:rPr>
              <a:t>Refers to the problem of optimally interconnecting two terminals on a grid graph while respecting constraints</a:t>
            </a:r>
          </a:p>
          <a:p>
            <a:pPr marL="114300" indent="-457200">
              <a:buFont typeface="Arial" panose="020B0604020202020204" pitchFamily="34" charset="0"/>
              <a:buChar char="•"/>
            </a:pPr>
            <a:r>
              <a:rPr lang="en-US" sz="3200" dirty="0">
                <a:latin typeface="Times Neue Roman" panose="020B0604020202020204" charset="0"/>
              </a:rPr>
              <a:t>The main objective of this problem is to find the optimal signal net</a:t>
            </a:r>
          </a:p>
          <a:p>
            <a:pPr lvl="1"/>
            <a:endParaRPr lang="en-PK" sz="3200" dirty="0">
              <a:latin typeface="Times Neue Roman" panose="020B0604020202020204" charset="0"/>
            </a:endParaRPr>
          </a:p>
          <a:p>
            <a:pPr marL="457200" indent="-457200">
              <a:buFont typeface="Arial" panose="020B0604020202020204" pitchFamily="34" charset="0"/>
              <a:buChar char="•"/>
            </a:pPr>
            <a:endParaRPr lang="en-US" sz="4400" dirty="0">
              <a:latin typeface="Times Neue Roman" panose="020B0604020202020204" charset="0"/>
            </a:endParaRPr>
          </a:p>
        </p:txBody>
      </p:sp>
    </p:spTree>
    <p:extLst>
      <p:ext uri="{BB962C8B-B14F-4D97-AF65-F5344CB8AC3E}">
        <p14:creationId xmlns:p14="http://schemas.microsoft.com/office/powerpoint/2010/main" val="1273629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13</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pic>
        <p:nvPicPr>
          <p:cNvPr id="16" name="Picture 15">
            <a:extLst>
              <a:ext uri="{FF2B5EF4-FFF2-40B4-BE49-F238E27FC236}">
                <a16:creationId xmlns:a16="http://schemas.microsoft.com/office/drawing/2014/main" id="{CF775E37-DCFA-AEC1-3921-472490ABC3D4}"/>
              </a:ext>
            </a:extLst>
          </p:cNvPr>
          <p:cNvPicPr>
            <a:picLocks noChangeAspect="1"/>
          </p:cNvPicPr>
          <p:nvPr/>
        </p:nvPicPr>
        <p:blipFill>
          <a:blip r:embed="rId2"/>
          <a:stretch>
            <a:fillRect/>
          </a:stretch>
        </p:blipFill>
        <p:spPr>
          <a:xfrm>
            <a:off x="3732312" y="4679480"/>
            <a:ext cx="11755491" cy="3962953"/>
          </a:xfrm>
          <a:prstGeom prst="rect">
            <a:avLst/>
          </a:prstGeom>
        </p:spPr>
      </p:pic>
      <p:sp>
        <p:nvSpPr>
          <p:cNvPr id="18" name="TextBox 17">
            <a:extLst>
              <a:ext uri="{FF2B5EF4-FFF2-40B4-BE49-F238E27FC236}">
                <a16:creationId xmlns:a16="http://schemas.microsoft.com/office/drawing/2014/main" id="{35EBDF94-AAF3-F2DB-7A90-E949896D8EEF}"/>
              </a:ext>
            </a:extLst>
          </p:cNvPr>
          <p:cNvSpPr txBox="1"/>
          <p:nvPr/>
        </p:nvSpPr>
        <p:spPr>
          <a:xfrm>
            <a:off x="5799652" y="8545452"/>
            <a:ext cx="8267700" cy="402650"/>
          </a:xfrm>
          <a:prstGeom prst="rect">
            <a:avLst/>
          </a:prstGeom>
        </p:spPr>
        <p:txBody>
          <a:bodyPr wrap="square" lIns="0" tIns="0" rIns="0" bIns="0" rtlCol="0" anchor="t">
            <a:spAutoFit/>
          </a:bodyPr>
          <a:lstStyle/>
          <a:p>
            <a:pPr algn="ctr">
              <a:lnSpc>
                <a:spcPts val="3219"/>
              </a:lnSpc>
              <a:spcBef>
                <a:spcPct val="0"/>
              </a:spcBef>
            </a:pPr>
            <a:r>
              <a:rPr lang="en-US" sz="2299" dirty="0">
                <a:solidFill>
                  <a:srgbClr val="000000"/>
                </a:solidFill>
                <a:latin typeface="Garet Bold"/>
              </a:rPr>
              <a:t>Figure 3: SNR Problem</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7FDC52B-4E3E-E313-2364-C0F9A4DCAEC6}"/>
                  </a:ext>
                </a:extLst>
              </p:cNvPr>
              <p:cNvSpPr txBox="1"/>
              <p:nvPr/>
            </p:nvSpPr>
            <p:spPr>
              <a:xfrm>
                <a:off x="3862127" y="1166268"/>
                <a:ext cx="11277597" cy="3855030"/>
              </a:xfrm>
              <a:prstGeom prst="rect">
                <a:avLst/>
              </a:prstGeom>
            </p:spPr>
            <p:txBody>
              <a:bodyPr wrap="square" lIns="0" tIns="0" rIns="0" bIns="0" rtlCol="0" anchor="t">
                <a:spAutoFit/>
              </a:bodyPr>
              <a:lstStyle/>
              <a:p>
                <a:pPr/>
                <a14:m>
                  <m:oMathPara xmlns:m="http://schemas.openxmlformats.org/officeDocument/2006/math">
                    <m:oMathParaPr>
                      <m:jc m:val="centerGroup"/>
                    </m:oMathParaPr>
                    <m:oMath xmlns:m="http://schemas.openxmlformats.org/officeDocument/2006/math">
                      <m:r>
                        <m:rPr>
                          <m:nor/>
                        </m:rPr>
                        <a:rPr lang="en-US" sz="3200" smtClean="0">
                          <a:latin typeface="Monotype Corsiva" panose="03010101010201010101" pitchFamily="66" charset="0"/>
                        </a:rPr>
                        <m:t>Z</m:t>
                      </m:r>
                      <m:r>
                        <m:rPr>
                          <m:nor/>
                        </m:rPr>
                        <a:rPr lang="en-US" sz="3200" smtClean="0">
                          <a:latin typeface="Monotype Corsiva" panose="03010101010201010101" pitchFamily="66" charset="0"/>
                        </a:rPr>
                        <m:t>[</m:t>
                      </m:r>
                      <m:r>
                        <m:rPr>
                          <m:nor/>
                        </m:rPr>
                        <a:rPr lang="en-US" sz="3200" smtClean="0">
                          <a:latin typeface="Monotype Corsiva" panose="03010101010201010101" pitchFamily="66" charset="0"/>
                        </a:rPr>
                        <m:t>i</m:t>
                      </m:r>
                      <m:r>
                        <m:rPr>
                          <m:nor/>
                        </m:rPr>
                        <a:rPr lang="en-US" sz="3200" smtClean="0">
                          <a:latin typeface="Monotype Corsiva" panose="03010101010201010101" pitchFamily="66" charset="0"/>
                        </a:rPr>
                        <m:t>, </m:t>
                      </m:r>
                      <m:r>
                        <m:rPr>
                          <m:nor/>
                        </m:rPr>
                        <a:rPr lang="en-US" sz="3200" smtClean="0">
                          <a:latin typeface="Monotype Corsiva" panose="03010101010201010101" pitchFamily="66" charset="0"/>
                        </a:rPr>
                        <m:t>j</m:t>
                      </m:r>
                      <m:r>
                        <m:rPr>
                          <m:nor/>
                        </m:rPr>
                        <a:rPr lang="en-US" sz="3200" smtClean="0">
                          <a:latin typeface="Monotype Corsiva" panose="03010101010201010101" pitchFamily="66" charset="0"/>
                        </a:rPr>
                        <m:t>] = 0, </m:t>
                      </m:r>
                      <m:r>
                        <m:rPr>
                          <m:nor/>
                        </m:rPr>
                        <a:rPr lang="en-US" sz="3200" smtClean="0">
                          <a:latin typeface="Monotype Corsiva" panose="03010101010201010101" pitchFamily="66" charset="0"/>
                        </a:rPr>
                        <m:t>if</m:t>
                      </m:r>
                      <m:r>
                        <m:rPr>
                          <m:nor/>
                        </m:rPr>
                        <a:rPr lang="en-US" sz="3200" smtClean="0">
                          <a:latin typeface="Monotype Corsiva" panose="03010101010201010101" pitchFamily="66" charset="0"/>
                        </a:rPr>
                        <m:t> </m:t>
                      </m:r>
                      <m:r>
                        <m:rPr>
                          <m:nor/>
                        </m:rPr>
                        <a:rPr lang="en-US" sz="3200" smtClean="0">
                          <a:latin typeface="Monotype Corsiva" panose="03010101010201010101" pitchFamily="66" charset="0"/>
                        </a:rPr>
                        <m:t>i</m:t>
                      </m:r>
                      <m:r>
                        <m:rPr>
                          <m:nor/>
                        </m:rPr>
                        <a:rPr lang="en-US" sz="3200" smtClean="0">
                          <a:latin typeface="Monotype Corsiva" panose="03010101010201010101" pitchFamily="66" charset="0"/>
                        </a:rPr>
                        <m:t> = </m:t>
                      </m:r>
                      <m:r>
                        <m:rPr>
                          <m:nor/>
                        </m:rPr>
                        <a:rPr lang="en-US" sz="3200" smtClean="0">
                          <a:latin typeface="Monotype Corsiva" panose="03010101010201010101" pitchFamily="66" charset="0"/>
                        </a:rPr>
                        <m:t>E</m:t>
                      </m:r>
                      <m:r>
                        <m:rPr>
                          <m:nor/>
                        </m:rPr>
                        <a:rPr lang="en-US" sz="3200" smtClean="0">
                          <a:latin typeface="Monotype Corsiva" panose="03010101010201010101" pitchFamily="66" charset="0"/>
                        </a:rPr>
                        <m:t> + 1, </m:t>
                      </m:r>
                      <m:r>
                        <m:rPr>
                          <m:nor/>
                        </m:rPr>
                        <a:rPr lang="en-US" sz="3200" smtClean="0">
                          <a:latin typeface="Monotype Corsiva" panose="03010101010201010101" pitchFamily="66" charset="0"/>
                        </a:rPr>
                        <m:t>Q</m:t>
                      </m:r>
                      <m:r>
                        <m:rPr>
                          <m:nor/>
                        </m:rPr>
                        <a:rPr lang="en-US" sz="3200" smtClean="0">
                          <a:latin typeface="Monotype Corsiva" panose="03010101010201010101" pitchFamily="66" charset="0"/>
                        </a:rPr>
                        <m:t>[</m:t>
                      </m:r>
                      <m:r>
                        <m:rPr>
                          <m:nor/>
                        </m:rPr>
                        <a:rPr lang="en-US" sz="3200" smtClean="0">
                          <a:latin typeface="Monotype Corsiva" panose="03010101010201010101" pitchFamily="66" charset="0"/>
                        </a:rPr>
                        <m:t>j</m:t>
                      </m:r>
                      <m:r>
                        <m:rPr>
                          <m:nor/>
                        </m:rPr>
                        <a:rPr lang="en-US" sz="3200" smtClean="0">
                          <a:latin typeface="Monotype Corsiva" panose="03010101010201010101" pitchFamily="66" charset="0"/>
                        </a:rPr>
                        <m:t>] = </m:t>
                      </m:r>
                      <m:r>
                        <m:rPr>
                          <m:nor/>
                        </m:rPr>
                        <a:rPr lang="en-US" sz="3200" smtClean="0">
                          <a:latin typeface="Monotype Corsiva" panose="03010101010201010101" pitchFamily="66" charset="0"/>
                        </a:rPr>
                        <m:t>R</m:t>
                      </m:r>
                      <m:r>
                        <m:rPr>
                          <m:nor/>
                        </m:rPr>
                        <a:rPr lang="en-US" sz="3200" smtClean="0">
                          <a:latin typeface="Monotype Corsiva" panose="03010101010201010101" pitchFamily="66" charset="0"/>
                        </a:rPr>
                        <m:t>[</m:t>
                      </m:r>
                      <m:r>
                        <m:rPr>
                          <m:nor/>
                        </m:rPr>
                        <a:rPr lang="en-US" sz="3200" smtClean="0">
                          <a:latin typeface="Monotype Corsiva" panose="03010101010201010101" pitchFamily="66" charset="0"/>
                        </a:rPr>
                        <m:t>j</m:t>
                      </m:r>
                      <m:r>
                        <m:rPr>
                          <m:nor/>
                        </m:rPr>
                        <a:rPr lang="en-US" sz="3200" smtClean="0">
                          <a:latin typeface="Monotype Corsiva" panose="03010101010201010101" pitchFamily="66" charset="0"/>
                        </a:rPr>
                        <m:t>]</m:t>
                      </m:r>
                    </m:oMath>
                  </m:oMathPara>
                </a14:m>
                <a:endParaRPr lang="en-US" sz="3200" dirty="0">
                  <a:latin typeface="Monotype Corsiva" panose="03010101010201010101" pitchFamily="66" charset="0"/>
                </a:endParaRPr>
              </a:p>
              <a:p>
                <a:endParaRPr lang="en-US" sz="3200" dirty="0">
                  <a:latin typeface="Monotype Corsiva" panose="03010101010201010101" pitchFamily="66" charset="0"/>
                </a:endParaRPr>
              </a:p>
              <a:p>
                <a:pPr/>
                <a14:m>
                  <m:oMathPara xmlns:m="http://schemas.openxmlformats.org/officeDocument/2006/math">
                    <m:oMathParaPr>
                      <m:jc m:val="centerGroup"/>
                    </m:oMathParaPr>
                    <m:oMath xmlns:m="http://schemas.openxmlformats.org/officeDocument/2006/math">
                      <m:r>
                        <m:rPr>
                          <m:nor/>
                        </m:rPr>
                        <a:rPr lang="en-US" sz="3200" dirty="0" smtClean="0">
                          <a:latin typeface="Monotype Corsiva" panose="03010101010201010101" pitchFamily="66" charset="0"/>
                        </a:rPr>
                        <m:t>Z</m:t>
                      </m:r>
                      <m:r>
                        <m:rPr>
                          <m:nor/>
                        </m:rPr>
                        <a:rPr lang="en-US" sz="3200" dirty="0" smtClean="0">
                          <a:latin typeface="Monotype Corsiva" panose="03010101010201010101" pitchFamily="66" charset="0"/>
                        </a:rPr>
                        <m:t>[</m:t>
                      </m:r>
                      <m:r>
                        <m:rPr>
                          <m:nor/>
                        </m:rPr>
                        <a:rPr lang="en-US" sz="3200" dirty="0" smtClean="0">
                          <a:latin typeface="Monotype Corsiva" panose="03010101010201010101" pitchFamily="66" charset="0"/>
                        </a:rPr>
                        <m:t>i</m:t>
                      </m:r>
                      <m:r>
                        <m:rPr>
                          <m:nor/>
                        </m:rPr>
                        <a:rPr lang="en-US" sz="3200" dirty="0" smtClean="0">
                          <a:latin typeface="Monotype Corsiva" panose="03010101010201010101" pitchFamily="66" charset="0"/>
                        </a:rPr>
                        <m:t>, </m:t>
                      </m:r>
                      <m:r>
                        <m:rPr>
                          <m:nor/>
                        </m:rPr>
                        <a:rPr lang="en-US" sz="3200" dirty="0" smtClean="0">
                          <a:latin typeface="Monotype Corsiva" panose="03010101010201010101" pitchFamily="66" charset="0"/>
                        </a:rPr>
                        <m:t>j</m:t>
                      </m:r>
                      <m:r>
                        <m:rPr>
                          <m:nor/>
                        </m:rPr>
                        <a:rPr lang="en-US" sz="3200" dirty="0" smtClean="0">
                          <a:latin typeface="Monotype Corsiva" panose="03010101010201010101" pitchFamily="66" charset="0"/>
                        </a:rPr>
                        <m:t>] = 0, </m:t>
                      </m:r>
                      <m:r>
                        <m:rPr>
                          <m:nor/>
                        </m:rPr>
                        <a:rPr lang="en-US" sz="3200" dirty="0" smtClean="0">
                          <a:latin typeface="Monotype Corsiva" panose="03010101010201010101" pitchFamily="66" charset="0"/>
                        </a:rPr>
                        <m:t>if</m:t>
                      </m:r>
                      <m:r>
                        <m:rPr>
                          <m:nor/>
                        </m:rPr>
                        <a:rPr lang="en-US" sz="3200" dirty="0" smtClean="0">
                          <a:latin typeface="Monotype Corsiva" panose="03010101010201010101" pitchFamily="66" charset="0"/>
                        </a:rPr>
                        <m:t> 1 ≤ </m:t>
                      </m:r>
                      <m:r>
                        <m:rPr>
                          <m:nor/>
                        </m:rPr>
                        <a:rPr lang="en-US" sz="3200" b="0" i="0" dirty="0" smtClean="0">
                          <a:latin typeface="Monotype Corsiva" panose="03010101010201010101" pitchFamily="66" charset="0"/>
                        </a:rPr>
                        <m:t>i</m:t>
                      </m:r>
                      <m:r>
                        <m:rPr>
                          <m:nor/>
                        </m:rPr>
                        <a:rPr lang="en-US" sz="3200" dirty="0">
                          <a:latin typeface="Monotype Corsiva" panose="03010101010201010101" pitchFamily="66" charset="0"/>
                        </a:rPr>
                        <m:t>≤</m:t>
                      </m:r>
                      <m:r>
                        <m:rPr>
                          <m:nor/>
                        </m:rPr>
                        <a:rPr lang="en-US" sz="3200" b="0" i="0" dirty="0" smtClean="0">
                          <a:latin typeface="Monotype Corsiva" panose="03010101010201010101" pitchFamily="66" charset="0"/>
                        </a:rPr>
                        <m:t> </m:t>
                      </m:r>
                      <m:r>
                        <m:rPr>
                          <m:nor/>
                        </m:rPr>
                        <a:rPr lang="en-US" sz="3200" dirty="0" smtClean="0">
                          <a:latin typeface="Monotype Corsiva" panose="03010101010201010101" pitchFamily="66" charset="0"/>
                        </a:rPr>
                        <m:t>E</m:t>
                      </m:r>
                      <m:r>
                        <m:rPr>
                          <m:nor/>
                        </m:rPr>
                        <a:rPr lang="en-US" sz="3200" dirty="0" smtClean="0">
                          <a:latin typeface="Monotype Corsiva" panose="03010101010201010101" pitchFamily="66" charset="0"/>
                        </a:rPr>
                        <m:t>, </m:t>
                      </m:r>
                      <m:r>
                        <m:rPr>
                          <m:nor/>
                        </m:rPr>
                        <a:rPr lang="en-US" sz="3200" dirty="0" smtClean="0">
                          <a:latin typeface="Monotype Corsiva" panose="03010101010201010101" pitchFamily="66" charset="0"/>
                        </a:rPr>
                        <m:t>Q</m:t>
                      </m:r>
                      <m:r>
                        <m:rPr>
                          <m:nor/>
                        </m:rPr>
                        <a:rPr lang="en-US" sz="3200" dirty="0" smtClean="0">
                          <a:latin typeface="Monotype Corsiva" panose="03010101010201010101" pitchFamily="66" charset="0"/>
                        </a:rPr>
                        <m:t>[</m:t>
                      </m:r>
                      <m:r>
                        <m:rPr>
                          <m:nor/>
                        </m:rPr>
                        <a:rPr lang="en-US" sz="3200" dirty="0" smtClean="0">
                          <a:latin typeface="Monotype Corsiva" panose="03010101010201010101" pitchFamily="66" charset="0"/>
                        </a:rPr>
                        <m:t>j</m:t>
                      </m:r>
                      <m:r>
                        <m:rPr>
                          <m:nor/>
                        </m:rPr>
                        <a:rPr lang="en-US" sz="3200" dirty="0" smtClean="0">
                          <a:latin typeface="Monotype Corsiva" panose="03010101010201010101" pitchFamily="66" charset="0"/>
                        </a:rPr>
                        <m:t> − </m:t>
                      </m:r>
                      <m:r>
                        <m:rPr>
                          <m:nor/>
                        </m:rPr>
                        <a:rPr lang="en-US" sz="3200" dirty="0" smtClean="0">
                          <a:latin typeface="Monotype Corsiva" panose="03010101010201010101" pitchFamily="66" charset="0"/>
                        </a:rPr>
                        <m:t>i</m:t>
                      </m:r>
                      <m:r>
                        <m:rPr>
                          <m:nor/>
                        </m:rPr>
                        <a:rPr lang="en-US" sz="3200" dirty="0" smtClean="0">
                          <a:latin typeface="Monotype Corsiva" panose="03010101010201010101" pitchFamily="66" charset="0"/>
                        </a:rPr>
                        <m:t>] = </m:t>
                      </m:r>
                      <m:r>
                        <m:rPr>
                          <m:nor/>
                        </m:rPr>
                        <a:rPr lang="en-US" sz="3200" dirty="0" smtClean="0">
                          <a:latin typeface="Monotype Corsiva" panose="03010101010201010101" pitchFamily="66" charset="0"/>
                        </a:rPr>
                        <m:t>R</m:t>
                      </m:r>
                      <m:r>
                        <m:rPr>
                          <m:nor/>
                        </m:rPr>
                        <a:rPr lang="en-US" sz="3200" dirty="0" smtClean="0">
                          <a:latin typeface="Monotype Corsiva" panose="03010101010201010101" pitchFamily="66" charset="0"/>
                        </a:rPr>
                        <m:t>[</m:t>
                      </m:r>
                      <m:r>
                        <m:rPr>
                          <m:nor/>
                        </m:rPr>
                        <a:rPr lang="en-US" sz="3200" dirty="0" smtClean="0">
                          <a:latin typeface="Monotype Corsiva" panose="03010101010201010101" pitchFamily="66" charset="0"/>
                        </a:rPr>
                        <m:t>j</m:t>
                      </m:r>
                      <m:r>
                        <m:rPr>
                          <m:nor/>
                        </m:rPr>
                        <a:rPr lang="en-US" sz="3200" dirty="0" smtClean="0">
                          <a:latin typeface="Monotype Corsiva" panose="03010101010201010101" pitchFamily="66" charset="0"/>
                        </a:rPr>
                        <m:t>]</m:t>
                      </m:r>
                    </m:oMath>
                  </m:oMathPara>
                </a14:m>
                <a:endParaRPr lang="en-US" sz="3200" dirty="0">
                  <a:latin typeface="Monotype Corsiva" panose="03010101010201010101" pitchFamily="66" charset="0"/>
                </a:endParaRPr>
              </a:p>
              <a:p>
                <a:endParaRPr lang="en-US" sz="3200" dirty="0">
                  <a:latin typeface="Monotype Corsiva" panose="03010101010201010101" pitchFamily="66" charset="0"/>
                </a:endParaRPr>
              </a:p>
              <a:p>
                <a:pPr/>
                <a14:m>
                  <m:oMathPara xmlns:m="http://schemas.openxmlformats.org/officeDocument/2006/math">
                    <m:oMathParaPr>
                      <m:jc m:val="centerGroup"/>
                    </m:oMathParaPr>
                    <m:oMath xmlns:m="http://schemas.openxmlformats.org/officeDocument/2006/math">
                      <m:r>
                        <m:rPr>
                          <m:nor/>
                        </m:rPr>
                        <a:rPr lang="en-US" sz="3200" dirty="0">
                          <a:latin typeface="Monotype Corsiva" panose="03010101010201010101" pitchFamily="66" charset="0"/>
                        </a:rPr>
                        <m:t>Z</m:t>
                      </m:r>
                      <m:r>
                        <m:rPr>
                          <m:nor/>
                        </m:rPr>
                        <a:rPr lang="en-US" sz="3200" dirty="0">
                          <a:latin typeface="Monotype Corsiva" panose="03010101010201010101" pitchFamily="66" charset="0"/>
                        </a:rPr>
                        <m:t>[</m:t>
                      </m:r>
                      <m:r>
                        <m:rPr>
                          <m:nor/>
                        </m:rPr>
                        <a:rPr lang="en-US" sz="3200" dirty="0">
                          <a:latin typeface="Monotype Corsiva" panose="03010101010201010101" pitchFamily="66" charset="0"/>
                        </a:rPr>
                        <m:t>i</m:t>
                      </m:r>
                      <m:r>
                        <m:rPr>
                          <m:nor/>
                        </m:rPr>
                        <a:rPr lang="en-US" sz="3200" dirty="0">
                          <a:latin typeface="Monotype Corsiva" panose="03010101010201010101" pitchFamily="66" charset="0"/>
                        </a:rPr>
                        <m:t>, </m:t>
                      </m:r>
                      <m:r>
                        <m:rPr>
                          <m:nor/>
                        </m:rPr>
                        <a:rPr lang="en-US" sz="3200" dirty="0">
                          <a:latin typeface="Monotype Corsiva" panose="03010101010201010101" pitchFamily="66" charset="0"/>
                        </a:rPr>
                        <m:t>j</m:t>
                      </m:r>
                      <m:r>
                        <m:rPr>
                          <m:nor/>
                        </m:rPr>
                        <a:rPr lang="en-US" sz="3200" dirty="0">
                          <a:latin typeface="Monotype Corsiva" panose="03010101010201010101" pitchFamily="66" charset="0"/>
                        </a:rPr>
                        <m:t>] = 0, </m:t>
                      </m:r>
                      <m:r>
                        <m:rPr>
                          <m:nor/>
                        </m:rPr>
                        <a:rPr lang="en-US" sz="3200" dirty="0">
                          <a:latin typeface="Monotype Corsiva" panose="03010101010201010101" pitchFamily="66" charset="0"/>
                        </a:rPr>
                        <m:t>if</m:t>
                      </m:r>
                      <m:r>
                        <m:rPr>
                          <m:nor/>
                        </m:rPr>
                        <a:rPr lang="en-US" sz="3200" dirty="0">
                          <a:latin typeface="Monotype Corsiva" panose="03010101010201010101" pitchFamily="66" charset="0"/>
                        </a:rPr>
                        <m:t>  </m:t>
                      </m:r>
                      <m:r>
                        <m:rPr>
                          <m:nor/>
                        </m:rPr>
                        <a:rPr lang="en-US" sz="3200" dirty="0">
                          <a:latin typeface="Monotype Corsiva" panose="03010101010201010101" pitchFamily="66" charset="0"/>
                        </a:rPr>
                        <m:t>i</m:t>
                      </m:r>
                      <m:r>
                        <m:rPr>
                          <m:nor/>
                        </m:rPr>
                        <a:rPr lang="en-US" sz="3200" dirty="0">
                          <a:latin typeface="Monotype Corsiva" panose="03010101010201010101" pitchFamily="66" charset="0"/>
                        </a:rPr>
                        <m:t> &gt; </m:t>
                      </m:r>
                      <m:r>
                        <m:rPr>
                          <m:nor/>
                        </m:rPr>
                        <a:rPr lang="en-US" sz="3200" dirty="0">
                          <a:latin typeface="Monotype Corsiva" panose="03010101010201010101" pitchFamily="66" charset="0"/>
                        </a:rPr>
                        <m:t>E</m:t>
                      </m:r>
                      <m:r>
                        <m:rPr>
                          <m:nor/>
                        </m:rPr>
                        <a:rPr lang="en-US" sz="3200" dirty="0">
                          <a:latin typeface="Monotype Corsiva" panose="03010101010201010101" pitchFamily="66" charset="0"/>
                        </a:rPr>
                        <m:t> + 1, </m:t>
                      </m:r>
                      <m:r>
                        <m:rPr>
                          <m:nor/>
                        </m:rPr>
                        <a:rPr lang="en-US" sz="3200" dirty="0">
                          <a:latin typeface="Monotype Corsiva" panose="03010101010201010101" pitchFamily="66" charset="0"/>
                        </a:rPr>
                        <m:t>Q</m:t>
                      </m:r>
                      <m:r>
                        <m:rPr>
                          <m:nor/>
                        </m:rPr>
                        <a:rPr lang="en-US" sz="3200" dirty="0">
                          <a:latin typeface="Monotype Corsiva" panose="03010101010201010101" pitchFamily="66" charset="0"/>
                        </a:rPr>
                        <m:t>[</m:t>
                      </m:r>
                      <m:r>
                        <m:rPr>
                          <m:nor/>
                        </m:rPr>
                        <a:rPr lang="en-US" sz="3200" dirty="0">
                          <a:latin typeface="Monotype Corsiva" panose="03010101010201010101" pitchFamily="66" charset="0"/>
                        </a:rPr>
                        <m:t>j</m:t>
                      </m:r>
                      <m:r>
                        <m:rPr>
                          <m:nor/>
                        </m:rPr>
                        <a:rPr lang="en-US" sz="3200" dirty="0">
                          <a:latin typeface="Monotype Corsiva" panose="03010101010201010101" pitchFamily="66" charset="0"/>
                        </a:rPr>
                        <m:t> + </m:t>
                      </m:r>
                      <m:r>
                        <m:rPr>
                          <m:nor/>
                        </m:rPr>
                        <a:rPr lang="en-US" sz="3200" dirty="0">
                          <a:latin typeface="Monotype Corsiva" panose="03010101010201010101" pitchFamily="66" charset="0"/>
                        </a:rPr>
                        <m:t>i</m:t>
                      </m:r>
                      <m:r>
                        <m:rPr>
                          <m:nor/>
                        </m:rPr>
                        <a:rPr lang="en-US" sz="3200" dirty="0">
                          <a:latin typeface="Monotype Corsiva" panose="03010101010201010101" pitchFamily="66" charset="0"/>
                        </a:rPr>
                        <m:t> − </m:t>
                      </m:r>
                      <m:r>
                        <m:rPr>
                          <m:nor/>
                        </m:rPr>
                        <a:rPr lang="en-US" sz="3200" dirty="0">
                          <a:latin typeface="Monotype Corsiva" panose="03010101010201010101" pitchFamily="66" charset="0"/>
                        </a:rPr>
                        <m:t>E</m:t>
                      </m:r>
                      <m:r>
                        <m:rPr>
                          <m:nor/>
                        </m:rPr>
                        <a:rPr lang="en-US" sz="3200" dirty="0">
                          <a:latin typeface="Monotype Corsiva" panose="03010101010201010101" pitchFamily="66" charset="0"/>
                        </a:rPr>
                        <m:t> − 1] = </m:t>
                      </m:r>
                      <m:r>
                        <m:rPr>
                          <m:nor/>
                        </m:rPr>
                        <a:rPr lang="en-US" sz="3200" dirty="0">
                          <a:latin typeface="Monotype Corsiva" panose="03010101010201010101" pitchFamily="66" charset="0"/>
                        </a:rPr>
                        <m:t>R</m:t>
                      </m:r>
                      <m:r>
                        <m:rPr>
                          <m:nor/>
                        </m:rPr>
                        <a:rPr lang="en-US" sz="3200" dirty="0">
                          <a:latin typeface="Monotype Corsiva" panose="03010101010201010101" pitchFamily="66" charset="0"/>
                        </a:rPr>
                        <m:t>[</m:t>
                      </m:r>
                      <m:r>
                        <m:rPr>
                          <m:nor/>
                        </m:rPr>
                        <a:rPr lang="en-US" sz="3200" dirty="0">
                          <a:latin typeface="Monotype Corsiva" panose="03010101010201010101" pitchFamily="66" charset="0"/>
                        </a:rPr>
                        <m:t>j</m:t>
                      </m:r>
                      <m:r>
                        <m:rPr>
                          <m:nor/>
                        </m:rPr>
                        <a:rPr lang="en-US" sz="3200" dirty="0">
                          <a:latin typeface="Monotype Corsiva" panose="03010101010201010101" pitchFamily="66" charset="0"/>
                        </a:rPr>
                        <m:t>]</m:t>
                      </m:r>
                    </m:oMath>
                  </m:oMathPara>
                </a14:m>
                <a:endParaRPr lang="en-US" sz="3200" dirty="0">
                  <a:latin typeface="Monotype Corsiva" panose="03010101010201010101" pitchFamily="66" charset="0"/>
                </a:endParaRPr>
              </a:p>
              <a:p>
                <a:endParaRPr lang="en-US" sz="3200" dirty="0">
                  <a:latin typeface="Monotype Corsiva" panose="03010101010201010101" pitchFamily="66" charset="0"/>
                </a:endParaRPr>
              </a:p>
              <a:p>
                <a:pPr/>
                <a14:m>
                  <m:oMathPara xmlns:m="http://schemas.openxmlformats.org/officeDocument/2006/math">
                    <m:oMathParaPr>
                      <m:jc m:val="centerGroup"/>
                    </m:oMathParaPr>
                    <m:oMath xmlns:m="http://schemas.openxmlformats.org/officeDocument/2006/math">
                      <m:r>
                        <m:rPr>
                          <m:nor/>
                        </m:rPr>
                        <a:rPr lang="en-US" sz="3200" dirty="0">
                          <a:latin typeface="Monotype Corsiva" panose="03010101010201010101" pitchFamily="66" charset="0"/>
                        </a:rPr>
                        <m:t>Z</m:t>
                      </m:r>
                      <m:r>
                        <m:rPr>
                          <m:nor/>
                        </m:rPr>
                        <a:rPr lang="en-US" sz="3200" dirty="0">
                          <a:latin typeface="Monotype Corsiva" panose="03010101010201010101" pitchFamily="66" charset="0"/>
                        </a:rPr>
                        <m:t>[</m:t>
                      </m:r>
                      <m:r>
                        <m:rPr>
                          <m:nor/>
                        </m:rPr>
                        <a:rPr lang="en-US" sz="3200" dirty="0">
                          <a:latin typeface="Monotype Corsiva" panose="03010101010201010101" pitchFamily="66" charset="0"/>
                        </a:rPr>
                        <m:t>i</m:t>
                      </m:r>
                      <m:r>
                        <m:rPr>
                          <m:nor/>
                        </m:rPr>
                        <a:rPr lang="en-US" sz="3200" dirty="0">
                          <a:latin typeface="Monotype Corsiva" panose="03010101010201010101" pitchFamily="66" charset="0"/>
                        </a:rPr>
                        <m:t>, </m:t>
                      </m:r>
                      <m:r>
                        <m:rPr>
                          <m:nor/>
                        </m:rPr>
                        <a:rPr lang="en-US" sz="3200" dirty="0">
                          <a:latin typeface="Monotype Corsiva" panose="03010101010201010101" pitchFamily="66" charset="0"/>
                        </a:rPr>
                        <m:t>j</m:t>
                      </m:r>
                      <m:r>
                        <m:rPr>
                          <m:nor/>
                        </m:rPr>
                        <a:rPr lang="en-US" sz="3200" dirty="0">
                          <a:latin typeface="Monotype Corsiva" panose="03010101010201010101" pitchFamily="66" charset="0"/>
                        </a:rPr>
                        <m:t>] = 1, </m:t>
                      </m:r>
                      <m:r>
                        <m:rPr>
                          <m:nor/>
                        </m:rPr>
                        <a:rPr lang="en-US" sz="3200" dirty="0">
                          <a:latin typeface="Monotype Corsiva" panose="03010101010201010101" pitchFamily="66" charset="0"/>
                        </a:rPr>
                        <m:t>otherwise</m:t>
                      </m:r>
                    </m:oMath>
                  </m:oMathPara>
                </a14:m>
                <a:endParaRPr lang="en-US" sz="3200" dirty="0">
                  <a:effectLst/>
                  <a:latin typeface="Monotype Corsiva" panose="03010101010201010101" pitchFamily="66" charset="0"/>
                </a:endParaRPr>
              </a:p>
              <a:p>
                <a:pPr algn="just">
                  <a:lnSpc>
                    <a:spcPts val="3219"/>
                  </a:lnSpc>
                  <a:spcBef>
                    <a:spcPct val="0"/>
                  </a:spcBef>
                </a:pPr>
                <a:endParaRPr lang="en-US" sz="2299" dirty="0">
                  <a:solidFill>
                    <a:srgbClr val="000000"/>
                  </a:solidFill>
                  <a:latin typeface="Garet Bold"/>
                </a:endParaRPr>
              </a:p>
            </p:txBody>
          </p:sp>
        </mc:Choice>
        <mc:Fallback xmlns="">
          <p:sp>
            <p:nvSpPr>
              <p:cNvPr id="19" name="TextBox 18">
                <a:extLst>
                  <a:ext uri="{FF2B5EF4-FFF2-40B4-BE49-F238E27FC236}">
                    <a16:creationId xmlns:a16="http://schemas.microsoft.com/office/drawing/2014/main" id="{C7FDC52B-4E3E-E313-2364-C0F9A4DCAEC6}"/>
                  </a:ext>
                </a:extLst>
              </p:cNvPr>
              <p:cNvSpPr txBox="1">
                <a:spLocks noRot="1" noChangeAspect="1" noMove="1" noResize="1" noEditPoints="1" noAdjustHandles="1" noChangeArrowheads="1" noChangeShapeType="1" noTextEdit="1"/>
              </p:cNvSpPr>
              <p:nvPr/>
            </p:nvSpPr>
            <p:spPr>
              <a:xfrm>
                <a:off x="3862127" y="1166268"/>
                <a:ext cx="11277597" cy="385503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80161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028700" y="895350"/>
            <a:ext cx="12077700" cy="1067728"/>
          </a:xfrm>
          <a:prstGeom prst="rect">
            <a:avLst/>
          </a:prstGeom>
        </p:spPr>
        <p:txBody>
          <a:bodyPr wrap="square" lIns="0" tIns="0" rIns="0" bIns="0" rtlCol="0" anchor="t">
            <a:spAutoFit/>
          </a:bodyPr>
          <a:lstStyle/>
          <a:p>
            <a:pPr>
              <a:lnSpc>
                <a:spcPts val="9660"/>
              </a:lnSpc>
              <a:spcBef>
                <a:spcPct val="0"/>
              </a:spcBef>
            </a:pPr>
            <a:r>
              <a:rPr lang="en-US" sz="4400" dirty="0">
                <a:solidFill>
                  <a:srgbClr val="22466B"/>
                </a:solidFill>
                <a:latin typeface="Source Han Serif JP Bold"/>
              </a:rPr>
              <a:t>Solving Single Net Routing</a:t>
            </a:r>
          </a:p>
        </p:txBody>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14</a:t>
            </a:r>
          </a:p>
        </p:txBody>
      </p:sp>
      <p:sp>
        <p:nvSpPr>
          <p:cNvPr id="12" name="TextBox 12"/>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5" name="TextBox 14">
            <a:extLst>
              <a:ext uri="{FF2B5EF4-FFF2-40B4-BE49-F238E27FC236}">
                <a16:creationId xmlns:a16="http://schemas.microsoft.com/office/drawing/2014/main" id="{6C4F1AB8-0184-7739-B35B-4572C9FB720E}"/>
              </a:ext>
            </a:extLst>
          </p:cNvPr>
          <p:cNvSpPr txBox="1"/>
          <p:nvPr/>
        </p:nvSpPr>
        <p:spPr>
          <a:xfrm>
            <a:off x="1028700" y="2194609"/>
            <a:ext cx="9105900" cy="4832092"/>
          </a:xfrm>
          <a:prstGeom prst="rect">
            <a:avLst/>
          </a:prstGeom>
          <a:noFill/>
        </p:spPr>
        <p:txBody>
          <a:bodyPr wrap="square">
            <a:spAutoFit/>
          </a:bodyPr>
          <a:lstStyle/>
          <a:p>
            <a:r>
              <a:rPr lang="en-US" sz="2800" dirty="0">
                <a:latin typeface="Times Neue Roman" panose="020B0604020202020204" charset="0"/>
              </a:rPr>
              <a:t>AIM: Finding the optimal Signal Net by solving SNR Problem</a:t>
            </a:r>
          </a:p>
          <a:p>
            <a:r>
              <a:rPr lang="en-US" sz="2800" dirty="0">
                <a:latin typeface="Times Neue Roman" panose="020B0604020202020204" charset="0"/>
              </a:rPr>
              <a:t>The problem is solved </a:t>
            </a:r>
            <a:r>
              <a:rPr lang="en-US" sz="2800" dirty="0" err="1">
                <a:latin typeface="Times Neue Roman" panose="020B0604020202020204" charset="0"/>
              </a:rPr>
              <a:t>insix</a:t>
            </a:r>
            <a:r>
              <a:rPr lang="en-US" sz="2800" dirty="0">
                <a:latin typeface="Times Neue Roman" panose="020B0604020202020204" charset="0"/>
              </a:rPr>
              <a:t> steps</a:t>
            </a:r>
          </a:p>
          <a:p>
            <a:pPr marL="1028700" lvl="1" indent="-571500">
              <a:buFont typeface="+mj-lt"/>
              <a:buAutoNum type="romanUcPeriod"/>
            </a:pPr>
            <a:r>
              <a:rPr lang="en-US" sz="2800" dirty="0">
                <a:latin typeface="Times Neue Roman" panose="020B0604020202020204" charset="0"/>
              </a:rPr>
              <a:t>Calculating the chip maze on the fly using the equations given in the previous slide. </a:t>
            </a:r>
          </a:p>
          <a:p>
            <a:pPr marL="1028700" lvl="1" indent="-571500">
              <a:buFont typeface="+mj-lt"/>
              <a:buAutoNum type="romanUcPeriod"/>
            </a:pPr>
            <a:r>
              <a:rPr lang="en-US" sz="2800" dirty="0">
                <a:latin typeface="Times Neue Roman" panose="020B0604020202020204" charset="0"/>
              </a:rPr>
              <a:t>The first column is taken to be the first checkpoint.</a:t>
            </a:r>
          </a:p>
          <a:p>
            <a:pPr marL="1028700" lvl="1" indent="-571500">
              <a:buFont typeface="+mj-lt"/>
              <a:buAutoNum type="romanUcPeriod"/>
            </a:pPr>
            <a:r>
              <a:rPr lang="en-US" sz="2800" dirty="0">
                <a:latin typeface="Times Neue Roman" panose="020B0604020202020204" charset="0"/>
              </a:rPr>
              <a:t>The Sneaky Snake algorithm always chooses the longest escape segment at each subsequent checkpoint, enabling the signal to go as far as possible before hitting an obstruction</a:t>
            </a:r>
          </a:p>
          <a:p>
            <a:pPr marL="1028700" lvl="1" indent="-571500">
              <a:buFont typeface="+mj-lt"/>
              <a:buAutoNum type="romanUcPeriod"/>
            </a:pPr>
            <a:endParaRPr lang="en-PK" sz="2800" dirty="0">
              <a:latin typeface="Times Neue Roman" panose="020B0604020202020204" charset="0"/>
            </a:endParaRPr>
          </a:p>
        </p:txBody>
      </p:sp>
      <p:pic>
        <p:nvPicPr>
          <p:cNvPr id="14" name="Picture 13">
            <a:extLst>
              <a:ext uri="{FF2B5EF4-FFF2-40B4-BE49-F238E27FC236}">
                <a16:creationId xmlns:a16="http://schemas.microsoft.com/office/drawing/2014/main" id="{347D6206-DC11-3BBA-A3FD-57B586DA176D}"/>
              </a:ext>
            </a:extLst>
          </p:cNvPr>
          <p:cNvPicPr>
            <a:picLocks noChangeAspect="1"/>
          </p:cNvPicPr>
          <p:nvPr/>
        </p:nvPicPr>
        <p:blipFill rotWithShape="1">
          <a:blip r:embed="rId2"/>
          <a:srcRect r="66307"/>
          <a:stretch/>
        </p:blipFill>
        <p:spPr>
          <a:xfrm>
            <a:off x="10952695" y="3491492"/>
            <a:ext cx="2153706" cy="3591426"/>
          </a:xfrm>
          <a:prstGeom prst="rect">
            <a:avLst/>
          </a:prstGeom>
        </p:spPr>
      </p:pic>
      <p:sp>
        <p:nvSpPr>
          <p:cNvPr id="22" name="TextBox 21">
            <a:extLst>
              <a:ext uri="{FF2B5EF4-FFF2-40B4-BE49-F238E27FC236}">
                <a16:creationId xmlns:a16="http://schemas.microsoft.com/office/drawing/2014/main" id="{937D220F-6ADC-B689-F83D-0C3E8DEF2F47}"/>
              </a:ext>
            </a:extLst>
          </p:cNvPr>
          <p:cNvSpPr txBox="1"/>
          <p:nvPr/>
        </p:nvSpPr>
        <p:spPr>
          <a:xfrm>
            <a:off x="1047322" y="3497169"/>
            <a:ext cx="8309776" cy="2677656"/>
          </a:xfrm>
          <a:prstGeom prst="rect">
            <a:avLst/>
          </a:prstGeom>
          <a:noFill/>
        </p:spPr>
        <p:txBody>
          <a:bodyPr wrap="square">
            <a:spAutoFit/>
          </a:bodyPr>
          <a:lstStyle/>
          <a:p>
            <a:pPr lvl="1"/>
            <a:r>
              <a:rPr lang="en-US" sz="2800" dirty="0">
                <a:latin typeface="Times Neue Roman" panose="020B0604020202020204" charset="0"/>
              </a:rPr>
              <a:t>IV. A new checkpoint is created after the longest escape segment.</a:t>
            </a:r>
          </a:p>
          <a:p>
            <a:pPr lvl="1"/>
            <a:r>
              <a:rPr lang="en-US" sz="2800" dirty="0">
                <a:latin typeface="Times Neue Roman" panose="020B0604020202020204" charset="0"/>
              </a:rPr>
              <a:t>V. Step 2 and 3 are repeated to find whether the signal net has reached its destination</a:t>
            </a:r>
          </a:p>
          <a:p>
            <a:pPr lvl="1"/>
            <a:r>
              <a:rPr lang="en-US" sz="2800" dirty="0">
                <a:latin typeface="Times Neue Roman" panose="020B0604020202020204" charset="0"/>
              </a:rPr>
              <a:t>VI. Decisions are made, and the reads are accepted or rejected</a:t>
            </a:r>
          </a:p>
        </p:txBody>
      </p:sp>
      <p:pic>
        <p:nvPicPr>
          <p:cNvPr id="23" name="Picture 22">
            <a:extLst>
              <a:ext uri="{FF2B5EF4-FFF2-40B4-BE49-F238E27FC236}">
                <a16:creationId xmlns:a16="http://schemas.microsoft.com/office/drawing/2014/main" id="{4930A189-6B4F-E05E-D344-C17C7417645D}"/>
              </a:ext>
            </a:extLst>
          </p:cNvPr>
          <p:cNvPicPr>
            <a:picLocks noChangeAspect="1"/>
          </p:cNvPicPr>
          <p:nvPr/>
        </p:nvPicPr>
        <p:blipFill>
          <a:blip r:embed="rId2"/>
          <a:stretch>
            <a:fillRect/>
          </a:stretch>
        </p:blipFill>
        <p:spPr>
          <a:xfrm>
            <a:off x="11025007" y="3478119"/>
            <a:ext cx="6194986" cy="3480641"/>
          </a:xfrm>
          <a:prstGeom prst="rect">
            <a:avLst/>
          </a:prstGeom>
        </p:spPr>
      </p:pic>
    </p:spTree>
    <p:extLst>
      <p:ext uri="{BB962C8B-B14F-4D97-AF65-F5344CB8AC3E}">
        <p14:creationId xmlns:p14="http://schemas.microsoft.com/office/powerpoint/2010/main" val="362514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anim calcmode="lin" valueType="num">
                                      <p:cBhvr additive="base">
                                        <p:cTn id="11"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 calcmode="lin" valueType="num">
                                      <p:cBhvr additive="base">
                                        <p:cTn id="17"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xEl>
                                              <p:pRg st="3" end="3"/>
                                            </p:txEl>
                                          </p:spTgt>
                                        </p:tgtEl>
                                        <p:attrNameLst>
                                          <p:attrName>style.visibility</p:attrName>
                                        </p:attrNameLst>
                                      </p:cBhvr>
                                      <p:to>
                                        <p:strVal val="visible"/>
                                      </p:to>
                                    </p:set>
                                    <p:anim calcmode="lin" valueType="num">
                                      <p:cBhvr additive="base">
                                        <p:cTn id="23"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5">
                                            <p:txEl>
                                              <p:pRg st="4" end="4"/>
                                            </p:txEl>
                                          </p:spTgt>
                                        </p:tgtEl>
                                        <p:attrNameLst>
                                          <p:attrName>style.visibility</p:attrName>
                                        </p:attrNameLst>
                                      </p:cBhvr>
                                      <p:to>
                                        <p:strVal val="visible"/>
                                      </p:to>
                                    </p:set>
                                    <p:anim calcmode="lin" valueType="num">
                                      <p:cBhvr additive="base">
                                        <p:cTn id="33"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5">
                                            <p:txEl>
                                              <p:pRg st="0" end="0"/>
                                            </p:txEl>
                                          </p:spTgt>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5">
                                            <p:txEl>
                                              <p:pRg st="2" end="2"/>
                                            </p:txEl>
                                          </p:spTgt>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5">
                                            <p:txEl>
                                              <p:pRg st="3" end="3"/>
                                            </p:txEl>
                                          </p:spTgt>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5">
                                            <p:txEl>
                                              <p:pRg st="4" end="4"/>
                                            </p:txEl>
                                          </p:spTgt>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5">
                                            <p:txEl>
                                              <p:pRg st="1" end="1"/>
                                            </p:txEl>
                                          </p:spTgt>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2">
                                            <p:txEl>
                                              <p:pRg st="0" end="0"/>
                                            </p:txEl>
                                          </p:spTgt>
                                        </p:tgtEl>
                                        <p:attrNameLst>
                                          <p:attrName>style.visibility</p:attrName>
                                        </p:attrNameLst>
                                      </p:cBhvr>
                                      <p:to>
                                        <p:strVal val="visible"/>
                                      </p:to>
                                    </p:set>
                                    <p:anim calcmode="lin" valueType="num">
                                      <p:cBhvr additive="base">
                                        <p:cTn id="51"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53" presetID="1"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22">
                                            <p:txEl>
                                              <p:pRg st="1" end="1"/>
                                            </p:txEl>
                                          </p:spTgt>
                                        </p:tgtEl>
                                        <p:attrNameLst>
                                          <p:attrName>style.visibility</p:attrName>
                                        </p:attrNameLst>
                                      </p:cBhvr>
                                      <p:to>
                                        <p:strVal val="visible"/>
                                      </p:to>
                                    </p:set>
                                    <p:anim calcmode="lin" valueType="num">
                                      <p:cBhvr additive="base">
                                        <p:cTn id="59" dur="500" fill="hold"/>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2">
                                            <p:txEl>
                                              <p:pRg st="2" end="2"/>
                                            </p:txEl>
                                          </p:spTgt>
                                        </p:tgtEl>
                                        <p:attrNameLst>
                                          <p:attrName>style.visibility</p:attrName>
                                        </p:attrNameLst>
                                      </p:cBhvr>
                                      <p:to>
                                        <p:strVal val="visible"/>
                                      </p:to>
                                    </p:set>
                                    <p:anim calcmode="lin" valueType="num">
                                      <p:cBhvr additive="base">
                                        <p:cTn id="65" dur="500" fill="hold"/>
                                        <p:tgtEl>
                                          <p:spTgt spid="22">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4590709" y="5138742"/>
            <a:ext cx="9695769" cy="0"/>
          </a:xfrm>
          <a:prstGeom prst="line">
            <a:avLst/>
          </a:prstGeom>
          <a:ln w="38100" cap="flat">
            <a:solidFill>
              <a:srgbClr val="22466B"/>
            </a:solidFill>
            <a:prstDash val="solid"/>
            <a:headEnd type="none" w="sm" len="sm"/>
            <a:tailEnd type="none" w="sm" len="sm"/>
          </a:ln>
        </p:spPr>
      </p:sp>
      <p:sp>
        <p:nvSpPr>
          <p:cNvPr id="3" name="AutoShape 3"/>
          <p:cNvSpPr/>
          <p:nvPr/>
        </p:nvSpPr>
        <p:spPr>
          <a:xfrm rot="-10800000">
            <a:off x="257175" y="290857"/>
            <a:ext cx="17782493" cy="0"/>
          </a:xfrm>
          <a:prstGeom prst="line">
            <a:avLst/>
          </a:prstGeom>
          <a:ln w="38100" cap="flat">
            <a:solidFill>
              <a:srgbClr val="000000"/>
            </a:solidFill>
            <a:prstDash val="solid"/>
            <a:headEnd type="none" w="sm" len="sm"/>
            <a:tailEnd type="none" w="sm" len="sm"/>
          </a:ln>
        </p:spPr>
      </p:sp>
      <p:sp>
        <p:nvSpPr>
          <p:cNvPr id="4" name="AutoShape 4"/>
          <p:cNvSpPr/>
          <p:nvPr/>
        </p:nvSpPr>
        <p:spPr>
          <a:xfrm rot="-10800000">
            <a:off x="257175" y="10005676"/>
            <a:ext cx="17687243" cy="0"/>
          </a:xfrm>
          <a:prstGeom prst="line">
            <a:avLst/>
          </a:prstGeom>
          <a:ln w="38100" cap="flat">
            <a:solidFill>
              <a:srgbClr val="000000"/>
            </a:solidFill>
            <a:prstDash val="solid"/>
            <a:headEnd type="none" w="sm" len="sm"/>
            <a:tailEnd type="none" w="sm" len="sm"/>
          </a:ln>
        </p:spPr>
      </p:sp>
      <p:sp>
        <p:nvSpPr>
          <p:cNvPr id="5" name="AutoShape 5"/>
          <p:cNvSpPr/>
          <p:nvPr/>
        </p:nvSpPr>
        <p:spPr>
          <a:xfrm rot="5400000">
            <a:off x="13032072" y="5298454"/>
            <a:ext cx="9977093" cy="0"/>
          </a:xfrm>
          <a:prstGeom prst="line">
            <a:avLst/>
          </a:prstGeom>
          <a:ln w="38100" cap="flat">
            <a:solidFill>
              <a:srgbClr val="22466B"/>
            </a:solidFill>
            <a:prstDash val="solid"/>
            <a:headEnd type="none" w="sm" len="sm"/>
            <a:tailEnd type="none" w="sm" len="sm"/>
          </a:ln>
        </p:spPr>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363603" y="5670805"/>
            <a:ext cx="5644895" cy="5644895"/>
          </a:xfrm>
          <a:prstGeom prst="rect">
            <a:avLst/>
          </a:prstGeom>
        </p:spPr>
      </p:pic>
      <p:sp>
        <p:nvSpPr>
          <p:cNvPr id="7" name="TextBox 7"/>
          <p:cNvSpPr txBox="1"/>
          <p:nvPr/>
        </p:nvSpPr>
        <p:spPr>
          <a:xfrm>
            <a:off x="1038225" y="438150"/>
            <a:ext cx="15238548" cy="2364141"/>
          </a:xfrm>
          <a:prstGeom prst="rect">
            <a:avLst/>
          </a:prstGeom>
        </p:spPr>
        <p:txBody>
          <a:bodyPr lIns="0" tIns="0" rIns="0" bIns="0" rtlCol="0" anchor="t">
            <a:spAutoFit/>
          </a:bodyPr>
          <a:lstStyle/>
          <a:p>
            <a:pPr>
              <a:lnSpc>
                <a:spcPts val="19318"/>
              </a:lnSpc>
              <a:spcBef>
                <a:spcPct val="0"/>
              </a:spcBef>
            </a:pPr>
            <a:r>
              <a:rPr lang="en-US" sz="13798" dirty="0">
                <a:solidFill>
                  <a:srgbClr val="22466B"/>
                </a:solidFill>
                <a:latin typeface="Source Han Serif JP Bold"/>
              </a:rPr>
              <a:t>Methodology</a:t>
            </a:r>
          </a:p>
        </p:txBody>
      </p:sp>
      <p:sp>
        <p:nvSpPr>
          <p:cNvPr id="8" name="TextBox 8"/>
          <p:cNvSpPr txBox="1"/>
          <p:nvPr/>
        </p:nvSpPr>
        <p:spPr>
          <a:xfrm>
            <a:off x="1365477" y="5067300"/>
            <a:ext cx="13718041" cy="1953895"/>
          </a:xfrm>
          <a:prstGeom prst="rect">
            <a:avLst/>
          </a:prstGeom>
        </p:spPr>
        <p:txBody>
          <a:bodyPr lIns="0" tIns="0" rIns="0" bIns="0" rtlCol="0" anchor="t">
            <a:spAutoFit/>
          </a:bodyPr>
          <a:lstStyle/>
          <a:p>
            <a:pPr>
              <a:lnSpc>
                <a:spcPts val="5179"/>
              </a:lnSpc>
            </a:pPr>
            <a:r>
              <a:rPr lang="en-US" sz="3699" dirty="0">
                <a:solidFill>
                  <a:srgbClr val="000000"/>
                </a:solidFill>
                <a:latin typeface="Times Neue Roman"/>
              </a:rPr>
              <a:t>01 | Performance </a:t>
            </a:r>
          </a:p>
          <a:p>
            <a:pPr>
              <a:lnSpc>
                <a:spcPts val="5179"/>
              </a:lnSpc>
            </a:pPr>
            <a:r>
              <a:rPr lang="en-US" sz="3699" dirty="0">
                <a:solidFill>
                  <a:srgbClr val="000000"/>
                </a:solidFill>
                <a:latin typeface="Times Neue Roman"/>
              </a:rPr>
              <a:t>02 | Datasets</a:t>
            </a:r>
          </a:p>
          <a:p>
            <a:pPr>
              <a:lnSpc>
                <a:spcPts val="5179"/>
              </a:lnSpc>
            </a:pPr>
            <a:r>
              <a:rPr lang="en-US" sz="3699" dirty="0">
                <a:solidFill>
                  <a:srgbClr val="000000"/>
                </a:solidFill>
                <a:latin typeface="Times Neue Roman"/>
              </a:rPr>
              <a:t>03 | Procedure </a:t>
            </a: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1614405" y="7464553"/>
            <a:ext cx="5644895" cy="5644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16</a:t>
            </a:r>
          </a:p>
        </p:txBody>
      </p:sp>
      <p:sp>
        <p:nvSpPr>
          <p:cNvPr id="11" name="TextBox 11"/>
          <p:cNvSpPr txBox="1"/>
          <p:nvPr/>
        </p:nvSpPr>
        <p:spPr>
          <a:xfrm>
            <a:off x="13971399" y="9516276"/>
            <a:ext cx="4325894" cy="388120"/>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04. Methodology</a:t>
            </a:r>
          </a:p>
        </p:txBody>
      </p:sp>
      <p:sp>
        <p:nvSpPr>
          <p:cNvPr id="12" name="TextBox 12"/>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Bold"/>
              </a:rPr>
              <a:t>PERFORMANCE OF SNEAKY SNAKE ALGORITHM</a:t>
            </a:r>
          </a:p>
        </p:txBody>
      </p:sp>
      <p:sp>
        <p:nvSpPr>
          <p:cNvPr id="13" name="TextBox 13"/>
          <p:cNvSpPr txBox="1"/>
          <p:nvPr/>
        </p:nvSpPr>
        <p:spPr>
          <a:xfrm>
            <a:off x="1642344" y="3226375"/>
            <a:ext cx="7509942" cy="1251368"/>
          </a:xfrm>
          <a:prstGeom prst="rect">
            <a:avLst/>
          </a:prstGeom>
        </p:spPr>
        <p:txBody>
          <a:bodyPr lIns="0" tIns="0" rIns="0" bIns="0" rtlCol="0" anchor="t">
            <a:spAutoFit/>
          </a:bodyPr>
          <a:lstStyle/>
          <a:p>
            <a:pPr algn="just">
              <a:lnSpc>
                <a:spcPts val="5319"/>
              </a:lnSpc>
            </a:pPr>
            <a:r>
              <a:rPr lang="en-US" sz="3799" dirty="0">
                <a:solidFill>
                  <a:srgbClr val="22466B"/>
                </a:solidFill>
                <a:latin typeface="Garet Bold"/>
              </a:rPr>
              <a:t>Execution Time (s)</a:t>
            </a:r>
          </a:p>
          <a:p>
            <a:pPr marL="734048" lvl="1" indent="-367024" algn="l">
              <a:lnSpc>
                <a:spcPts val="4759"/>
              </a:lnSpc>
              <a:buFont typeface="Arial"/>
              <a:buChar char="•"/>
            </a:pPr>
            <a:r>
              <a:rPr lang="en-US" sz="3399" dirty="0">
                <a:solidFill>
                  <a:srgbClr val="000000"/>
                </a:solidFill>
                <a:latin typeface="Times Neue Roman"/>
              </a:rPr>
              <a:t>In Code High Resolution Clock</a:t>
            </a:r>
          </a:p>
        </p:txBody>
      </p:sp>
      <p:sp>
        <p:nvSpPr>
          <p:cNvPr id="14" name="TextBox 14"/>
          <p:cNvSpPr txBox="1"/>
          <p:nvPr/>
        </p:nvSpPr>
        <p:spPr>
          <a:xfrm>
            <a:off x="10224824" y="3255506"/>
            <a:ext cx="7509942" cy="2024016"/>
          </a:xfrm>
          <a:prstGeom prst="rect">
            <a:avLst/>
          </a:prstGeom>
        </p:spPr>
        <p:txBody>
          <a:bodyPr lIns="0" tIns="0" rIns="0" bIns="0" rtlCol="0" anchor="t">
            <a:spAutoFit/>
          </a:bodyPr>
          <a:lstStyle/>
          <a:p>
            <a:pPr algn="just">
              <a:lnSpc>
                <a:spcPts val="5319"/>
              </a:lnSpc>
            </a:pPr>
            <a:r>
              <a:rPr lang="en-US" sz="3799" dirty="0">
                <a:solidFill>
                  <a:srgbClr val="22466B"/>
                </a:solidFill>
                <a:latin typeface="Garet Bold"/>
              </a:rPr>
              <a:t>Memory Utilization (bytes)</a:t>
            </a:r>
          </a:p>
          <a:p>
            <a:pPr marL="734055" lvl="1" indent="-367027" algn="just">
              <a:lnSpc>
                <a:spcPts val="4861"/>
              </a:lnSpc>
              <a:buFont typeface="Arial"/>
              <a:buChar char="•"/>
            </a:pPr>
            <a:r>
              <a:rPr lang="en-US" sz="3399" dirty="0">
                <a:solidFill>
                  <a:srgbClr val="000000"/>
                </a:solidFill>
                <a:latin typeface="Times Neue Roman"/>
              </a:rPr>
              <a:t>Visual Studio Performance Profiler.</a:t>
            </a:r>
          </a:p>
          <a:p>
            <a:pPr algn="just">
              <a:lnSpc>
                <a:spcPts val="6269"/>
              </a:lnSpc>
            </a:pPr>
            <a:endParaRPr lang="en-US" sz="3399" dirty="0">
              <a:solidFill>
                <a:srgbClr val="000000"/>
              </a:solidFill>
              <a:latin typeface="Times Neue Roman"/>
            </a:endParaRPr>
          </a:p>
        </p:txBody>
      </p:sp>
      <p:sp>
        <p:nvSpPr>
          <p:cNvPr id="15" name="TextBox 15"/>
          <p:cNvSpPr txBox="1"/>
          <p:nvPr/>
        </p:nvSpPr>
        <p:spPr>
          <a:xfrm>
            <a:off x="10208031" y="5349160"/>
            <a:ext cx="7526735" cy="1251368"/>
          </a:xfrm>
          <a:prstGeom prst="rect">
            <a:avLst/>
          </a:prstGeom>
        </p:spPr>
        <p:txBody>
          <a:bodyPr lIns="0" tIns="0" rIns="0" bIns="0" rtlCol="0" anchor="t">
            <a:spAutoFit/>
          </a:bodyPr>
          <a:lstStyle/>
          <a:p>
            <a:pPr>
              <a:lnSpc>
                <a:spcPts val="5319"/>
              </a:lnSpc>
              <a:spcBef>
                <a:spcPct val="0"/>
              </a:spcBef>
            </a:pPr>
            <a:r>
              <a:rPr lang="en-US" sz="3799" dirty="0">
                <a:solidFill>
                  <a:srgbClr val="22466B"/>
                </a:solidFill>
                <a:latin typeface="Garet Bold"/>
              </a:rPr>
              <a:t>Accuracy </a:t>
            </a:r>
          </a:p>
          <a:p>
            <a:pPr marL="734051" lvl="1" indent="-367026">
              <a:lnSpc>
                <a:spcPts val="4759"/>
              </a:lnSpc>
              <a:spcBef>
                <a:spcPct val="0"/>
              </a:spcBef>
              <a:buFont typeface="Arial"/>
              <a:buChar char="•"/>
            </a:pPr>
            <a:r>
              <a:rPr lang="en-US" sz="3399" dirty="0">
                <a:solidFill>
                  <a:srgbClr val="000000"/>
                </a:solidFill>
                <a:latin typeface="Times Neue Roman"/>
              </a:rPr>
              <a:t>Compared with previous Results</a:t>
            </a:r>
          </a:p>
        </p:txBody>
      </p:sp>
      <p:sp>
        <p:nvSpPr>
          <p:cNvPr id="17" name="TextBox 16">
            <a:extLst>
              <a:ext uri="{FF2B5EF4-FFF2-40B4-BE49-F238E27FC236}">
                <a16:creationId xmlns:a16="http://schemas.microsoft.com/office/drawing/2014/main" id="{56B9DFB6-A72E-6B3E-E5E4-EC1C1C619C30}"/>
              </a:ext>
            </a:extLst>
          </p:cNvPr>
          <p:cNvSpPr txBox="1"/>
          <p:nvPr/>
        </p:nvSpPr>
        <p:spPr>
          <a:xfrm>
            <a:off x="1382755" y="5302994"/>
            <a:ext cx="10103004" cy="1343701"/>
          </a:xfrm>
          <a:prstGeom prst="rect">
            <a:avLst/>
          </a:prstGeom>
          <a:noFill/>
        </p:spPr>
        <p:txBody>
          <a:bodyPr wrap="square">
            <a:spAutoFit/>
          </a:bodyPr>
          <a:lstStyle/>
          <a:p>
            <a:pPr algn="just">
              <a:lnSpc>
                <a:spcPts val="5319"/>
              </a:lnSpc>
            </a:pPr>
            <a:r>
              <a:rPr lang="en-US" sz="3799" dirty="0">
                <a:solidFill>
                  <a:srgbClr val="22466B"/>
                </a:solidFill>
                <a:latin typeface="Garet Bold"/>
              </a:rPr>
              <a:t>CPU Utilization (percent)</a:t>
            </a:r>
          </a:p>
          <a:p>
            <a:pPr marL="734055" lvl="1" indent="-367027" algn="just">
              <a:lnSpc>
                <a:spcPts val="4759"/>
              </a:lnSpc>
              <a:buFont typeface="Arial"/>
              <a:buChar char="•"/>
            </a:pPr>
            <a:r>
              <a:rPr lang="en-US" sz="3399" dirty="0">
                <a:solidFill>
                  <a:srgbClr val="000000"/>
                </a:solidFill>
                <a:latin typeface="Times Neue Roman"/>
              </a:rPr>
              <a:t>Visual Studio Performance Profiler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3792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17</a:t>
            </a:r>
          </a:p>
        </p:txBody>
      </p:sp>
      <p:sp>
        <p:nvSpPr>
          <p:cNvPr id="13" name="TextBox 13"/>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Bold"/>
              </a:rPr>
              <a:t>DATA SETS </a:t>
            </a:r>
          </a:p>
        </p:txBody>
      </p:sp>
      <p:sp>
        <p:nvSpPr>
          <p:cNvPr id="14" name="TextBox 14"/>
          <p:cNvSpPr txBox="1"/>
          <p:nvPr/>
        </p:nvSpPr>
        <p:spPr>
          <a:xfrm>
            <a:off x="14493647" y="2044063"/>
            <a:ext cx="5361429" cy="1477328"/>
          </a:xfrm>
          <a:prstGeom prst="rect">
            <a:avLst/>
          </a:prstGeom>
        </p:spPr>
        <p:txBody>
          <a:bodyPr lIns="0" tIns="0" rIns="0" bIns="0" rtlCol="0" anchor="t">
            <a:spAutoFit/>
          </a:bodyPr>
          <a:lstStyle/>
          <a:p>
            <a:r>
              <a:rPr lang="en-US" sz="2400" dirty="0">
                <a:solidFill>
                  <a:srgbClr val="000000"/>
                </a:solidFill>
                <a:latin typeface="Times Neue Roman Bold"/>
              </a:rPr>
              <a:t>Real Data Sets</a:t>
            </a:r>
          </a:p>
          <a:p>
            <a:r>
              <a:rPr lang="en-US" sz="2400" dirty="0">
                <a:solidFill>
                  <a:srgbClr val="000000"/>
                </a:solidFill>
                <a:latin typeface="Times Neue Roman"/>
              </a:rPr>
              <a:t>100_bp_1 to 250_bp_4</a:t>
            </a:r>
          </a:p>
          <a:p>
            <a:r>
              <a:rPr lang="en-US" sz="2400" dirty="0">
                <a:solidFill>
                  <a:srgbClr val="000000"/>
                </a:solidFill>
                <a:latin typeface="Times Neue Roman Bold"/>
              </a:rPr>
              <a:t>Simulated Data Sets</a:t>
            </a:r>
          </a:p>
          <a:p>
            <a:r>
              <a:rPr lang="en-US" sz="2400" dirty="0">
                <a:solidFill>
                  <a:srgbClr val="000000"/>
                </a:solidFill>
                <a:latin typeface="Times Neue Roman"/>
              </a:rPr>
              <a:t>10K_bp (long_1) </a:t>
            </a:r>
            <a:r>
              <a:rPr lang="en-US" sz="2400" dirty="0" err="1">
                <a:solidFill>
                  <a:srgbClr val="000000"/>
                </a:solidFill>
                <a:latin typeface="Times Neue Roman"/>
              </a:rPr>
              <a:t>Alser</a:t>
            </a:r>
            <a:r>
              <a:rPr lang="en-US" sz="2400" dirty="0">
                <a:solidFill>
                  <a:srgbClr val="000000"/>
                </a:solidFill>
                <a:latin typeface="Times Neue Roman"/>
              </a:rPr>
              <a:t> et al.</a:t>
            </a:r>
          </a:p>
        </p:txBody>
      </p:sp>
      <p:sp>
        <p:nvSpPr>
          <p:cNvPr id="15" name="TextBox 11">
            <a:extLst>
              <a:ext uri="{FF2B5EF4-FFF2-40B4-BE49-F238E27FC236}">
                <a16:creationId xmlns:a16="http://schemas.microsoft.com/office/drawing/2014/main" id="{A8C0E51A-621D-F55A-CF1E-4908295059FF}"/>
              </a:ext>
            </a:extLst>
          </p:cNvPr>
          <p:cNvSpPr txBox="1"/>
          <p:nvPr/>
        </p:nvSpPr>
        <p:spPr>
          <a:xfrm>
            <a:off x="13971399" y="9516276"/>
            <a:ext cx="4325894" cy="388120"/>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04. Methodology</a:t>
            </a:r>
          </a:p>
        </p:txBody>
      </p:sp>
      <p:graphicFrame>
        <p:nvGraphicFramePr>
          <p:cNvPr id="12" name="Table 11">
            <a:extLst>
              <a:ext uri="{FF2B5EF4-FFF2-40B4-BE49-F238E27FC236}">
                <a16:creationId xmlns:a16="http://schemas.microsoft.com/office/drawing/2014/main" id="{76726F1E-25A2-A076-A35C-2A145682B0E9}"/>
              </a:ext>
            </a:extLst>
          </p:cNvPr>
          <p:cNvGraphicFramePr>
            <a:graphicFrameLocks noGrp="1"/>
          </p:cNvGraphicFramePr>
          <p:nvPr>
            <p:extLst>
              <p:ext uri="{D42A27DB-BD31-4B8C-83A1-F6EECF244321}">
                <p14:modId xmlns:p14="http://schemas.microsoft.com/office/powerpoint/2010/main" val="2253600842"/>
              </p:ext>
            </p:extLst>
          </p:nvPr>
        </p:nvGraphicFramePr>
        <p:xfrm>
          <a:off x="1051002" y="1807816"/>
          <a:ext cx="13167360" cy="6707138"/>
        </p:xfrm>
        <a:graphic>
          <a:graphicData uri="http://schemas.openxmlformats.org/drawingml/2006/table">
            <a:tbl>
              <a:tblPr/>
              <a:tblGrid>
                <a:gridCol w="2633472">
                  <a:extLst>
                    <a:ext uri="{9D8B030D-6E8A-4147-A177-3AD203B41FA5}">
                      <a16:colId xmlns:a16="http://schemas.microsoft.com/office/drawing/2014/main" val="1916598412"/>
                    </a:ext>
                  </a:extLst>
                </a:gridCol>
                <a:gridCol w="3143172">
                  <a:extLst>
                    <a:ext uri="{9D8B030D-6E8A-4147-A177-3AD203B41FA5}">
                      <a16:colId xmlns:a16="http://schemas.microsoft.com/office/drawing/2014/main" val="2272537661"/>
                    </a:ext>
                  </a:extLst>
                </a:gridCol>
                <a:gridCol w="2293670">
                  <a:extLst>
                    <a:ext uri="{9D8B030D-6E8A-4147-A177-3AD203B41FA5}">
                      <a16:colId xmlns:a16="http://schemas.microsoft.com/office/drawing/2014/main" val="3480545740"/>
                    </a:ext>
                  </a:extLst>
                </a:gridCol>
                <a:gridCol w="2038820">
                  <a:extLst>
                    <a:ext uri="{9D8B030D-6E8A-4147-A177-3AD203B41FA5}">
                      <a16:colId xmlns:a16="http://schemas.microsoft.com/office/drawing/2014/main" val="927619395"/>
                    </a:ext>
                  </a:extLst>
                </a:gridCol>
                <a:gridCol w="3058226">
                  <a:extLst>
                    <a:ext uri="{9D8B030D-6E8A-4147-A177-3AD203B41FA5}">
                      <a16:colId xmlns:a16="http://schemas.microsoft.com/office/drawing/2014/main" val="886917504"/>
                    </a:ext>
                  </a:extLst>
                </a:gridCol>
              </a:tblGrid>
              <a:tr h="413313">
                <a:tc>
                  <a:txBody>
                    <a:bodyPr/>
                    <a:lstStyle/>
                    <a:p>
                      <a:pPr algn="l" fontAlgn="b"/>
                      <a:r>
                        <a:rPr lang="en-US" sz="2400" b="0" i="0" u="none" strike="noStrike" dirty="0">
                          <a:solidFill>
                            <a:srgbClr val="000000"/>
                          </a:solidFill>
                          <a:effectLst/>
                          <a:latin typeface="Times Neue Roman" panose="020B0604020202020204" charset="0"/>
                        </a:rPr>
                        <a:t>Data Set Name</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Times Neue Roman" panose="020B0604020202020204" charset="0"/>
                        </a:rPr>
                        <a:t>Source</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Times Neue Roman" panose="020B0604020202020204" charset="0"/>
                        </a:rPr>
                        <a:t>Read Length</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Times Neue Roman" panose="020B0604020202020204" charset="0"/>
                        </a:rPr>
                        <a:t>Sample Pairs</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Times Neue Roman" panose="020B0604020202020204" charset="0"/>
                        </a:rPr>
                        <a:t>Edit Distance Threshold</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2853707"/>
                  </a:ext>
                </a:extLst>
              </a:tr>
              <a:tr h="731062">
                <a:tc>
                  <a:txBody>
                    <a:bodyPr/>
                    <a:lstStyle/>
                    <a:p>
                      <a:pPr algn="l" fontAlgn="b"/>
                      <a:r>
                        <a:rPr lang="en-US" sz="2400" b="0" i="0" u="none" strike="noStrike" dirty="0">
                          <a:solidFill>
                            <a:srgbClr val="000000"/>
                          </a:solidFill>
                          <a:effectLst/>
                          <a:latin typeface="Times Neue Roman" panose="020B0604020202020204" charset="0"/>
                        </a:rPr>
                        <a:t>100_bp_1</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2400" b="0" i="0" u="none" strike="noStrike" dirty="0">
                          <a:solidFill>
                            <a:srgbClr val="000000"/>
                          </a:solidFill>
                          <a:effectLst/>
                          <a:latin typeface="Times Neue Roman" panose="020B0604020202020204" charset="0"/>
                          <a:hlinkClick r:id="rId2"/>
                        </a:rPr>
                        <a:t>https://www.ebi.ac.uk/ena/data/view/ERR240727</a:t>
                      </a:r>
                      <a:r>
                        <a:rPr lang="en-GB" sz="2400" b="0" i="0" u="none" strike="noStrike" dirty="0">
                          <a:solidFill>
                            <a:srgbClr val="000000"/>
                          </a:solidFill>
                          <a:effectLst/>
                          <a:latin typeface="Times Neue Roman" panose="020B0604020202020204" charset="0"/>
                        </a:rPr>
                        <a:t> </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100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2</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4031034"/>
                  </a:ext>
                </a:extLst>
              </a:tr>
              <a:tr h="731062">
                <a:tc>
                  <a:txBody>
                    <a:bodyPr/>
                    <a:lstStyle/>
                    <a:p>
                      <a:pPr algn="l" fontAlgn="b"/>
                      <a:r>
                        <a:rPr lang="en-US" sz="2400" b="0" i="0" u="none" strike="noStrike" dirty="0">
                          <a:solidFill>
                            <a:srgbClr val="000000"/>
                          </a:solidFill>
                          <a:effectLst/>
                          <a:latin typeface="Times Neue Roman" panose="020B0604020202020204" charset="0"/>
                        </a:rPr>
                        <a:t>100_bp_2</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2400" b="0" i="0" u="none" strike="noStrike" dirty="0">
                          <a:solidFill>
                            <a:srgbClr val="000000"/>
                          </a:solidFill>
                          <a:effectLst/>
                          <a:latin typeface="Times Neue Roman" panose="020B0604020202020204" charset="0"/>
                          <a:hlinkClick r:id="rId2"/>
                        </a:rPr>
                        <a:t>https://www.ebi.ac.uk/ena/data/view/ERR240727</a:t>
                      </a:r>
                      <a:r>
                        <a:rPr lang="en-GB" sz="2400" b="0" i="0" u="none" strike="noStrike" dirty="0">
                          <a:solidFill>
                            <a:srgbClr val="000000"/>
                          </a:solidFill>
                          <a:effectLst/>
                          <a:latin typeface="Times Neue Roman" panose="020B0604020202020204" charset="0"/>
                        </a:rPr>
                        <a:t> </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100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2</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4882782"/>
                  </a:ext>
                </a:extLst>
              </a:tr>
              <a:tr h="731062">
                <a:tc>
                  <a:txBody>
                    <a:bodyPr/>
                    <a:lstStyle/>
                    <a:p>
                      <a:pPr algn="l" fontAlgn="b"/>
                      <a:r>
                        <a:rPr lang="en-US" sz="2400" b="0" i="0" u="none" strike="noStrike" dirty="0">
                          <a:solidFill>
                            <a:srgbClr val="000000"/>
                          </a:solidFill>
                          <a:effectLst/>
                          <a:latin typeface="Times Neue Roman" panose="020B0604020202020204" charset="0"/>
                        </a:rPr>
                        <a:t>100_bp_3</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2400" b="0" i="0" u="none" strike="noStrike" dirty="0">
                          <a:solidFill>
                            <a:srgbClr val="000000"/>
                          </a:solidFill>
                          <a:effectLst/>
                          <a:latin typeface="Times Neue Roman" panose="020B0604020202020204" charset="0"/>
                          <a:hlinkClick r:id="rId2"/>
                        </a:rPr>
                        <a:t>https://www.ebi.ac.uk/ena/data/view/ERR240727</a:t>
                      </a:r>
                      <a:r>
                        <a:rPr lang="en-GB" sz="2400" b="0" i="0" u="none" strike="noStrike" dirty="0">
                          <a:solidFill>
                            <a:srgbClr val="000000"/>
                          </a:solidFill>
                          <a:effectLst/>
                          <a:latin typeface="Times Neue Roman" panose="020B0604020202020204" charset="0"/>
                        </a:rPr>
                        <a:t> </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100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40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0661176"/>
                  </a:ext>
                </a:extLst>
              </a:tr>
              <a:tr h="731062">
                <a:tc>
                  <a:txBody>
                    <a:bodyPr/>
                    <a:lstStyle/>
                    <a:p>
                      <a:pPr algn="l" fontAlgn="b"/>
                      <a:r>
                        <a:rPr lang="en-US" sz="2400" b="0" i="0" u="none" strike="noStrike" dirty="0">
                          <a:solidFill>
                            <a:srgbClr val="000000"/>
                          </a:solidFill>
                          <a:effectLst/>
                          <a:latin typeface="Times Neue Roman" panose="020B0604020202020204" charset="0"/>
                        </a:rPr>
                        <a:t>100_bp_4</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2400" b="0" i="0" u="none" strike="noStrike" dirty="0">
                          <a:solidFill>
                            <a:srgbClr val="000000"/>
                          </a:solidFill>
                          <a:effectLst/>
                          <a:latin typeface="Times Neue Roman" panose="020B0604020202020204" charset="0"/>
                          <a:hlinkClick r:id="rId2"/>
                        </a:rPr>
                        <a:t>https://www.ebi.ac.uk/ena/data/view/ERR240727</a:t>
                      </a:r>
                      <a:r>
                        <a:rPr lang="en-GB" sz="2400" b="0" i="0" u="none" strike="noStrike" dirty="0">
                          <a:solidFill>
                            <a:srgbClr val="000000"/>
                          </a:solidFill>
                          <a:effectLst/>
                          <a:latin typeface="Times Neue Roman" panose="020B0604020202020204" charset="0"/>
                        </a:rPr>
                        <a:t> </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100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40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6915434"/>
                  </a:ext>
                </a:extLst>
              </a:tr>
              <a:tr h="731062">
                <a:tc>
                  <a:txBody>
                    <a:bodyPr/>
                    <a:lstStyle/>
                    <a:p>
                      <a:pPr algn="l" fontAlgn="b"/>
                      <a:r>
                        <a:rPr lang="en-US" sz="2400" b="0" i="0" u="none" strike="noStrike" dirty="0">
                          <a:solidFill>
                            <a:srgbClr val="000000"/>
                          </a:solidFill>
                          <a:effectLst/>
                          <a:latin typeface="Times Neue Roman" panose="020B0604020202020204" charset="0"/>
                        </a:rPr>
                        <a:t>250_bp_1</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2400" b="0" i="0" u="none" strike="noStrike" dirty="0">
                          <a:solidFill>
                            <a:srgbClr val="000000"/>
                          </a:solidFill>
                          <a:effectLst/>
                          <a:latin typeface="Times Neue Roman" panose="020B0604020202020204" charset="0"/>
                          <a:hlinkClick r:id="rId3"/>
                        </a:rPr>
                        <a:t>https://www.ebi.ac.uk/ena/data/view/SRR826471</a:t>
                      </a:r>
                      <a:endParaRPr lang="en-GB" sz="2400" b="0" i="0" u="none" strike="noStrike" dirty="0">
                        <a:solidFill>
                          <a:srgbClr val="000000"/>
                        </a:solidFill>
                        <a:effectLst/>
                        <a:latin typeface="Times Neue Roman" panose="020B0604020202020204" charset="0"/>
                      </a:endParaRP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250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8</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53932"/>
                  </a:ext>
                </a:extLst>
              </a:tr>
              <a:tr h="731062">
                <a:tc>
                  <a:txBody>
                    <a:bodyPr/>
                    <a:lstStyle/>
                    <a:p>
                      <a:pPr algn="l" fontAlgn="b"/>
                      <a:r>
                        <a:rPr lang="en-US" sz="2400" b="0" i="0" u="none" strike="noStrike" dirty="0">
                          <a:solidFill>
                            <a:srgbClr val="000000"/>
                          </a:solidFill>
                          <a:effectLst/>
                          <a:latin typeface="Times Neue Roman" panose="020B0604020202020204" charset="0"/>
                        </a:rPr>
                        <a:t>250_bp_2</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GB" sz="2400" b="0" i="0" u="none" strike="noStrike" dirty="0">
                          <a:solidFill>
                            <a:srgbClr val="000000"/>
                          </a:solidFill>
                          <a:effectLst/>
                          <a:latin typeface="Times Neue Roman" panose="020B0604020202020204" charset="0"/>
                          <a:hlinkClick r:id="rId3"/>
                        </a:rPr>
                        <a:t>https://www.ebi.ac.uk/ena/data/view/SRR826471</a:t>
                      </a:r>
                      <a:endParaRPr lang="en-GB" sz="2400" b="0" i="0" u="none" strike="noStrike" dirty="0">
                        <a:solidFill>
                          <a:srgbClr val="000000"/>
                        </a:solidFill>
                        <a:effectLst/>
                        <a:latin typeface="Times Neue Roman" panose="020B0604020202020204" charset="0"/>
                      </a:endParaRP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250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8</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9642488"/>
                  </a:ext>
                </a:extLst>
              </a:tr>
              <a:tr h="731062">
                <a:tc>
                  <a:txBody>
                    <a:bodyPr/>
                    <a:lstStyle/>
                    <a:p>
                      <a:pPr algn="l" fontAlgn="b"/>
                      <a:r>
                        <a:rPr lang="en-US" sz="2400" b="0" i="0" u="none" strike="noStrike" dirty="0">
                          <a:solidFill>
                            <a:srgbClr val="000000"/>
                          </a:solidFill>
                          <a:effectLst/>
                          <a:latin typeface="Times Neue Roman" panose="020B0604020202020204" charset="0"/>
                        </a:rPr>
                        <a:t>250_bp_3</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Times Neue Roman" panose="020B0604020202020204" charset="0"/>
                          <a:hlinkClick r:id="rId3"/>
                        </a:rPr>
                        <a:t>https://www.ebi.ac.uk/ena/data/view/SRR826471</a:t>
                      </a:r>
                      <a:endParaRPr lang="en-US" sz="2400" b="0" i="0" u="none" strike="noStrike" dirty="0">
                        <a:solidFill>
                          <a:srgbClr val="000000"/>
                        </a:solidFill>
                        <a:effectLst/>
                        <a:latin typeface="Times Neue Roman" panose="020B0604020202020204" charset="0"/>
                      </a:endParaRP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250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40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3889597"/>
                  </a:ext>
                </a:extLst>
              </a:tr>
              <a:tr h="731062">
                <a:tc>
                  <a:txBody>
                    <a:bodyPr/>
                    <a:lstStyle/>
                    <a:p>
                      <a:pPr algn="l" fontAlgn="b"/>
                      <a:r>
                        <a:rPr lang="en-US" sz="2400" b="0" i="0" u="none" strike="noStrike" dirty="0">
                          <a:solidFill>
                            <a:srgbClr val="000000"/>
                          </a:solidFill>
                          <a:effectLst/>
                          <a:latin typeface="Times Neue Roman" panose="020B0604020202020204" charset="0"/>
                        </a:rPr>
                        <a:t>250_bp_4</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Times Neue Roman" panose="020B0604020202020204" charset="0"/>
                          <a:hlinkClick r:id="rId3"/>
                        </a:rPr>
                        <a:t>https://www.ebi.ac.uk/ena/data/view/SRR826471</a:t>
                      </a:r>
                      <a:endParaRPr lang="en-US" sz="2400" b="0" i="0" u="none" strike="noStrike" dirty="0">
                        <a:solidFill>
                          <a:srgbClr val="000000"/>
                        </a:solidFill>
                        <a:effectLst/>
                        <a:latin typeface="Times Neue Roman" panose="020B0604020202020204" charset="0"/>
                      </a:endParaRP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250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Times Neue Roman" panose="020B0604020202020204" charset="0"/>
                        </a:rPr>
                        <a:t>3000000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40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7703790"/>
                  </a:ext>
                </a:extLst>
              </a:tr>
              <a:tr h="413313">
                <a:tc>
                  <a:txBody>
                    <a:bodyPr/>
                    <a:lstStyle/>
                    <a:p>
                      <a:pPr algn="l" fontAlgn="b"/>
                      <a:r>
                        <a:rPr lang="en-US" sz="2400" b="0" i="0" u="none" strike="noStrike" dirty="0">
                          <a:solidFill>
                            <a:srgbClr val="000000"/>
                          </a:solidFill>
                          <a:effectLst/>
                          <a:latin typeface="Times Neue Roman" panose="020B0604020202020204" charset="0"/>
                        </a:rPr>
                        <a:t>10K_bp</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err="1">
                          <a:solidFill>
                            <a:srgbClr val="000000"/>
                          </a:solidFill>
                          <a:effectLst/>
                          <a:latin typeface="Times Neue Roman" panose="020B0604020202020204" charset="0"/>
                        </a:rPr>
                        <a:t>Alser</a:t>
                      </a:r>
                      <a:r>
                        <a:rPr lang="en-US" sz="2400" b="0" i="0" u="none" strike="noStrike" dirty="0">
                          <a:solidFill>
                            <a:srgbClr val="000000"/>
                          </a:solidFill>
                          <a:effectLst/>
                          <a:latin typeface="Times Neue Roman" panose="020B0604020202020204" charset="0"/>
                        </a:rPr>
                        <a:t> et al.</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10000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dirty="0">
                          <a:solidFill>
                            <a:srgbClr val="000000"/>
                          </a:solidFill>
                          <a:effectLst/>
                          <a:latin typeface="Times Neue Roman" panose="020B0604020202020204" charset="0"/>
                        </a:rPr>
                        <a:t>10</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Times Neue Roman" panose="020B0604020202020204" charset="0"/>
                        </a:rPr>
                        <a:t>Default Error Count</a:t>
                      </a:r>
                    </a:p>
                  </a:txBody>
                  <a:tcPr marL="3544" marR="3544" marT="35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8553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18</a:t>
            </a:r>
          </a:p>
        </p:txBody>
      </p:sp>
      <p:sp>
        <p:nvSpPr>
          <p:cNvPr id="13" name="TextBox 13"/>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Bold"/>
              </a:rPr>
              <a:t>PROCEDURE</a:t>
            </a:r>
          </a:p>
        </p:txBody>
      </p:sp>
      <p:sp>
        <p:nvSpPr>
          <p:cNvPr id="14" name="TextBox 14"/>
          <p:cNvSpPr txBox="1"/>
          <p:nvPr/>
        </p:nvSpPr>
        <p:spPr>
          <a:xfrm>
            <a:off x="681492" y="1521730"/>
            <a:ext cx="8071983" cy="6028253"/>
          </a:xfrm>
          <a:prstGeom prst="rect">
            <a:avLst/>
          </a:prstGeom>
        </p:spPr>
        <p:txBody>
          <a:bodyPr lIns="0" tIns="0" rIns="0" bIns="0" rtlCol="0" anchor="t">
            <a:spAutoFit/>
          </a:bodyPr>
          <a:lstStyle/>
          <a:p>
            <a:pPr marL="334645" lvl="1">
              <a:lnSpc>
                <a:spcPts val="4340"/>
              </a:lnSpc>
            </a:pPr>
            <a:endParaRPr lang="en-US" sz="3100" dirty="0">
              <a:solidFill>
                <a:srgbClr val="000000"/>
              </a:solidFill>
              <a:latin typeface="Times Neue Roman"/>
            </a:endParaRPr>
          </a:p>
          <a:p>
            <a:pPr marL="669291" lvl="1" indent="-334646">
              <a:lnSpc>
                <a:spcPts val="4340"/>
              </a:lnSpc>
              <a:buFont typeface="Arial"/>
              <a:buChar char="•"/>
            </a:pPr>
            <a:r>
              <a:rPr lang="en-US" sz="3100" dirty="0">
                <a:solidFill>
                  <a:srgbClr val="000000"/>
                </a:solidFill>
                <a:latin typeface="Times Neue Roman"/>
              </a:rPr>
              <a:t>Choose a data set</a:t>
            </a:r>
          </a:p>
          <a:p>
            <a:pPr marL="669291" lvl="1" indent="-334646">
              <a:lnSpc>
                <a:spcPts val="4340"/>
              </a:lnSpc>
              <a:buFont typeface="Arial"/>
              <a:buChar char="•"/>
            </a:pPr>
            <a:r>
              <a:rPr lang="en-US" sz="3100" dirty="0">
                <a:solidFill>
                  <a:srgbClr val="000000"/>
                </a:solidFill>
                <a:latin typeface="Times Neue Roman"/>
              </a:rPr>
              <a:t>Provide Inputs </a:t>
            </a:r>
          </a:p>
          <a:p>
            <a:pPr marL="669291" lvl="1" indent="-334646">
              <a:lnSpc>
                <a:spcPts val="4340"/>
              </a:lnSpc>
              <a:buFont typeface="Arial"/>
              <a:buChar char="•"/>
            </a:pPr>
            <a:r>
              <a:rPr lang="en-US" sz="3100" dirty="0">
                <a:solidFill>
                  <a:srgbClr val="000000"/>
                </a:solidFill>
                <a:latin typeface="Times Neue Roman"/>
              </a:rPr>
              <a:t>Measure Execution Time</a:t>
            </a:r>
          </a:p>
          <a:p>
            <a:pPr marL="669291" lvl="1" indent="-334646">
              <a:lnSpc>
                <a:spcPts val="4340"/>
              </a:lnSpc>
              <a:buFont typeface="Arial"/>
              <a:buChar char="•"/>
            </a:pPr>
            <a:r>
              <a:rPr lang="en-US" sz="3100" dirty="0">
                <a:solidFill>
                  <a:srgbClr val="000000"/>
                </a:solidFill>
                <a:latin typeface="Times Neue Roman"/>
              </a:rPr>
              <a:t>Measure CPU Utilization </a:t>
            </a:r>
          </a:p>
          <a:p>
            <a:pPr marL="669291" lvl="1" indent="-334646">
              <a:lnSpc>
                <a:spcPts val="4340"/>
              </a:lnSpc>
              <a:buFont typeface="Arial"/>
              <a:buChar char="•"/>
            </a:pPr>
            <a:r>
              <a:rPr lang="en-US" sz="3100" dirty="0">
                <a:solidFill>
                  <a:srgbClr val="000000"/>
                </a:solidFill>
                <a:latin typeface="Times Neue Roman"/>
              </a:rPr>
              <a:t>Measure Memory Utilization</a:t>
            </a:r>
          </a:p>
          <a:p>
            <a:pPr marL="669291" lvl="1" indent="-334646">
              <a:lnSpc>
                <a:spcPts val="4340"/>
              </a:lnSpc>
              <a:buFont typeface="Arial"/>
              <a:buChar char="•"/>
            </a:pPr>
            <a:r>
              <a:rPr lang="en-US" sz="3100" dirty="0">
                <a:solidFill>
                  <a:srgbClr val="000000"/>
                </a:solidFill>
                <a:latin typeface="Times Neue Roman"/>
              </a:rPr>
              <a:t>Observations Recorded </a:t>
            </a:r>
          </a:p>
          <a:p>
            <a:pPr marL="669291" lvl="1" indent="-334646">
              <a:lnSpc>
                <a:spcPts val="4340"/>
              </a:lnSpc>
              <a:buFont typeface="Arial"/>
              <a:buChar char="•"/>
            </a:pPr>
            <a:r>
              <a:rPr lang="en-US" sz="3100" dirty="0">
                <a:solidFill>
                  <a:srgbClr val="000000"/>
                </a:solidFill>
                <a:latin typeface="Times Neue Roman"/>
              </a:rPr>
              <a:t>Repeated for different Edit Distance Threshold </a:t>
            </a:r>
          </a:p>
          <a:p>
            <a:pPr marL="669291" lvl="1" indent="-334646">
              <a:lnSpc>
                <a:spcPts val="4340"/>
              </a:lnSpc>
              <a:buFont typeface="Arial"/>
              <a:buChar char="•"/>
            </a:pPr>
            <a:r>
              <a:rPr lang="en-US" sz="3100" dirty="0">
                <a:solidFill>
                  <a:srgbClr val="000000"/>
                </a:solidFill>
                <a:latin typeface="Times Neue Roman"/>
              </a:rPr>
              <a:t>Repeated for different number of threads </a:t>
            </a:r>
          </a:p>
          <a:p>
            <a:pPr marL="669291" lvl="1" indent="-334646">
              <a:lnSpc>
                <a:spcPts val="4340"/>
              </a:lnSpc>
              <a:buFont typeface="Arial"/>
              <a:buChar char="•"/>
            </a:pPr>
            <a:r>
              <a:rPr lang="en-US" sz="3100" dirty="0">
                <a:solidFill>
                  <a:srgbClr val="000000"/>
                </a:solidFill>
                <a:latin typeface="Times Neue Roman"/>
              </a:rPr>
              <a:t>Whole Process Repeated for different data sets</a:t>
            </a:r>
          </a:p>
        </p:txBody>
      </p:sp>
      <p:sp>
        <p:nvSpPr>
          <p:cNvPr id="15" name="TextBox 15"/>
          <p:cNvSpPr txBox="1"/>
          <p:nvPr/>
        </p:nvSpPr>
        <p:spPr>
          <a:xfrm>
            <a:off x="10018605" y="5753100"/>
            <a:ext cx="3664488" cy="488316"/>
          </a:xfrm>
          <a:prstGeom prst="rect">
            <a:avLst/>
          </a:prstGeom>
        </p:spPr>
        <p:txBody>
          <a:bodyPr lIns="0" tIns="0" rIns="0" bIns="0" rtlCol="0" anchor="t">
            <a:spAutoFit/>
          </a:bodyPr>
          <a:lstStyle/>
          <a:p>
            <a:pPr algn="just">
              <a:lnSpc>
                <a:spcPts val="4059"/>
              </a:lnSpc>
            </a:pPr>
            <a:r>
              <a:rPr lang="en-US" sz="2899" dirty="0">
                <a:solidFill>
                  <a:srgbClr val="000000"/>
                </a:solidFill>
                <a:latin typeface="Source Han Serif JP Bold Bold"/>
              </a:rPr>
              <a:t>ANALYSIS</a:t>
            </a:r>
          </a:p>
        </p:txBody>
      </p:sp>
      <p:sp>
        <p:nvSpPr>
          <p:cNvPr id="16" name="TextBox 16"/>
          <p:cNvSpPr txBox="1"/>
          <p:nvPr/>
        </p:nvSpPr>
        <p:spPr>
          <a:xfrm>
            <a:off x="10018605" y="6422391"/>
            <a:ext cx="7278769" cy="1607185"/>
          </a:xfrm>
          <a:prstGeom prst="rect">
            <a:avLst/>
          </a:prstGeom>
        </p:spPr>
        <p:txBody>
          <a:bodyPr lIns="0" tIns="0" rIns="0" bIns="0" rtlCol="0" anchor="t">
            <a:spAutoFit/>
          </a:bodyPr>
          <a:lstStyle/>
          <a:p>
            <a:pPr algn="just">
              <a:lnSpc>
                <a:spcPts val="4340"/>
              </a:lnSpc>
            </a:pPr>
            <a:r>
              <a:rPr lang="en-US" sz="3100" dirty="0">
                <a:solidFill>
                  <a:srgbClr val="000000"/>
                </a:solidFill>
                <a:latin typeface="Times Neue Roman"/>
              </a:rPr>
              <a:t>The collected data was organized and plotted to make conclusions about the effect of varying parameters </a:t>
            </a:r>
          </a:p>
        </p:txBody>
      </p:sp>
      <p:sp>
        <p:nvSpPr>
          <p:cNvPr id="17" name="TextBox 11">
            <a:extLst>
              <a:ext uri="{FF2B5EF4-FFF2-40B4-BE49-F238E27FC236}">
                <a16:creationId xmlns:a16="http://schemas.microsoft.com/office/drawing/2014/main" id="{5E823A55-993C-BE92-F296-3DB4A296CEF8}"/>
              </a:ext>
            </a:extLst>
          </p:cNvPr>
          <p:cNvSpPr txBox="1"/>
          <p:nvPr/>
        </p:nvSpPr>
        <p:spPr>
          <a:xfrm>
            <a:off x="13971399" y="9516276"/>
            <a:ext cx="4325894" cy="388120"/>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04. Methodology</a:t>
            </a:r>
          </a:p>
        </p:txBody>
      </p:sp>
      <p:graphicFrame>
        <p:nvGraphicFramePr>
          <p:cNvPr id="12" name="Table 11">
            <a:extLst>
              <a:ext uri="{FF2B5EF4-FFF2-40B4-BE49-F238E27FC236}">
                <a16:creationId xmlns:a16="http://schemas.microsoft.com/office/drawing/2014/main" id="{E6A41C37-6187-8F14-783C-F1BE3175F187}"/>
              </a:ext>
            </a:extLst>
          </p:cNvPr>
          <p:cNvGraphicFramePr>
            <a:graphicFrameLocks noGrp="1"/>
          </p:cNvGraphicFramePr>
          <p:nvPr>
            <p:extLst>
              <p:ext uri="{D42A27DB-BD31-4B8C-83A1-F6EECF244321}">
                <p14:modId xmlns:p14="http://schemas.microsoft.com/office/powerpoint/2010/main" val="650079096"/>
              </p:ext>
            </p:extLst>
          </p:nvPr>
        </p:nvGraphicFramePr>
        <p:xfrm>
          <a:off x="9144000" y="2152498"/>
          <a:ext cx="8686794" cy="2626995"/>
        </p:xfrm>
        <a:graphic>
          <a:graphicData uri="http://schemas.openxmlformats.org/drawingml/2006/table">
            <a:tbl>
              <a:tblPr/>
              <a:tblGrid>
                <a:gridCol w="1447799">
                  <a:extLst>
                    <a:ext uri="{9D8B030D-6E8A-4147-A177-3AD203B41FA5}">
                      <a16:colId xmlns:a16="http://schemas.microsoft.com/office/drawing/2014/main" val="522862012"/>
                    </a:ext>
                  </a:extLst>
                </a:gridCol>
                <a:gridCol w="1447799">
                  <a:extLst>
                    <a:ext uri="{9D8B030D-6E8A-4147-A177-3AD203B41FA5}">
                      <a16:colId xmlns:a16="http://schemas.microsoft.com/office/drawing/2014/main" val="1458003244"/>
                    </a:ext>
                  </a:extLst>
                </a:gridCol>
                <a:gridCol w="1447799">
                  <a:extLst>
                    <a:ext uri="{9D8B030D-6E8A-4147-A177-3AD203B41FA5}">
                      <a16:colId xmlns:a16="http://schemas.microsoft.com/office/drawing/2014/main" val="357619618"/>
                    </a:ext>
                  </a:extLst>
                </a:gridCol>
                <a:gridCol w="1447799">
                  <a:extLst>
                    <a:ext uri="{9D8B030D-6E8A-4147-A177-3AD203B41FA5}">
                      <a16:colId xmlns:a16="http://schemas.microsoft.com/office/drawing/2014/main" val="1312312972"/>
                    </a:ext>
                  </a:extLst>
                </a:gridCol>
                <a:gridCol w="1447799">
                  <a:extLst>
                    <a:ext uri="{9D8B030D-6E8A-4147-A177-3AD203B41FA5}">
                      <a16:colId xmlns:a16="http://schemas.microsoft.com/office/drawing/2014/main" val="1302242796"/>
                    </a:ext>
                  </a:extLst>
                </a:gridCol>
                <a:gridCol w="1447799">
                  <a:extLst>
                    <a:ext uri="{9D8B030D-6E8A-4147-A177-3AD203B41FA5}">
                      <a16:colId xmlns:a16="http://schemas.microsoft.com/office/drawing/2014/main" val="1860892220"/>
                    </a:ext>
                  </a:extLst>
                </a:gridCol>
              </a:tblGrid>
              <a:tr h="190500">
                <a:tc>
                  <a:txBody>
                    <a:bodyPr/>
                    <a:lstStyle/>
                    <a:p>
                      <a:pPr algn="l" fontAlgn="b"/>
                      <a:r>
                        <a:rPr lang="en-US" sz="2400" b="1" i="0" u="none" strike="noStrike">
                          <a:solidFill>
                            <a:srgbClr val="000000"/>
                          </a:solidFill>
                          <a:effectLst/>
                          <a:latin typeface="Calibri" panose="020F0502020204030204" pitchFamily="34" charset="0"/>
                        </a:rPr>
                        <a:t>Data Set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fontAlgn="b"/>
                      <a:r>
                        <a:rPr lang="en-US" sz="2400" b="1" i="0" u="none" strike="noStrike" dirty="0">
                          <a:solidFill>
                            <a:srgbClr val="000000"/>
                          </a:solidFill>
                          <a:effectLst/>
                          <a:latin typeface="Calibri" panose="020F0502020204030204" pitchFamily="34" charset="0"/>
                        </a:rPr>
                        <a:t>Iteration No</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76245969"/>
                  </a:ext>
                </a:extLst>
              </a:tr>
              <a:tr h="190500">
                <a:tc>
                  <a:txBody>
                    <a:bodyPr/>
                    <a:lstStyle/>
                    <a:p>
                      <a:pPr algn="l" fontAlgn="b"/>
                      <a:endParaRPr lang="en-US" sz="2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Calibri" panose="020F0502020204030204" pitchFamily="34"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Calibri" panose="020F0502020204030204" pitchFamily="34" charset="0"/>
                        </a:rPr>
                        <a:t>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2400" b="0" i="0" u="none" strike="noStrike">
                          <a:solidFill>
                            <a:srgbClr val="000000"/>
                          </a:solidFill>
                          <a:effectLst/>
                          <a:latin typeface="Calibri" panose="020F0502020204030204" pitchFamily="34" charset="0"/>
                        </a:rPr>
                        <a:t>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561862"/>
                  </a:ext>
                </a:extLst>
              </a:tr>
              <a:tr h="190500">
                <a:tc>
                  <a:txBody>
                    <a:bodyPr/>
                    <a:lstStyle/>
                    <a:p>
                      <a:pPr algn="l" fontAlgn="b"/>
                      <a:r>
                        <a:rPr lang="en-US" sz="2400" b="0" i="0" u="none" strike="noStrike">
                          <a:solidFill>
                            <a:srgbClr val="000000"/>
                          </a:solidFill>
                          <a:effectLst/>
                          <a:latin typeface="Calibri" panose="020F0502020204030204" pitchFamily="34" charset="0"/>
                        </a:rPr>
                        <a:t>100_bp_1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Calibri" panose="020F0502020204030204" pitchFamily="34" charset="0"/>
                        </a:rPr>
                        <a:t>E =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Calibri" panose="020F0502020204030204" pitchFamily="34" charset="0"/>
                        </a:rPr>
                        <a:t>E = 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688722"/>
                  </a:ext>
                </a:extLst>
              </a:tr>
              <a:tr h="190500">
                <a:tc>
                  <a:txBody>
                    <a:bodyPr/>
                    <a:lstStyle/>
                    <a:p>
                      <a:pPr algn="l" fontAlgn="b"/>
                      <a:r>
                        <a:rPr lang="en-US" sz="2400" b="0" i="0" u="none" strike="noStrike">
                          <a:solidFill>
                            <a:srgbClr val="000000"/>
                          </a:solidFill>
                          <a:effectLst/>
                          <a:latin typeface="Calibri" panose="020F0502020204030204" pitchFamily="34" charset="0"/>
                        </a:rPr>
                        <a:t>100_bp_2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Calibri" panose="020F0502020204030204" pitchFamily="34" charset="0"/>
                        </a:rPr>
                        <a:t>E = 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40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312791"/>
                  </a:ext>
                </a:extLst>
              </a:tr>
              <a:tr h="190500">
                <a:tc>
                  <a:txBody>
                    <a:bodyPr/>
                    <a:lstStyle/>
                    <a:p>
                      <a:pPr algn="l" fontAlgn="b"/>
                      <a:r>
                        <a:rPr lang="en-US" sz="2400" b="0" i="0" u="none" strike="noStrike">
                          <a:solidFill>
                            <a:srgbClr val="000000"/>
                          </a:solidFill>
                          <a:effectLst/>
                          <a:latin typeface="Calibri" panose="020F0502020204030204" pitchFamily="34" charset="0"/>
                        </a:rPr>
                        <a:t>250_bp_1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13874"/>
                  </a:ext>
                </a:extLst>
              </a:tr>
              <a:tr h="190500">
                <a:tc>
                  <a:txBody>
                    <a:bodyPr/>
                    <a:lstStyle/>
                    <a:p>
                      <a:pPr algn="l" fontAlgn="b"/>
                      <a:r>
                        <a:rPr lang="en-US" sz="2400" b="0" i="0" u="none" strike="noStrike">
                          <a:solidFill>
                            <a:srgbClr val="000000"/>
                          </a:solidFill>
                          <a:effectLst/>
                          <a:latin typeface="Calibri" panose="020F0502020204030204" pitchFamily="34" charset="0"/>
                        </a:rPr>
                        <a:t>250_bp_2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40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5179037"/>
                  </a:ext>
                </a:extLst>
              </a:tr>
              <a:tr h="190500">
                <a:tc>
                  <a:txBody>
                    <a:bodyPr/>
                    <a:lstStyle/>
                    <a:p>
                      <a:pPr algn="l" fontAlgn="b"/>
                      <a:r>
                        <a:rPr lang="en-US" sz="2400" b="0" i="0" u="none" strike="noStrike">
                          <a:solidFill>
                            <a:srgbClr val="000000"/>
                          </a:solidFill>
                          <a:effectLst/>
                          <a:latin typeface="Calibri" panose="020F0502020204030204" pitchFamily="34" charset="0"/>
                        </a:rPr>
                        <a:t>10K_bp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1000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a:solidFill>
                            <a:srgbClr val="000000"/>
                          </a:solidFill>
                          <a:effectLst/>
                          <a:latin typeface="Calibri" panose="020F0502020204030204" pitchFamily="34" charset="0"/>
                        </a:rPr>
                        <a:t>E = 2000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2400" b="0" i="0" u="none" strike="noStrike" dirty="0">
                          <a:solidFill>
                            <a:srgbClr val="000000"/>
                          </a:solidFill>
                          <a:effectLst/>
                          <a:latin typeface="Calibri" panose="020F0502020204030204" pitchFamily="34" charset="0"/>
                        </a:rPr>
                        <a:t>E = 5000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611149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4590709" y="5138742"/>
            <a:ext cx="9695769" cy="0"/>
          </a:xfrm>
          <a:prstGeom prst="line">
            <a:avLst/>
          </a:prstGeom>
          <a:ln w="38100" cap="flat">
            <a:solidFill>
              <a:srgbClr val="22466B"/>
            </a:solidFill>
            <a:prstDash val="solid"/>
            <a:headEnd type="none" w="sm" len="sm"/>
            <a:tailEnd type="none" w="sm" len="sm"/>
          </a:ln>
        </p:spPr>
      </p:sp>
      <p:sp>
        <p:nvSpPr>
          <p:cNvPr id="3" name="AutoShape 3"/>
          <p:cNvSpPr/>
          <p:nvPr/>
        </p:nvSpPr>
        <p:spPr>
          <a:xfrm rot="-10800000">
            <a:off x="257175" y="290857"/>
            <a:ext cx="17782493" cy="0"/>
          </a:xfrm>
          <a:prstGeom prst="line">
            <a:avLst/>
          </a:prstGeom>
          <a:ln w="38100" cap="flat">
            <a:solidFill>
              <a:srgbClr val="000000"/>
            </a:solidFill>
            <a:prstDash val="solid"/>
            <a:headEnd type="none" w="sm" len="sm"/>
            <a:tailEnd type="none" w="sm" len="sm"/>
          </a:ln>
        </p:spPr>
      </p:sp>
      <p:sp>
        <p:nvSpPr>
          <p:cNvPr id="4" name="AutoShape 4"/>
          <p:cNvSpPr/>
          <p:nvPr/>
        </p:nvSpPr>
        <p:spPr>
          <a:xfrm rot="-10800000">
            <a:off x="257175" y="10005676"/>
            <a:ext cx="17687243" cy="0"/>
          </a:xfrm>
          <a:prstGeom prst="line">
            <a:avLst/>
          </a:prstGeom>
          <a:ln w="38100" cap="flat">
            <a:solidFill>
              <a:srgbClr val="000000"/>
            </a:solidFill>
            <a:prstDash val="solid"/>
            <a:headEnd type="none" w="sm" len="sm"/>
            <a:tailEnd type="none" w="sm" len="sm"/>
          </a:ln>
        </p:spPr>
      </p:sp>
      <p:sp>
        <p:nvSpPr>
          <p:cNvPr id="5" name="AutoShape 5"/>
          <p:cNvSpPr/>
          <p:nvPr/>
        </p:nvSpPr>
        <p:spPr>
          <a:xfrm rot="5400000">
            <a:off x="13032072" y="5298454"/>
            <a:ext cx="9977093" cy="0"/>
          </a:xfrm>
          <a:prstGeom prst="line">
            <a:avLst/>
          </a:prstGeom>
          <a:ln w="38100" cap="flat">
            <a:solidFill>
              <a:srgbClr val="22466B"/>
            </a:solidFill>
            <a:prstDash val="solid"/>
            <a:headEnd type="none" w="sm" len="sm"/>
            <a:tailEnd type="none" w="sm" len="sm"/>
          </a:ln>
        </p:spPr>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363603" y="5670805"/>
            <a:ext cx="5644895" cy="5644895"/>
          </a:xfrm>
          <a:prstGeom prst="rect">
            <a:avLst/>
          </a:prstGeom>
        </p:spPr>
      </p:pic>
      <p:sp>
        <p:nvSpPr>
          <p:cNvPr id="7" name="TextBox 7"/>
          <p:cNvSpPr txBox="1"/>
          <p:nvPr/>
        </p:nvSpPr>
        <p:spPr>
          <a:xfrm>
            <a:off x="1028700" y="1340877"/>
            <a:ext cx="15238548" cy="1783730"/>
          </a:xfrm>
          <a:prstGeom prst="rect">
            <a:avLst/>
          </a:prstGeom>
        </p:spPr>
        <p:txBody>
          <a:bodyPr lIns="0" tIns="0" rIns="0" bIns="0" rtlCol="0" anchor="t">
            <a:spAutoFit/>
          </a:bodyPr>
          <a:lstStyle/>
          <a:p>
            <a:pPr>
              <a:lnSpc>
                <a:spcPts val="14559"/>
              </a:lnSpc>
              <a:spcBef>
                <a:spcPct val="0"/>
              </a:spcBef>
            </a:pPr>
            <a:r>
              <a:rPr lang="en-US" sz="10399">
                <a:solidFill>
                  <a:srgbClr val="22466B"/>
                </a:solidFill>
                <a:latin typeface="Source Han Serif JP Bold"/>
              </a:rPr>
              <a:t>CPU Implementation</a:t>
            </a:r>
          </a:p>
        </p:txBody>
      </p:sp>
      <p:sp>
        <p:nvSpPr>
          <p:cNvPr id="8" name="TextBox 8"/>
          <p:cNvSpPr txBox="1"/>
          <p:nvPr/>
        </p:nvSpPr>
        <p:spPr>
          <a:xfrm>
            <a:off x="1238802" y="3716910"/>
            <a:ext cx="13718041" cy="3268345"/>
          </a:xfrm>
          <a:prstGeom prst="rect">
            <a:avLst/>
          </a:prstGeom>
        </p:spPr>
        <p:txBody>
          <a:bodyPr lIns="0" tIns="0" rIns="0" bIns="0" rtlCol="0" anchor="t">
            <a:spAutoFit/>
          </a:bodyPr>
          <a:lstStyle/>
          <a:p>
            <a:pPr>
              <a:lnSpc>
                <a:spcPts val="5179"/>
              </a:lnSpc>
            </a:pPr>
            <a:r>
              <a:rPr lang="en-US" sz="3699" dirty="0">
                <a:solidFill>
                  <a:srgbClr val="000000"/>
                </a:solidFill>
                <a:latin typeface="Times Neue Roman"/>
              </a:rPr>
              <a:t>01 |  Functional Hierarchy </a:t>
            </a:r>
          </a:p>
          <a:p>
            <a:pPr>
              <a:lnSpc>
                <a:spcPts val="5179"/>
              </a:lnSpc>
            </a:pPr>
            <a:r>
              <a:rPr lang="en-US" sz="3699" dirty="0">
                <a:solidFill>
                  <a:srgbClr val="000000"/>
                </a:solidFill>
                <a:latin typeface="Times Neue Roman"/>
              </a:rPr>
              <a:t>02 |  Pseudo Code</a:t>
            </a:r>
          </a:p>
          <a:p>
            <a:pPr>
              <a:lnSpc>
                <a:spcPts val="5179"/>
              </a:lnSpc>
            </a:pPr>
            <a:r>
              <a:rPr lang="en-US" sz="3699" dirty="0">
                <a:solidFill>
                  <a:srgbClr val="000000"/>
                </a:solidFill>
                <a:latin typeface="Times Neue Roman"/>
              </a:rPr>
              <a:t>03 |  Multi-threading via OpenMP</a:t>
            </a:r>
          </a:p>
          <a:p>
            <a:pPr>
              <a:lnSpc>
                <a:spcPts val="5179"/>
              </a:lnSpc>
            </a:pPr>
            <a:r>
              <a:rPr lang="en-US" sz="3699" dirty="0">
                <a:solidFill>
                  <a:srgbClr val="000000"/>
                </a:solidFill>
                <a:latin typeface="Times Neue Roman"/>
              </a:rPr>
              <a:t>04 |  Hardware Used</a:t>
            </a:r>
          </a:p>
          <a:p>
            <a:pPr>
              <a:lnSpc>
                <a:spcPts val="5179"/>
              </a:lnSpc>
            </a:pPr>
            <a:r>
              <a:rPr lang="en-US" sz="3699" dirty="0">
                <a:solidFill>
                  <a:srgbClr val="000000"/>
                </a:solidFill>
                <a:latin typeface="Times Neue Roman"/>
              </a:rPr>
              <a:t>05 |  Software Requirement </a:t>
            </a: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1614405" y="7464553"/>
            <a:ext cx="5644895" cy="56448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2013526" y="2621804"/>
            <a:ext cx="14548492" cy="4294048"/>
          </a:xfrm>
          <a:prstGeom prst="rect">
            <a:avLst/>
          </a:prstGeom>
        </p:spPr>
      </p:pic>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20</a:t>
            </a:r>
          </a:p>
        </p:txBody>
      </p:sp>
      <p:sp>
        <p:nvSpPr>
          <p:cNvPr id="12" name="TextBox 12"/>
          <p:cNvSpPr txBox="1"/>
          <p:nvPr/>
        </p:nvSpPr>
        <p:spPr>
          <a:xfrm>
            <a:off x="13606893" y="9486900"/>
            <a:ext cx="4604907" cy="371897"/>
          </a:xfrm>
          <a:prstGeom prst="rect">
            <a:avLst/>
          </a:prstGeom>
        </p:spPr>
        <p:txBody>
          <a:bodyPr wrap="square" lIns="0" tIns="0" rIns="0" bIns="0" rtlCol="0" anchor="t">
            <a:spAutoFit/>
          </a:bodyPr>
          <a:lstStyle/>
          <a:p>
            <a:pPr>
              <a:lnSpc>
                <a:spcPts val="2870"/>
              </a:lnSpc>
            </a:pPr>
            <a:r>
              <a:rPr lang="en-US" sz="2800" dirty="0">
                <a:solidFill>
                  <a:srgbClr val="FFFFFF"/>
                </a:solidFill>
                <a:latin typeface="Open Sans Light Bold"/>
              </a:rPr>
              <a:t>05. CPU Implementation</a:t>
            </a:r>
          </a:p>
        </p:txBody>
      </p:sp>
      <p:sp>
        <p:nvSpPr>
          <p:cNvPr id="13" name="TextBox 13"/>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a:rPr>
              <a:t>Functional Hierarchy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21</a:t>
            </a:r>
          </a:p>
        </p:txBody>
      </p:sp>
      <p:sp>
        <p:nvSpPr>
          <p:cNvPr id="13" name="TextBox 13"/>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Bold"/>
              </a:rPr>
              <a:t>Pseudo Code</a:t>
            </a:r>
          </a:p>
        </p:txBody>
      </p:sp>
      <p:sp>
        <p:nvSpPr>
          <p:cNvPr id="14" name="TextBox 14"/>
          <p:cNvSpPr txBox="1"/>
          <p:nvPr/>
        </p:nvSpPr>
        <p:spPr>
          <a:xfrm>
            <a:off x="1028700" y="1868187"/>
            <a:ext cx="16230600" cy="488316"/>
          </a:xfrm>
          <a:prstGeom prst="rect">
            <a:avLst/>
          </a:prstGeom>
        </p:spPr>
        <p:txBody>
          <a:bodyPr lIns="0" tIns="0" rIns="0" bIns="0" rtlCol="0" anchor="t">
            <a:spAutoFit/>
          </a:bodyPr>
          <a:lstStyle/>
          <a:p>
            <a:pPr algn="just">
              <a:lnSpc>
                <a:spcPts val="4059"/>
              </a:lnSpc>
            </a:pPr>
            <a:r>
              <a:rPr lang="en-US" sz="2899">
                <a:solidFill>
                  <a:srgbClr val="000000"/>
                </a:solidFill>
                <a:latin typeface="Source Han Serif JP Bold"/>
              </a:rPr>
              <a:t>Inputs and Outputs</a:t>
            </a:r>
          </a:p>
        </p:txBody>
      </p:sp>
      <p:sp>
        <p:nvSpPr>
          <p:cNvPr id="15" name="TextBox 12">
            <a:extLst>
              <a:ext uri="{FF2B5EF4-FFF2-40B4-BE49-F238E27FC236}">
                <a16:creationId xmlns:a16="http://schemas.microsoft.com/office/drawing/2014/main" id="{3406CFF0-A88B-2AA4-3394-9B180AB0A624}"/>
              </a:ext>
            </a:extLst>
          </p:cNvPr>
          <p:cNvSpPr txBox="1"/>
          <p:nvPr/>
        </p:nvSpPr>
        <p:spPr>
          <a:xfrm>
            <a:off x="13606893" y="9486900"/>
            <a:ext cx="4604907" cy="371897"/>
          </a:xfrm>
          <a:prstGeom prst="rect">
            <a:avLst/>
          </a:prstGeom>
        </p:spPr>
        <p:txBody>
          <a:bodyPr wrap="square" lIns="0" tIns="0" rIns="0" bIns="0" rtlCol="0" anchor="t">
            <a:spAutoFit/>
          </a:bodyPr>
          <a:lstStyle/>
          <a:p>
            <a:pPr>
              <a:lnSpc>
                <a:spcPts val="2870"/>
              </a:lnSpc>
            </a:pPr>
            <a:r>
              <a:rPr lang="en-US" sz="2800" dirty="0">
                <a:solidFill>
                  <a:srgbClr val="FFFFFF"/>
                </a:solidFill>
                <a:latin typeface="Open Sans Light Bold"/>
              </a:rPr>
              <a:t>05. CPU Implementation</a:t>
            </a:r>
          </a:p>
        </p:txBody>
      </p:sp>
      <p:graphicFrame>
        <p:nvGraphicFramePr>
          <p:cNvPr id="12" name="Table 15">
            <a:extLst>
              <a:ext uri="{FF2B5EF4-FFF2-40B4-BE49-F238E27FC236}">
                <a16:creationId xmlns:a16="http://schemas.microsoft.com/office/drawing/2014/main" id="{700C81EA-4C61-B8B7-CEE0-B4E06BC46B62}"/>
              </a:ext>
            </a:extLst>
          </p:cNvPr>
          <p:cNvGraphicFramePr>
            <a:graphicFrameLocks noGrp="1"/>
          </p:cNvGraphicFramePr>
          <p:nvPr>
            <p:extLst>
              <p:ext uri="{D42A27DB-BD31-4B8C-83A1-F6EECF244321}">
                <p14:modId xmlns:p14="http://schemas.microsoft.com/office/powerpoint/2010/main" val="2354268497"/>
              </p:ext>
            </p:extLst>
          </p:nvPr>
        </p:nvGraphicFramePr>
        <p:xfrm>
          <a:off x="1138677" y="2763908"/>
          <a:ext cx="16086600" cy="5810703"/>
        </p:xfrm>
        <a:graphic>
          <a:graphicData uri="http://schemas.openxmlformats.org/drawingml/2006/table">
            <a:tbl>
              <a:tblPr firstRow="1" bandRow="1">
                <a:tableStyleId>{2D5ABB26-0587-4C30-8999-92F81FD0307C}</a:tableStyleId>
              </a:tblPr>
              <a:tblGrid>
                <a:gridCol w="4021650">
                  <a:extLst>
                    <a:ext uri="{9D8B030D-6E8A-4147-A177-3AD203B41FA5}">
                      <a16:colId xmlns:a16="http://schemas.microsoft.com/office/drawing/2014/main" val="1657229062"/>
                    </a:ext>
                  </a:extLst>
                </a:gridCol>
                <a:gridCol w="4021650">
                  <a:extLst>
                    <a:ext uri="{9D8B030D-6E8A-4147-A177-3AD203B41FA5}">
                      <a16:colId xmlns:a16="http://schemas.microsoft.com/office/drawing/2014/main" val="3060613539"/>
                    </a:ext>
                  </a:extLst>
                </a:gridCol>
                <a:gridCol w="4021650">
                  <a:extLst>
                    <a:ext uri="{9D8B030D-6E8A-4147-A177-3AD203B41FA5}">
                      <a16:colId xmlns:a16="http://schemas.microsoft.com/office/drawing/2014/main" val="3626796170"/>
                    </a:ext>
                  </a:extLst>
                </a:gridCol>
                <a:gridCol w="4021650">
                  <a:extLst>
                    <a:ext uri="{9D8B030D-6E8A-4147-A177-3AD203B41FA5}">
                      <a16:colId xmlns:a16="http://schemas.microsoft.com/office/drawing/2014/main" val="3803408133"/>
                    </a:ext>
                  </a:extLst>
                </a:gridCol>
              </a:tblGrid>
              <a:tr h="565301">
                <a:tc>
                  <a:txBody>
                    <a:bodyPr/>
                    <a:lstStyle/>
                    <a:p>
                      <a:r>
                        <a:rPr lang="en-US" sz="3200" b="1">
                          <a:latin typeface="Times Neue Roman" panose="020B0604020202020204" charset="0"/>
                        </a:rPr>
                        <a:t>Variable Name</a:t>
                      </a:r>
                      <a:endParaRPr lang="en-US" sz="3200" b="1"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3200" b="1" dirty="0">
                          <a:latin typeface="Times Neue Roman" panose="020B0604020202020204" charset="0"/>
                        </a:rPr>
                        <a:t>Datatype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3200" b="1" dirty="0">
                          <a:latin typeface="Times Neue Roman" panose="020B0604020202020204" charset="0"/>
                        </a:rPr>
                        <a:t>Input/Output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3200" b="1" dirty="0">
                          <a:latin typeface="Times Neue Roman" panose="020B0604020202020204" charset="0"/>
                        </a:rPr>
                        <a:t>Contains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7810250"/>
                  </a:ext>
                </a:extLst>
              </a:tr>
              <a:tr h="565301">
                <a:tc>
                  <a:txBody>
                    <a:bodyPr/>
                    <a:lstStyle/>
                    <a:p>
                      <a:r>
                        <a:rPr lang="en-US" sz="2600" dirty="0" err="1">
                          <a:latin typeface="Times Neue Roman" panose="020B0604020202020204" charset="0"/>
                        </a:rPr>
                        <a:t>readfile</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err="1">
                          <a:latin typeface="Times Neue Roman" panose="020B0604020202020204" charset="0"/>
                        </a:rPr>
                        <a:t>fstream</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600" kern="1200" dirty="0">
                          <a:solidFill>
                            <a:schemeClr val="dk1"/>
                          </a:solidFill>
                          <a:effectLst/>
                          <a:latin typeface="Times Neue Roman" panose="020B0604020202020204" charset="0"/>
                        </a:rPr>
                        <a:t>The read data is contained</a:t>
                      </a:r>
                      <a:br>
                        <a:rPr lang="en-GB" sz="2600" dirty="0">
                          <a:latin typeface="Times Neue Roman" panose="020B0604020202020204" charset="0"/>
                        </a:rPr>
                      </a:br>
                      <a:r>
                        <a:rPr lang="en-GB" sz="2600" kern="1200" dirty="0">
                          <a:solidFill>
                            <a:schemeClr val="dk1"/>
                          </a:solidFill>
                          <a:effectLst/>
                          <a:latin typeface="Times Neue Roman" panose="020B0604020202020204" charset="0"/>
                        </a:rPr>
                        <a:t>within this data structure</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5143500"/>
                  </a:ext>
                </a:extLst>
              </a:tr>
              <a:tr h="565301">
                <a:tc>
                  <a:txBody>
                    <a:bodyPr/>
                    <a:lstStyle/>
                    <a:p>
                      <a:r>
                        <a:rPr lang="en-US" sz="2600" dirty="0">
                          <a:latin typeface="Times Neue Roman" panose="020B0604020202020204"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600" kern="1200" dirty="0">
                          <a:solidFill>
                            <a:schemeClr val="dk1"/>
                          </a:solidFill>
                          <a:effectLst/>
                          <a:latin typeface="Times Neue Roman" panose="020B0604020202020204" charset="0"/>
                        </a:rPr>
                        <a:t>Total bases present in a</a:t>
                      </a:r>
                      <a:br>
                        <a:rPr lang="en-GB" sz="2600" dirty="0">
                          <a:latin typeface="Times Neue Roman" panose="020B0604020202020204" charset="0"/>
                        </a:rPr>
                      </a:br>
                      <a:r>
                        <a:rPr lang="en-GB" sz="2600" kern="1200" dirty="0">
                          <a:solidFill>
                            <a:schemeClr val="dk1"/>
                          </a:solidFill>
                          <a:effectLst/>
                          <a:latin typeface="Times Neue Roman" panose="020B0604020202020204" charset="0"/>
                        </a:rPr>
                        <a:t>read (read length)</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207756"/>
                  </a:ext>
                </a:extLst>
              </a:tr>
              <a:tr h="565301">
                <a:tc>
                  <a:txBody>
                    <a:bodyPr/>
                    <a:lstStyle/>
                    <a:p>
                      <a:r>
                        <a:rPr lang="en-US" sz="2600" dirty="0">
                          <a:latin typeface="Times Neue Roman" panose="020B0604020202020204" charset="0"/>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kern="1200" dirty="0">
                          <a:solidFill>
                            <a:schemeClr val="dk1"/>
                          </a:solidFill>
                          <a:effectLst/>
                          <a:latin typeface="Times Neue Roman" panose="020B0604020202020204" charset="0"/>
                        </a:rPr>
                        <a:t>Edit Distance Threshold</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8238785"/>
                  </a:ext>
                </a:extLst>
              </a:tr>
              <a:tr h="565301">
                <a:tc>
                  <a:txBody>
                    <a:bodyPr/>
                    <a:lstStyle/>
                    <a:p>
                      <a:r>
                        <a:rPr lang="en-US" sz="2600" dirty="0">
                          <a:latin typeface="Times Neue Roman" panose="020B0604020202020204" charset="0"/>
                        </a:rPr>
                        <a:t>threads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600" kern="1200" dirty="0">
                          <a:solidFill>
                            <a:schemeClr val="dk1"/>
                          </a:solidFill>
                          <a:effectLst/>
                          <a:latin typeface="Times Neue Roman" panose="020B0604020202020204" charset="0"/>
                        </a:rPr>
                        <a:t>No of threads to be used</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94773132"/>
                  </a:ext>
                </a:extLst>
              </a:tr>
              <a:tr h="565301">
                <a:tc>
                  <a:txBody>
                    <a:bodyPr/>
                    <a:lstStyle/>
                    <a:p>
                      <a:r>
                        <a:rPr lang="en-US" sz="2600" dirty="0">
                          <a:latin typeface="Times Neue Roman" panose="020B0604020202020204" charset="0"/>
                        </a:rPr>
                        <a:t>lines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kern="1200" dirty="0">
                          <a:solidFill>
                            <a:schemeClr val="dk1"/>
                          </a:solidFill>
                          <a:effectLst/>
                          <a:latin typeface="Times Neue Roman" panose="020B0604020202020204" charset="0"/>
                        </a:rPr>
                        <a:t>Total number of reads</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0593265"/>
                  </a:ext>
                </a:extLst>
              </a:tr>
              <a:tr h="565301">
                <a:tc>
                  <a:txBody>
                    <a:bodyPr/>
                    <a:lstStyle/>
                    <a:p>
                      <a:r>
                        <a:rPr lang="en-US" sz="2600" dirty="0" err="1">
                          <a:latin typeface="Times Neue Roman" panose="020B0604020202020204" charset="0"/>
                        </a:rPr>
                        <a:t>accepted_sum</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600" kern="1200" dirty="0">
                          <a:solidFill>
                            <a:schemeClr val="dk1"/>
                          </a:solidFill>
                          <a:effectLst/>
                          <a:latin typeface="Times Neue Roman" panose="020B0604020202020204" charset="0"/>
                        </a:rPr>
                        <a:t>Total number of reads accepted</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6895211"/>
                  </a:ext>
                </a:extLst>
              </a:tr>
              <a:tr h="565301">
                <a:tc>
                  <a:txBody>
                    <a:bodyPr/>
                    <a:lstStyle/>
                    <a:p>
                      <a:r>
                        <a:rPr lang="en-US" sz="2600" dirty="0" err="1">
                          <a:latin typeface="Times Neue Roman" panose="020B0604020202020204" charset="0"/>
                        </a:rPr>
                        <a:t>rejected_sum</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int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600" dirty="0">
                          <a:latin typeface="Times Neue Roman" panose="020B0604020202020204" charset="0"/>
                        </a:rPr>
                        <a:t>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600" kern="1200" dirty="0">
                          <a:solidFill>
                            <a:schemeClr val="dk1"/>
                          </a:solidFill>
                          <a:effectLst/>
                          <a:latin typeface="Times Neue Roman" panose="020B0604020202020204" charset="0"/>
                        </a:rPr>
                        <a:t>Total number of reads rejected</a:t>
                      </a:r>
                      <a:endParaRPr lang="en-US" sz="26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527684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22</a:t>
            </a:r>
          </a:p>
        </p:txBody>
      </p:sp>
      <p:sp>
        <p:nvSpPr>
          <p:cNvPr id="13" name="TextBox 13"/>
          <p:cNvSpPr txBox="1"/>
          <p:nvPr/>
        </p:nvSpPr>
        <p:spPr>
          <a:xfrm>
            <a:off x="842486" y="586583"/>
            <a:ext cx="5856605" cy="563879"/>
          </a:xfrm>
          <a:prstGeom prst="rect">
            <a:avLst/>
          </a:prstGeom>
        </p:spPr>
        <p:txBody>
          <a:bodyPr lIns="0" tIns="0" rIns="0" bIns="0" rtlCol="0" anchor="t">
            <a:spAutoFit/>
          </a:bodyPr>
          <a:lstStyle/>
          <a:p>
            <a:pPr algn="ctr">
              <a:lnSpc>
                <a:spcPts val="4620"/>
              </a:lnSpc>
            </a:pPr>
            <a:r>
              <a:rPr lang="en-US" sz="3300">
                <a:solidFill>
                  <a:srgbClr val="000000"/>
                </a:solidFill>
                <a:latin typeface="Garet Bold"/>
              </a:rPr>
              <a:t>Algorithm 1 : Sneaky Snake</a:t>
            </a:r>
          </a:p>
        </p:txBody>
      </p:sp>
      <p:sp>
        <p:nvSpPr>
          <p:cNvPr id="14" name="TextBox 12">
            <a:extLst>
              <a:ext uri="{FF2B5EF4-FFF2-40B4-BE49-F238E27FC236}">
                <a16:creationId xmlns:a16="http://schemas.microsoft.com/office/drawing/2014/main" id="{DC291B49-605B-EC91-D500-14E7C0A7BE41}"/>
              </a:ext>
            </a:extLst>
          </p:cNvPr>
          <p:cNvSpPr txBox="1"/>
          <p:nvPr/>
        </p:nvSpPr>
        <p:spPr>
          <a:xfrm>
            <a:off x="13606893" y="9486900"/>
            <a:ext cx="4604907" cy="371897"/>
          </a:xfrm>
          <a:prstGeom prst="rect">
            <a:avLst/>
          </a:prstGeom>
        </p:spPr>
        <p:txBody>
          <a:bodyPr wrap="square" lIns="0" tIns="0" rIns="0" bIns="0" rtlCol="0" anchor="t">
            <a:spAutoFit/>
          </a:bodyPr>
          <a:lstStyle/>
          <a:p>
            <a:pPr>
              <a:lnSpc>
                <a:spcPts val="2870"/>
              </a:lnSpc>
            </a:pPr>
            <a:r>
              <a:rPr lang="en-US" sz="2800" dirty="0">
                <a:solidFill>
                  <a:srgbClr val="FFFFFF"/>
                </a:solidFill>
                <a:latin typeface="Open Sans Light Bold"/>
              </a:rPr>
              <a:t>05. CPU Implementation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D14E751-D0F5-6A2B-E66E-278AD7EFED4E}"/>
                  </a:ext>
                </a:extLst>
              </p:cNvPr>
              <p:cNvSpPr txBox="1"/>
              <p:nvPr/>
            </p:nvSpPr>
            <p:spPr>
              <a:xfrm>
                <a:off x="1448381" y="2120422"/>
                <a:ext cx="15391237" cy="5308313"/>
              </a:xfrm>
              <a:prstGeom prst="rect">
                <a:avLst/>
              </a:prstGeom>
            </p:spPr>
            <p:txBody>
              <a:bodyPr wrap="square" lIns="0" tIns="0" rIns="0" bIns="0" rtlCol="0" anchor="t">
                <a:spAutoFit/>
              </a:bodyPr>
              <a:lstStyle/>
              <a:p>
                <a:pPr>
                  <a:lnSpc>
                    <a:spcPts val="3219"/>
                  </a:lnSpc>
                  <a:spcBef>
                    <a:spcPct val="0"/>
                  </a:spcBef>
                </a:pPr>
                <a:r>
                  <a:rPr lang="en-US" sz="2800" b="1" dirty="0">
                    <a:effectLst/>
                    <a:latin typeface="Mongolian Baiti" panose="03000500000000000000" pitchFamily="66" charset="0"/>
                    <a:cs typeface="Mongolian Baiti" panose="03000500000000000000" pitchFamily="66" charset="0"/>
                  </a:rPr>
                  <a:t>Input: </a:t>
                </a:r>
                <a:r>
                  <a:rPr lang="en-GB" sz="2800" dirty="0">
                    <a:effectLst/>
                    <a:latin typeface="Mongolian Baiti" panose="03000500000000000000" pitchFamily="66" charset="0"/>
                    <a:cs typeface="Mongolian Baiti" panose="03000500000000000000" pitchFamily="66" charset="0"/>
                  </a:rPr>
                  <a:t>Reference Read (R), Query Read (Q), Edit Distance Threshold (E)</a:t>
                </a:r>
              </a:p>
              <a:p>
                <a:pPr>
                  <a:lnSpc>
                    <a:spcPts val="3219"/>
                  </a:lnSpc>
                  <a:spcBef>
                    <a:spcPct val="0"/>
                  </a:spcBef>
                </a:pPr>
                <a:r>
                  <a:rPr lang="en-US" sz="2800" b="1" dirty="0">
                    <a:effectLst/>
                    <a:latin typeface="Mongolian Baiti" panose="03000500000000000000" pitchFamily="66" charset="0"/>
                    <a:cs typeface="Mongolian Baiti" panose="03000500000000000000" pitchFamily="66" charset="0"/>
                  </a:rPr>
                  <a:t>Output : </a:t>
                </a:r>
                <a:r>
                  <a:rPr lang="en-GB" sz="2800" dirty="0">
                    <a:effectLst/>
                    <a:latin typeface="Mongolian Baiti" panose="03000500000000000000" pitchFamily="66" charset="0"/>
                    <a:cs typeface="Mongolian Baiti" panose="03000500000000000000" pitchFamily="66" charset="0"/>
                  </a:rPr>
                  <a:t>0 for rejected read and 1 for accepted reads</a:t>
                </a:r>
              </a:p>
              <a:p>
                <a:pPr>
                  <a:lnSpc>
                    <a:spcPts val="3219"/>
                  </a:lnSpc>
                  <a:spcBef>
                    <a:spcPct val="0"/>
                  </a:spcBef>
                </a:pPr>
                <a:r>
                  <a:rPr lang="en-US" sz="2800" dirty="0">
                    <a:effectLst/>
                    <a:latin typeface="Mongolian Baiti" panose="03000500000000000000" pitchFamily="66" charset="0"/>
                    <a:cs typeface="Mongolian Baiti" panose="03000500000000000000" pitchFamily="66" charset="0"/>
                  </a:rPr>
                  <a:t>	</a:t>
                </a:r>
                <a:r>
                  <a:rPr lang="en-US" sz="2800" b="1" dirty="0">
                    <a:effectLst/>
                    <a:latin typeface="Mongolian Baiti" panose="03000500000000000000" pitchFamily="66" charset="0"/>
                    <a:cs typeface="Mongolian Baiti" panose="03000500000000000000" pitchFamily="66" charset="0"/>
                  </a:rPr>
                  <a:t>while </a:t>
                </a:r>
                <a:r>
                  <a:rPr lang="en-US" sz="2800" dirty="0">
                    <a:effectLst/>
                    <a:latin typeface="Mongolian Baiti" panose="03000500000000000000" pitchFamily="66" charset="0"/>
                    <a:cs typeface="Mongolian Baiti" panose="03000500000000000000" pitchFamily="66" charset="0"/>
                  </a:rPr>
                  <a:t>checkpoint &lt; N &amp; </a:t>
                </a:r>
                <a:r>
                  <a:rPr lang="en-US" sz="2800" dirty="0" err="1">
                    <a:latin typeface="Mongolian Baiti" panose="03000500000000000000" pitchFamily="66" charset="0"/>
                    <a:cs typeface="Mongolian Baiti" panose="03000500000000000000" pitchFamily="66" charset="0"/>
                  </a:rPr>
                  <a:t>pr</a:t>
                </a:r>
                <a:r>
                  <a:rPr lang="en-US" sz="2800" dirty="0" err="1">
                    <a:effectLst/>
                    <a:latin typeface="Mongolian Baiti" panose="03000500000000000000" pitchFamily="66" charset="0"/>
                    <a:cs typeface="Mongolian Baiti" panose="03000500000000000000" pitchFamily="66" charset="0"/>
                  </a:rPr>
                  <a:t>opagationDelay</a:t>
                </a:r>
                <a:r>
                  <a:rPr lang="en-US" sz="2800" dirty="0">
                    <a:effectLst/>
                    <a:latin typeface="Mongolian Baiti" panose="03000500000000000000" pitchFamily="66" charset="0"/>
                    <a:cs typeface="Mongolian Baiti" panose="03000500000000000000" pitchFamily="66" charset="0"/>
                  </a:rPr>
                  <a:t> &lt; E </a:t>
                </a:r>
                <a:r>
                  <a:rPr lang="en-US" sz="2800" b="1" dirty="0">
                    <a:effectLst/>
                    <a:latin typeface="Mongolian Baiti" panose="03000500000000000000" pitchFamily="66" charset="0"/>
                    <a:cs typeface="Mongolian Baiti" panose="03000500000000000000" pitchFamily="66" charset="0"/>
                  </a:rPr>
                  <a:t>do</a:t>
                </a:r>
              </a:p>
              <a:p>
                <a:pPr>
                  <a:lnSpc>
                    <a:spcPts val="3219"/>
                  </a:lnSpc>
                  <a:spcBef>
                    <a:spcPct val="0"/>
                  </a:spcBef>
                </a:pPr>
                <a:r>
                  <a:rPr lang="en-US" sz="2800" b="1" dirty="0">
                    <a:latin typeface="Mongolian Baiti" panose="03000500000000000000" pitchFamily="66" charset="0"/>
                    <a:cs typeface="Mongolian Baiti" panose="03000500000000000000" pitchFamily="66" charset="0"/>
                  </a:rPr>
                  <a:t>	call </a:t>
                </a:r>
                <a:r>
                  <a:rPr lang="en-US" sz="2800" dirty="0" err="1">
                    <a:latin typeface="Mongolian Baiti" panose="03000500000000000000" pitchFamily="66" charset="0"/>
                    <a:cs typeface="Mongolian Baiti" panose="03000500000000000000" pitchFamily="66" charset="0"/>
                  </a:rPr>
                  <a:t>UpperRow</a:t>
                </a:r>
                <a:r>
                  <a:rPr lang="en-US" sz="2800" dirty="0">
                    <a:latin typeface="Mongolian Baiti" panose="03000500000000000000" pitchFamily="66" charset="0"/>
                    <a:cs typeface="Mongolian Baiti" panose="03000500000000000000" pitchFamily="66" charset="0"/>
                  </a:rPr>
                  <a:t> to obtain </a:t>
                </a:r>
                <a:r>
                  <a:rPr lang="en-US" sz="2800" dirty="0" err="1">
                    <a:latin typeface="Mongolian Baiti" panose="03000500000000000000" pitchFamily="66" charset="0"/>
                    <a:cs typeface="Mongolian Baiti" panose="03000500000000000000" pitchFamily="66" charset="0"/>
                  </a:rPr>
                  <a:t>longest_es_Seg</a:t>
                </a:r>
                <a:endParaRPr lang="en-US" sz="2800" dirty="0">
                  <a:latin typeface="Mongolian Baiti" panose="03000500000000000000" pitchFamily="66" charset="0"/>
                  <a:cs typeface="Mongolian Baiti" panose="03000500000000000000" pitchFamily="66" charset="0"/>
                </a:endParaRPr>
              </a:p>
              <a:p>
                <a:pPr>
                  <a:lnSpc>
                    <a:spcPts val="3219"/>
                  </a:lnSpc>
                  <a:spcBef>
                    <a:spcPct val="0"/>
                  </a:spcBef>
                </a:pPr>
                <a:r>
                  <a:rPr lang="en-US" sz="2800" b="1" dirty="0">
                    <a:effectLst/>
                    <a:latin typeface="Mongolian Baiti" panose="03000500000000000000" pitchFamily="66" charset="0"/>
                    <a:cs typeface="Mongolian Baiti" panose="03000500000000000000" pitchFamily="66" charset="0"/>
                  </a:rPr>
                  <a:t>	</a:t>
                </a:r>
                <a:r>
                  <a:rPr lang="en-US" sz="2800" b="1" dirty="0">
                    <a:latin typeface="Mongolian Baiti" panose="03000500000000000000" pitchFamily="66" charset="0"/>
                    <a:cs typeface="Mongolian Baiti" panose="03000500000000000000" pitchFamily="66" charset="0"/>
                  </a:rPr>
                  <a:t>call </a:t>
                </a:r>
                <a:r>
                  <a:rPr lang="en-US" sz="2800" dirty="0" err="1">
                    <a:latin typeface="Mongolian Baiti" panose="03000500000000000000" pitchFamily="66" charset="0"/>
                    <a:cs typeface="Mongolian Baiti" panose="03000500000000000000" pitchFamily="66" charset="0"/>
                  </a:rPr>
                  <a:t>LowerRow</a:t>
                </a:r>
                <a:r>
                  <a:rPr lang="en-US" sz="2800" dirty="0">
                    <a:latin typeface="Mongolian Baiti" panose="03000500000000000000" pitchFamily="66" charset="0"/>
                    <a:cs typeface="Mongolian Baiti" panose="03000500000000000000" pitchFamily="66" charset="0"/>
                  </a:rPr>
                  <a:t> to obtain </a:t>
                </a:r>
                <a:r>
                  <a:rPr lang="en-US" sz="2800" dirty="0" err="1">
                    <a:latin typeface="Mongolian Baiti" panose="03000500000000000000" pitchFamily="66" charset="0"/>
                    <a:cs typeface="Mongolian Baiti" panose="03000500000000000000" pitchFamily="66" charset="0"/>
                  </a:rPr>
                  <a:t>longest_es_Seg</a:t>
                </a:r>
                <a:endParaRPr lang="en-US" sz="2800" dirty="0">
                  <a:latin typeface="Mongolian Baiti" panose="03000500000000000000" pitchFamily="66" charset="0"/>
                  <a:cs typeface="Mongolian Baiti" panose="03000500000000000000" pitchFamily="66" charset="0"/>
                </a:endParaRPr>
              </a:p>
              <a:p>
                <a:pPr>
                  <a:lnSpc>
                    <a:spcPts val="3219"/>
                  </a:lnSpc>
                  <a:spcBef>
                    <a:spcPct val="0"/>
                  </a:spcBef>
                </a:pPr>
                <a:r>
                  <a:rPr lang="en-US" sz="2800" b="1" dirty="0">
                    <a:effectLst/>
                    <a:latin typeface="Mongolian Baiti" panose="03000500000000000000" pitchFamily="66" charset="0"/>
                    <a:cs typeface="Mongolian Baiti" panose="03000500000000000000" pitchFamily="66" charset="0"/>
                  </a:rPr>
                  <a:t>	</a:t>
                </a:r>
                <a:r>
                  <a:rPr lang="en-US" sz="2800" b="1" dirty="0">
                    <a:latin typeface="Mongolian Baiti" panose="03000500000000000000" pitchFamily="66" charset="0"/>
                    <a:cs typeface="Mongolian Baiti" panose="03000500000000000000" pitchFamily="66" charset="0"/>
                  </a:rPr>
                  <a:t>call </a:t>
                </a:r>
                <a:r>
                  <a:rPr lang="en-US" sz="2800" dirty="0" err="1">
                    <a:latin typeface="Mongolian Baiti" panose="03000500000000000000" pitchFamily="66" charset="0"/>
                    <a:cs typeface="Mongolian Baiti" panose="03000500000000000000" pitchFamily="66" charset="0"/>
                  </a:rPr>
                  <a:t>MainRow</a:t>
                </a:r>
                <a:r>
                  <a:rPr lang="en-US" sz="2800" dirty="0">
                    <a:latin typeface="Mongolian Baiti" panose="03000500000000000000" pitchFamily="66" charset="0"/>
                    <a:cs typeface="Mongolian Baiti" panose="03000500000000000000" pitchFamily="66" charset="0"/>
                  </a:rPr>
                  <a:t> to obtain </a:t>
                </a:r>
                <a:r>
                  <a:rPr lang="en-US" sz="2800" dirty="0" err="1">
                    <a:latin typeface="Mongolian Baiti" panose="03000500000000000000" pitchFamily="66" charset="0"/>
                    <a:cs typeface="Mongolian Baiti" panose="03000500000000000000" pitchFamily="66" charset="0"/>
                  </a:rPr>
                  <a:t>longest_es_Seg</a:t>
                </a:r>
                <a:endParaRPr lang="en-US" sz="2800" dirty="0">
                  <a:latin typeface="Mongolian Baiti" panose="03000500000000000000" pitchFamily="66" charset="0"/>
                  <a:cs typeface="Mongolian Baiti" panose="03000500000000000000" pitchFamily="66" charset="0"/>
                </a:endParaRPr>
              </a:p>
              <a:p>
                <a:pPr>
                  <a:lnSpc>
                    <a:spcPts val="3219"/>
                  </a:lnSpc>
                  <a:spcBef>
                    <a:spcPct val="0"/>
                  </a:spcBef>
                </a:pPr>
                <a:endParaRPr lang="en-US" sz="2800" dirty="0">
                  <a:latin typeface="Mongolian Baiti" panose="03000500000000000000" pitchFamily="66" charset="0"/>
                  <a:cs typeface="Mongolian Baiti" panose="03000500000000000000" pitchFamily="66" charset="0"/>
                </a:endParaRPr>
              </a:p>
              <a:p>
                <a:pPr>
                  <a:lnSpc>
                    <a:spcPts val="3219"/>
                  </a:lnSpc>
                  <a:spcBef>
                    <a:spcPct val="0"/>
                  </a:spcBef>
                </a:pPr>
                <a14:m>
                  <m:oMathPara xmlns:m="http://schemas.openxmlformats.org/officeDocument/2006/math">
                    <m:oMathParaPr>
                      <m:jc m:val="centerGroup"/>
                    </m:oMathParaPr>
                    <m:oMath xmlns:m="http://schemas.openxmlformats.org/officeDocument/2006/math">
                      <m:r>
                        <m:rPr>
                          <m:nor/>
                        </m:rPr>
                        <a:rPr lang="en-US" sz="3600" dirty="0">
                          <a:latin typeface="Monotype Corsiva" panose="03010101010201010101" pitchFamily="66" charset="0"/>
                          <a:cs typeface="Mongolian Baiti" panose="03000500000000000000" pitchFamily="66" charset="0"/>
                        </a:rPr>
                        <m:t>longest</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es</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Seg</m:t>
                      </m:r>
                      <m:r>
                        <m:rPr>
                          <m:nor/>
                        </m:rPr>
                        <a:rPr lang="en-US" sz="3600" dirty="0">
                          <a:latin typeface="Monotype Corsiva" panose="03010101010201010101" pitchFamily="66" charset="0"/>
                          <a:cs typeface="Mongolian Baiti" panose="03000500000000000000" pitchFamily="66" charset="0"/>
                        </a:rPr>
                        <m:t> = </m:t>
                      </m:r>
                      <m:r>
                        <m:rPr>
                          <m:nor/>
                        </m:rPr>
                        <a:rPr lang="en-US" sz="3600" dirty="0">
                          <a:latin typeface="Monotype Corsiva" panose="03010101010201010101" pitchFamily="66" charset="0"/>
                          <a:cs typeface="Mongolian Baiti" panose="03000500000000000000" pitchFamily="66" charset="0"/>
                        </a:rPr>
                        <m:t>max</m:t>
                      </m:r>
                      <m:r>
                        <m:rPr>
                          <m:nor/>
                        </m:rPr>
                        <a:rPr lang="en-US" sz="3600" dirty="0">
                          <a:latin typeface="Monotype Corsiva" panose="03010101010201010101" pitchFamily="66" charset="0"/>
                          <a:cs typeface="Mongolian Baiti" panose="03000500000000000000" pitchFamily="66" charset="0"/>
                        </a:rPr>
                        <m:t>(</m:t>
                      </m:r>
                      <m:r>
                        <m:rPr>
                          <m:nor/>
                        </m:rPr>
                        <a:rPr lang="en-US" sz="3600" dirty="0">
                          <a:latin typeface="Monotype Corsiva" panose="03010101010201010101" pitchFamily="66" charset="0"/>
                          <a:cs typeface="Mongolian Baiti" panose="03000500000000000000" pitchFamily="66" charset="0"/>
                        </a:rPr>
                        <m:t>longest</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es</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Seg</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Upper</m:t>
                      </m:r>
                      <m:r>
                        <m:rPr>
                          <m:nor/>
                        </m:rPr>
                        <a:rPr lang="en-US" sz="3600" dirty="0">
                          <a:latin typeface="Monotype Corsiva" panose="03010101010201010101" pitchFamily="66" charset="0"/>
                          <a:cs typeface="Mongolian Baiti" panose="03000500000000000000" pitchFamily="66" charset="0"/>
                        </a:rPr>
                        <m:t> , </m:t>
                      </m:r>
                      <m:r>
                        <m:rPr>
                          <m:nor/>
                        </m:rPr>
                        <a:rPr lang="en-US" sz="3600" dirty="0">
                          <a:latin typeface="Monotype Corsiva" panose="03010101010201010101" pitchFamily="66" charset="0"/>
                          <a:cs typeface="Mongolian Baiti" panose="03000500000000000000" pitchFamily="66" charset="0"/>
                        </a:rPr>
                        <m:t>longest</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es</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Seg</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Lower</m:t>
                      </m:r>
                      <m:r>
                        <m:rPr>
                          <m:nor/>
                        </m:rPr>
                        <a:rPr lang="en-US" sz="3600" dirty="0">
                          <a:latin typeface="Monotype Corsiva" panose="03010101010201010101" pitchFamily="66" charset="0"/>
                          <a:cs typeface="Mongolian Baiti" panose="03000500000000000000" pitchFamily="66" charset="0"/>
                        </a:rPr>
                        <m:t>, </m:t>
                      </m:r>
                      <m:r>
                        <m:rPr>
                          <m:nor/>
                        </m:rPr>
                        <a:rPr lang="en-US" sz="3600" dirty="0">
                          <a:latin typeface="Monotype Corsiva" panose="03010101010201010101" pitchFamily="66" charset="0"/>
                          <a:cs typeface="Mongolian Baiti" panose="03000500000000000000" pitchFamily="66" charset="0"/>
                        </a:rPr>
                        <m:t>longest</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es</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Seg</m:t>
                      </m:r>
                      <m:r>
                        <m:rPr>
                          <m:nor/>
                        </m:rPr>
                        <a:rPr lang="en-US" sz="3600" dirty="0">
                          <a:latin typeface="Monotype Corsiva" panose="03010101010201010101" pitchFamily="66" charset="0"/>
                          <a:cs typeface="Mongolian Baiti" panose="03000500000000000000" pitchFamily="66" charset="0"/>
                        </a:rPr>
                        <m:t>_</m:t>
                      </m:r>
                      <m:r>
                        <m:rPr>
                          <m:nor/>
                        </m:rPr>
                        <a:rPr lang="en-US" sz="3600" dirty="0">
                          <a:latin typeface="Monotype Corsiva" panose="03010101010201010101" pitchFamily="66" charset="0"/>
                          <a:cs typeface="Mongolian Baiti" panose="03000500000000000000" pitchFamily="66" charset="0"/>
                        </a:rPr>
                        <m:t>Main</m:t>
                      </m:r>
                      <m:r>
                        <m:rPr>
                          <m:nor/>
                        </m:rPr>
                        <a:rPr lang="en-US" sz="3600" dirty="0">
                          <a:latin typeface="Monotype Corsiva" panose="03010101010201010101" pitchFamily="66" charset="0"/>
                          <a:cs typeface="Mongolian Baiti" panose="03000500000000000000" pitchFamily="66" charset="0"/>
                        </a:rPr>
                        <m:t>)</m:t>
                      </m:r>
                    </m:oMath>
                  </m:oMathPara>
                </a14:m>
                <a:endParaRPr lang="en-US" sz="3600" dirty="0">
                  <a:latin typeface="Monotype Corsiva" panose="03010101010201010101" pitchFamily="66" charset="0"/>
                  <a:cs typeface="Mongolian Baiti" panose="03000500000000000000" pitchFamily="66" charset="0"/>
                </a:endParaRPr>
              </a:p>
              <a:p>
                <a:pPr>
                  <a:lnSpc>
                    <a:spcPts val="3219"/>
                  </a:lnSpc>
                  <a:spcBef>
                    <a:spcPct val="0"/>
                  </a:spcBef>
                </a:pPr>
                <a:endParaRPr lang="en-US" sz="2800" dirty="0">
                  <a:latin typeface="Mongolian Baiti" panose="03000500000000000000" pitchFamily="66" charset="0"/>
                  <a:cs typeface="Mongolian Baiti" panose="03000500000000000000" pitchFamily="66" charset="0"/>
                </a:endParaRPr>
              </a:p>
              <a:p>
                <a:pPr>
                  <a:lnSpc>
                    <a:spcPts val="3219"/>
                  </a:lnSpc>
                  <a:spcBef>
                    <a:spcPct val="0"/>
                  </a:spcBef>
                </a:pPr>
                <a:r>
                  <a:rPr lang="en-US" sz="2800" dirty="0">
                    <a:latin typeface="Mongolian Baiti" panose="03000500000000000000" pitchFamily="66" charset="0"/>
                    <a:cs typeface="Mongolian Baiti" panose="03000500000000000000" pitchFamily="66" charset="0"/>
                  </a:rPr>
                  <a:t>	if </a:t>
                </a:r>
                <a:r>
                  <a:rPr lang="en-US" sz="2800" dirty="0" err="1">
                    <a:latin typeface="Mongolian Baiti" panose="03000500000000000000" pitchFamily="66" charset="0"/>
                    <a:cs typeface="Mongolian Baiti" panose="03000500000000000000" pitchFamily="66" charset="0"/>
                  </a:rPr>
                  <a:t>propogrationDelay</a:t>
                </a:r>
                <a:r>
                  <a:rPr lang="en-US" sz="2800" dirty="0">
                    <a:latin typeface="Mongolian Baiti" panose="03000500000000000000" pitchFamily="66" charset="0"/>
                    <a:cs typeface="Mongolian Baiti" panose="03000500000000000000" pitchFamily="66" charset="0"/>
                  </a:rPr>
                  <a:t> &gt; E</a:t>
                </a:r>
              </a:p>
              <a:p>
                <a:pPr>
                  <a:lnSpc>
                    <a:spcPts val="3219"/>
                  </a:lnSpc>
                  <a:spcBef>
                    <a:spcPct val="0"/>
                  </a:spcBef>
                </a:pPr>
                <a:r>
                  <a:rPr lang="en-US" sz="2800" dirty="0">
                    <a:effectLst/>
                    <a:latin typeface="Mongolian Baiti" panose="03000500000000000000" pitchFamily="66" charset="0"/>
                    <a:cs typeface="Mongolian Baiti" panose="03000500000000000000" pitchFamily="66" charset="0"/>
                  </a:rPr>
                  <a:t>		</a:t>
                </a:r>
                <a:r>
                  <a:rPr lang="en-US" sz="2800" b="1" dirty="0">
                    <a:latin typeface="Mongolian Baiti" panose="03000500000000000000" pitchFamily="66" charset="0"/>
                    <a:cs typeface="Mongolian Baiti" panose="03000500000000000000" pitchFamily="66" charset="0"/>
                  </a:rPr>
                  <a:t>return</a:t>
                </a:r>
                <a:r>
                  <a:rPr lang="en-US" sz="2800" dirty="0">
                    <a:latin typeface="Mongolian Baiti" panose="03000500000000000000" pitchFamily="66" charset="0"/>
                    <a:cs typeface="Mongolian Baiti" panose="03000500000000000000" pitchFamily="66" charset="0"/>
                  </a:rPr>
                  <a:t> rejected</a:t>
                </a:r>
              </a:p>
              <a:p>
                <a:pPr>
                  <a:lnSpc>
                    <a:spcPts val="3219"/>
                  </a:lnSpc>
                  <a:spcBef>
                    <a:spcPct val="0"/>
                  </a:spcBef>
                </a:pPr>
                <a:r>
                  <a:rPr lang="en-US" sz="2800" dirty="0">
                    <a:effectLst/>
                    <a:latin typeface="Mongolian Baiti" panose="03000500000000000000" pitchFamily="66" charset="0"/>
                    <a:cs typeface="Mongolian Baiti" panose="03000500000000000000" pitchFamily="66" charset="0"/>
                  </a:rPr>
                  <a:t>	else if </a:t>
                </a:r>
                <a:r>
                  <a:rPr lang="en-US" sz="2800" dirty="0" err="1">
                    <a:latin typeface="Mongolian Baiti" panose="03000500000000000000" pitchFamily="66" charset="0"/>
                    <a:cs typeface="Mongolian Baiti" panose="03000500000000000000" pitchFamily="66" charset="0"/>
                  </a:rPr>
                  <a:t>propogrationDelay</a:t>
                </a:r>
                <a:r>
                  <a:rPr lang="en-US" sz="2800" dirty="0">
                    <a:effectLst/>
                    <a:latin typeface="Mongolian Baiti" panose="03000500000000000000" pitchFamily="66" charset="0"/>
                    <a:cs typeface="Mongolian Baiti" panose="03000500000000000000" pitchFamily="66" charset="0"/>
                  </a:rPr>
                  <a:t> &lt; </a:t>
                </a:r>
                <a:r>
                  <a:rPr lang="en-US" sz="2800" dirty="0">
                    <a:latin typeface="Mongolian Baiti" panose="03000500000000000000" pitchFamily="66" charset="0"/>
                    <a:cs typeface="Mongolian Baiti" panose="03000500000000000000" pitchFamily="66" charset="0"/>
                  </a:rPr>
                  <a:t>= E</a:t>
                </a:r>
              </a:p>
              <a:p>
                <a:pPr>
                  <a:lnSpc>
                    <a:spcPts val="3219"/>
                  </a:lnSpc>
                  <a:spcBef>
                    <a:spcPct val="0"/>
                  </a:spcBef>
                </a:pPr>
                <a:r>
                  <a:rPr lang="en-US" sz="2800" dirty="0">
                    <a:effectLst/>
                    <a:latin typeface="Mongolian Baiti" panose="03000500000000000000" pitchFamily="66" charset="0"/>
                    <a:cs typeface="Mongolian Baiti" panose="03000500000000000000" pitchFamily="66" charset="0"/>
                  </a:rPr>
                  <a:t>		</a:t>
                </a:r>
                <a:r>
                  <a:rPr lang="en-US" sz="2800" b="1" dirty="0">
                    <a:effectLst/>
                    <a:latin typeface="Mongolian Baiti" panose="03000500000000000000" pitchFamily="66" charset="0"/>
                    <a:cs typeface="Mongolian Baiti" panose="03000500000000000000" pitchFamily="66" charset="0"/>
                  </a:rPr>
                  <a:t>return </a:t>
                </a:r>
                <a:r>
                  <a:rPr lang="en-US" sz="2800" dirty="0" err="1">
                    <a:effectLst/>
                    <a:latin typeface="Mongolian Baiti" panose="03000500000000000000" pitchFamily="66" charset="0"/>
                    <a:cs typeface="Mongolian Baiti" panose="03000500000000000000" pitchFamily="66" charset="0"/>
                  </a:rPr>
                  <a:t>accetped</a:t>
                </a:r>
                <a:endParaRPr lang="en-US" sz="2800" dirty="0">
                  <a:effectLst/>
                  <a:latin typeface="Mongolian Baiti" panose="03000500000000000000" pitchFamily="66" charset="0"/>
                  <a:cs typeface="Mongolian Baiti" panose="03000500000000000000" pitchFamily="66" charset="0"/>
                </a:endParaRPr>
              </a:p>
            </p:txBody>
          </p:sp>
        </mc:Choice>
        <mc:Fallback xmlns="">
          <p:sp>
            <p:nvSpPr>
              <p:cNvPr id="12" name="TextBox 11">
                <a:extLst>
                  <a:ext uri="{FF2B5EF4-FFF2-40B4-BE49-F238E27FC236}">
                    <a16:creationId xmlns:a16="http://schemas.microsoft.com/office/drawing/2014/main" id="{0D14E751-D0F5-6A2B-E66E-278AD7EFED4E}"/>
                  </a:ext>
                </a:extLst>
              </p:cNvPr>
              <p:cNvSpPr txBox="1">
                <a:spLocks noRot="1" noChangeAspect="1" noMove="1" noResize="1" noEditPoints="1" noAdjustHandles="1" noChangeArrowheads="1" noChangeShapeType="1" noTextEdit="1"/>
              </p:cNvSpPr>
              <p:nvPr/>
            </p:nvSpPr>
            <p:spPr>
              <a:xfrm>
                <a:off x="1448381" y="2120422"/>
                <a:ext cx="15391237" cy="5308313"/>
              </a:xfrm>
              <a:prstGeom prst="rect">
                <a:avLst/>
              </a:prstGeom>
              <a:blipFill>
                <a:blip r:embed="rId2"/>
                <a:stretch>
                  <a:fillRect l="-1426" t="-2411" r="-990" b="-3559"/>
                </a:stretch>
              </a:blipFill>
            </p:spPr>
            <p:txBody>
              <a:bodyPr/>
              <a:lstStyle/>
              <a:p>
                <a:r>
                  <a:rPr 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23</a:t>
            </a:r>
          </a:p>
        </p:txBody>
      </p:sp>
      <p:sp>
        <p:nvSpPr>
          <p:cNvPr id="14" name="TextBox 14"/>
          <p:cNvSpPr txBox="1"/>
          <p:nvPr/>
        </p:nvSpPr>
        <p:spPr>
          <a:xfrm>
            <a:off x="1312069" y="586583"/>
            <a:ext cx="4930140" cy="535146"/>
          </a:xfrm>
          <a:prstGeom prst="rect">
            <a:avLst/>
          </a:prstGeom>
        </p:spPr>
        <p:txBody>
          <a:bodyPr lIns="0" tIns="0" rIns="0" bIns="0" rtlCol="0" anchor="t">
            <a:spAutoFit/>
          </a:bodyPr>
          <a:lstStyle/>
          <a:p>
            <a:pPr>
              <a:lnSpc>
                <a:spcPts val="4620"/>
              </a:lnSpc>
            </a:pPr>
            <a:r>
              <a:rPr lang="en-US" sz="2800" dirty="0">
                <a:solidFill>
                  <a:srgbClr val="000000"/>
                </a:solidFill>
                <a:latin typeface="Canva Sans Bold"/>
              </a:rPr>
              <a:t>Algorithm 2 : Upper HRT</a:t>
            </a:r>
          </a:p>
        </p:txBody>
      </p:sp>
      <p:sp>
        <p:nvSpPr>
          <p:cNvPr id="15" name="TextBox 15"/>
          <p:cNvSpPr txBox="1"/>
          <p:nvPr/>
        </p:nvSpPr>
        <p:spPr>
          <a:xfrm>
            <a:off x="9634698" y="594006"/>
            <a:ext cx="4822190" cy="535146"/>
          </a:xfrm>
          <a:prstGeom prst="rect">
            <a:avLst/>
          </a:prstGeom>
        </p:spPr>
        <p:txBody>
          <a:bodyPr lIns="0" tIns="0" rIns="0" bIns="0" rtlCol="0" anchor="t">
            <a:spAutoFit/>
          </a:bodyPr>
          <a:lstStyle/>
          <a:p>
            <a:pPr>
              <a:lnSpc>
                <a:spcPts val="4620"/>
              </a:lnSpc>
            </a:pPr>
            <a:r>
              <a:rPr lang="en-US" sz="2800" dirty="0">
                <a:solidFill>
                  <a:srgbClr val="000000"/>
                </a:solidFill>
                <a:latin typeface="Canva Sans Bold"/>
              </a:rPr>
              <a:t>Algorithm 3: Lower HRT</a:t>
            </a:r>
          </a:p>
        </p:txBody>
      </p:sp>
      <p:sp>
        <p:nvSpPr>
          <p:cNvPr id="16" name="TextBox 12">
            <a:extLst>
              <a:ext uri="{FF2B5EF4-FFF2-40B4-BE49-F238E27FC236}">
                <a16:creationId xmlns:a16="http://schemas.microsoft.com/office/drawing/2014/main" id="{A8AF5341-048D-2455-141B-AA861729E378}"/>
              </a:ext>
            </a:extLst>
          </p:cNvPr>
          <p:cNvSpPr txBox="1"/>
          <p:nvPr/>
        </p:nvSpPr>
        <p:spPr>
          <a:xfrm>
            <a:off x="13606893" y="9486900"/>
            <a:ext cx="4604907" cy="371897"/>
          </a:xfrm>
          <a:prstGeom prst="rect">
            <a:avLst/>
          </a:prstGeom>
        </p:spPr>
        <p:txBody>
          <a:bodyPr wrap="square" lIns="0" tIns="0" rIns="0" bIns="0" rtlCol="0" anchor="t">
            <a:spAutoFit/>
          </a:bodyPr>
          <a:lstStyle/>
          <a:p>
            <a:pPr>
              <a:lnSpc>
                <a:spcPts val="2870"/>
              </a:lnSpc>
            </a:pPr>
            <a:r>
              <a:rPr lang="en-US" sz="2800" dirty="0">
                <a:solidFill>
                  <a:srgbClr val="FFFFFF"/>
                </a:solidFill>
                <a:latin typeface="Open Sans Light Bold"/>
              </a:rPr>
              <a:t>05. CPU Implementation</a:t>
            </a: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40DCCCE1-6ADB-54E9-D3DA-5E3D3A501629}"/>
                  </a:ext>
                </a:extLst>
              </p:cNvPr>
              <p:cNvSpPr txBox="1"/>
              <p:nvPr/>
            </p:nvSpPr>
            <p:spPr>
              <a:xfrm>
                <a:off x="1296561" y="1436099"/>
                <a:ext cx="7716887" cy="4897944"/>
              </a:xfrm>
              <a:prstGeom prst="rect">
                <a:avLst/>
              </a:prstGeom>
            </p:spPr>
            <p:txBody>
              <a:bodyPr wrap="square" lIns="0" tIns="0" rIns="0" bIns="0" rtlCol="0" anchor="t">
                <a:spAutoFit/>
              </a:bodyPr>
              <a:lstStyle/>
              <a:p>
                <a:pPr>
                  <a:lnSpc>
                    <a:spcPts val="3219"/>
                  </a:lnSpc>
                  <a:spcBef>
                    <a:spcPct val="0"/>
                  </a:spcBef>
                </a:pPr>
                <a:r>
                  <a:rPr lang="en-US" sz="2400" b="1" dirty="0">
                    <a:effectLst/>
                    <a:latin typeface="Mongolian Baiti" panose="03000500000000000000" pitchFamily="66" charset="0"/>
                    <a:cs typeface="Mongolian Baiti" panose="03000500000000000000" pitchFamily="66" charset="0"/>
                  </a:rPr>
                  <a:t>Input: </a:t>
                </a:r>
                <a:r>
                  <a:rPr lang="en-US" sz="2400" dirty="0">
                    <a:effectLst/>
                    <a:latin typeface="Mongolian Baiti" panose="03000500000000000000" pitchFamily="66" charset="0"/>
                    <a:cs typeface="Mongolian Baiti" panose="03000500000000000000" pitchFamily="66" charset="0"/>
                  </a:rPr>
                  <a:t>Query (Q[checkpoint:N-1]),  Reference(R[checkpoint:N-1]), Edit Distance</a:t>
                </a:r>
                <a:r>
                  <a:rPr lang="en-US" sz="2400" dirty="0">
                    <a:latin typeface="Mongolian Baiti" panose="03000500000000000000" pitchFamily="66" charset="0"/>
                    <a:cs typeface="Mongolian Baiti" panose="03000500000000000000" pitchFamily="66" charset="0"/>
                  </a:rPr>
                  <a:t> </a:t>
                </a:r>
                <a:r>
                  <a:rPr lang="en-US" sz="2400" dirty="0">
                    <a:effectLst/>
                    <a:latin typeface="Mongolian Baiti" panose="03000500000000000000" pitchFamily="66" charset="0"/>
                    <a:cs typeface="Mongolian Baiti" panose="03000500000000000000" pitchFamily="66" charset="0"/>
                  </a:rPr>
                  <a:t>Threshold (E)</a:t>
                </a:r>
              </a:p>
              <a:p>
                <a:pPr>
                  <a:lnSpc>
                    <a:spcPts val="3219"/>
                  </a:lnSpc>
                  <a:spcBef>
                    <a:spcPct val="0"/>
                  </a:spcBef>
                </a:pPr>
                <a:r>
                  <a:rPr lang="en-US" sz="2400" b="1" dirty="0">
                    <a:effectLst/>
                    <a:latin typeface="Mongolian Baiti" panose="03000500000000000000" pitchFamily="66" charset="0"/>
                    <a:cs typeface="Mongolian Baiti" panose="03000500000000000000" pitchFamily="66" charset="0"/>
                  </a:rPr>
                  <a:t>Output : </a:t>
                </a:r>
                <a:r>
                  <a:rPr lang="en-US" sz="2400" dirty="0">
                    <a:effectLst/>
                    <a:latin typeface="Mongolian Baiti" panose="03000500000000000000" pitchFamily="66" charset="0"/>
                    <a:cs typeface="Mongolian Baiti" panose="03000500000000000000" pitchFamily="66" charset="0"/>
                  </a:rPr>
                  <a:t>length of longest escape segment</a:t>
                </a:r>
              </a:p>
              <a:p>
                <a:pPr>
                  <a:lnSpc>
                    <a:spcPts val="3219"/>
                  </a:lnSpc>
                  <a:spcBef>
                    <a:spcPct val="0"/>
                  </a:spcBef>
                </a:pPr>
                <a:r>
                  <a:rPr lang="pt-BR" sz="2400" dirty="0">
                    <a:effectLst/>
                    <a:latin typeface="Mongolian Baiti" panose="03000500000000000000" pitchFamily="66" charset="0"/>
                    <a:cs typeface="Mongolian Baiti" panose="03000500000000000000" pitchFamily="66" charset="0"/>
                  </a:rPr>
                  <a:t>for i= E to 1 do</a:t>
                </a:r>
              </a:p>
              <a:p>
                <a:pPr>
                  <a:lnSpc>
                    <a:spcPts val="3219"/>
                  </a:lnSpc>
                  <a:spcBef>
                    <a:spcPct val="0"/>
                  </a:spcBef>
                </a:pPr>
                <a:r>
                  <a:rPr lang="pt-BR" sz="2400" dirty="0">
                    <a:latin typeface="Mongolian Baiti" panose="03000500000000000000" pitchFamily="66" charset="0"/>
                    <a:cs typeface="Mongolian Baiti" panose="03000500000000000000" pitchFamily="66" charset="0"/>
                  </a:rPr>
                  <a:t>	for j = </a:t>
                </a:r>
                <a:r>
                  <a:rPr lang="en-GB" sz="2400" dirty="0">
                    <a:effectLst/>
                    <a:latin typeface="Mongolian Baiti" panose="03000500000000000000" pitchFamily="66" charset="0"/>
                    <a:cs typeface="Mongolian Baiti" panose="03000500000000000000" pitchFamily="66" charset="0"/>
                  </a:rPr>
                  <a:t>checkpoint to length(Q)-1</a:t>
                </a:r>
              </a:p>
              <a:p>
                <a:pPr>
                  <a:lnSpc>
                    <a:spcPts val="3219"/>
                  </a:lnSpc>
                  <a:spcBef>
                    <a:spcPct val="0"/>
                  </a:spcBef>
                </a:pPr>
                <a:endParaRPr lang="en-US" sz="2000" dirty="0">
                  <a:effectLst/>
                  <a:latin typeface="Mongolian Baiti" panose="03000500000000000000" pitchFamily="66" charset="0"/>
                  <a:cs typeface="Mongolian Baiti" panose="03000500000000000000" pitchFamily="66" charset="0"/>
                </a:endParaRPr>
              </a:p>
              <a:p>
                <a:pPr>
                  <a:lnSpc>
                    <a:spcPts val="3219"/>
                  </a:lnSpc>
                  <a:spcBef>
                    <a:spcPct val="0"/>
                  </a:spcBef>
                </a:pPr>
                <a14:m>
                  <m:oMathPara xmlns:m="http://schemas.openxmlformats.org/officeDocument/2006/math">
                    <m:oMathParaPr>
                      <m:jc m:val="centerGroup"/>
                    </m:oMathParaPr>
                    <m:oMath xmlns:m="http://schemas.openxmlformats.org/officeDocument/2006/math">
                      <m:r>
                        <m:rPr>
                          <m:nor/>
                        </m:rPr>
                        <a:rPr lang="en-US" sz="3200" dirty="0" smtClean="0">
                          <a:latin typeface="Monotype Corsiva" panose="03010101010201010101" pitchFamily="66" charset="0"/>
                        </a:rPr>
                        <m:t>Z</m:t>
                      </m:r>
                      <m:r>
                        <m:rPr>
                          <m:nor/>
                        </m:rPr>
                        <a:rPr lang="en-US" sz="3200" dirty="0" smtClean="0">
                          <a:latin typeface="Monotype Corsiva" panose="03010101010201010101" pitchFamily="66" charset="0"/>
                        </a:rPr>
                        <m:t>[</m:t>
                      </m:r>
                      <m:r>
                        <m:rPr>
                          <m:nor/>
                        </m:rPr>
                        <a:rPr lang="en-US" sz="3200" dirty="0" smtClean="0">
                          <a:latin typeface="Monotype Corsiva" panose="03010101010201010101" pitchFamily="66" charset="0"/>
                        </a:rPr>
                        <m:t>i</m:t>
                      </m:r>
                      <m:r>
                        <m:rPr>
                          <m:nor/>
                        </m:rPr>
                        <a:rPr lang="en-US" sz="3200" dirty="0" smtClean="0">
                          <a:latin typeface="Monotype Corsiva" panose="03010101010201010101" pitchFamily="66" charset="0"/>
                        </a:rPr>
                        <m:t>, </m:t>
                      </m:r>
                      <m:r>
                        <m:rPr>
                          <m:nor/>
                        </m:rPr>
                        <a:rPr lang="en-US" sz="3200" dirty="0" smtClean="0">
                          <a:latin typeface="Monotype Corsiva" panose="03010101010201010101" pitchFamily="66" charset="0"/>
                        </a:rPr>
                        <m:t>j</m:t>
                      </m:r>
                      <m:r>
                        <m:rPr>
                          <m:nor/>
                        </m:rPr>
                        <a:rPr lang="en-US" sz="3200" dirty="0" smtClean="0">
                          <a:latin typeface="Monotype Corsiva" panose="03010101010201010101" pitchFamily="66" charset="0"/>
                        </a:rPr>
                        <m:t>] = 0, </m:t>
                      </m:r>
                      <m:r>
                        <m:rPr>
                          <m:nor/>
                        </m:rPr>
                        <a:rPr lang="en-US" sz="3200" dirty="0" smtClean="0">
                          <a:latin typeface="Monotype Corsiva" panose="03010101010201010101" pitchFamily="66" charset="0"/>
                        </a:rPr>
                        <m:t>if</m:t>
                      </m:r>
                      <m:r>
                        <m:rPr>
                          <m:nor/>
                        </m:rPr>
                        <a:rPr lang="en-US" sz="3200" dirty="0" smtClean="0">
                          <a:latin typeface="Monotype Corsiva" panose="03010101010201010101" pitchFamily="66" charset="0"/>
                        </a:rPr>
                        <m:t> 1</m:t>
                      </m:r>
                      <m:r>
                        <a:rPr lang="en-US" sz="3200" b="0" i="1" dirty="0" smtClean="0">
                          <a:latin typeface="Monotype Corsiva" panose="03010101010201010101" pitchFamily="66" charset="0"/>
                        </a:rPr>
                        <m:t>≤</m:t>
                      </m:r>
                      <m:r>
                        <a:rPr lang="en-US" sz="3200" b="0" i="1" dirty="0" smtClean="0">
                          <a:latin typeface="Cambria Math" panose="02040503050406030204" pitchFamily="18" charset="0"/>
                        </a:rPr>
                        <m:t>𝑖</m:t>
                      </m:r>
                      <m:r>
                        <m:rPr>
                          <m:nor/>
                        </m:rPr>
                        <a:rPr lang="en-US" sz="3200" dirty="0" smtClean="0">
                          <a:latin typeface="Monotype Corsiva" panose="03010101010201010101" pitchFamily="66" charset="0"/>
                        </a:rPr>
                        <m:t>≤ </m:t>
                      </m:r>
                      <m:r>
                        <m:rPr>
                          <m:nor/>
                        </m:rPr>
                        <a:rPr lang="en-US" sz="3200" dirty="0" smtClean="0">
                          <a:latin typeface="Monotype Corsiva" panose="03010101010201010101" pitchFamily="66" charset="0"/>
                        </a:rPr>
                        <m:t>E</m:t>
                      </m:r>
                      <m:r>
                        <m:rPr>
                          <m:nor/>
                        </m:rPr>
                        <a:rPr lang="en-US" sz="3200" dirty="0" smtClean="0">
                          <a:latin typeface="Monotype Corsiva" panose="03010101010201010101" pitchFamily="66" charset="0"/>
                        </a:rPr>
                        <m:t>, </m:t>
                      </m:r>
                      <m:r>
                        <m:rPr>
                          <m:nor/>
                        </m:rPr>
                        <a:rPr lang="en-US" sz="3200" dirty="0" smtClean="0">
                          <a:latin typeface="Monotype Corsiva" panose="03010101010201010101" pitchFamily="66" charset="0"/>
                        </a:rPr>
                        <m:t>Q</m:t>
                      </m:r>
                      <m:r>
                        <m:rPr>
                          <m:nor/>
                        </m:rPr>
                        <a:rPr lang="en-US" sz="3200" dirty="0" smtClean="0">
                          <a:latin typeface="Monotype Corsiva" panose="03010101010201010101" pitchFamily="66" charset="0"/>
                        </a:rPr>
                        <m:t>[</m:t>
                      </m:r>
                      <m:r>
                        <m:rPr>
                          <m:nor/>
                        </m:rPr>
                        <a:rPr lang="en-US" sz="3200" dirty="0" smtClean="0">
                          <a:latin typeface="Monotype Corsiva" panose="03010101010201010101" pitchFamily="66" charset="0"/>
                        </a:rPr>
                        <m:t>j</m:t>
                      </m:r>
                      <m:r>
                        <m:rPr>
                          <m:nor/>
                        </m:rPr>
                        <a:rPr lang="en-US" sz="3200" dirty="0" smtClean="0">
                          <a:latin typeface="Monotype Corsiva" panose="03010101010201010101" pitchFamily="66" charset="0"/>
                        </a:rPr>
                        <m:t> − </m:t>
                      </m:r>
                      <m:r>
                        <m:rPr>
                          <m:nor/>
                        </m:rPr>
                        <a:rPr lang="en-US" sz="3200" dirty="0" smtClean="0">
                          <a:latin typeface="Monotype Corsiva" panose="03010101010201010101" pitchFamily="66" charset="0"/>
                        </a:rPr>
                        <m:t>i</m:t>
                      </m:r>
                      <m:r>
                        <m:rPr>
                          <m:nor/>
                        </m:rPr>
                        <a:rPr lang="en-US" sz="3200" dirty="0" smtClean="0">
                          <a:latin typeface="Monotype Corsiva" panose="03010101010201010101" pitchFamily="66" charset="0"/>
                        </a:rPr>
                        <m:t>] = </m:t>
                      </m:r>
                      <m:r>
                        <m:rPr>
                          <m:nor/>
                        </m:rPr>
                        <a:rPr lang="en-US" sz="3200" dirty="0" smtClean="0">
                          <a:latin typeface="Monotype Corsiva" panose="03010101010201010101" pitchFamily="66" charset="0"/>
                        </a:rPr>
                        <m:t>R</m:t>
                      </m:r>
                      <m:r>
                        <m:rPr>
                          <m:nor/>
                        </m:rPr>
                        <a:rPr lang="en-US" sz="3200" dirty="0" smtClean="0">
                          <a:latin typeface="Monotype Corsiva" panose="03010101010201010101" pitchFamily="66" charset="0"/>
                        </a:rPr>
                        <m:t>[</m:t>
                      </m:r>
                      <m:r>
                        <m:rPr>
                          <m:nor/>
                        </m:rPr>
                        <a:rPr lang="en-US" sz="3200" dirty="0" smtClean="0">
                          <a:latin typeface="Monotype Corsiva" panose="03010101010201010101" pitchFamily="66" charset="0"/>
                        </a:rPr>
                        <m:t>j</m:t>
                      </m:r>
                      <m:r>
                        <m:rPr>
                          <m:nor/>
                        </m:rPr>
                        <a:rPr lang="en-US" sz="3200" dirty="0" smtClean="0">
                          <a:latin typeface="Monotype Corsiva" panose="03010101010201010101" pitchFamily="66" charset="0"/>
                        </a:rPr>
                        <m:t>]</m:t>
                      </m:r>
                    </m:oMath>
                  </m:oMathPara>
                </a14:m>
                <a:endParaRPr lang="en-US" sz="3200" dirty="0">
                  <a:latin typeface="Monotype Corsiva" panose="03010101010201010101" pitchFamily="66" charset="0"/>
                </a:endParaRPr>
              </a:p>
              <a:p>
                <a:pPr>
                  <a:lnSpc>
                    <a:spcPts val="3219"/>
                  </a:lnSpc>
                  <a:spcBef>
                    <a:spcPct val="0"/>
                  </a:spcBef>
                </a:pPr>
                <a:endParaRPr lang="en-US" sz="3200" dirty="0">
                  <a:latin typeface="Monotype Corsiva" panose="03010101010201010101" pitchFamily="66" charset="0"/>
                </a:endParaRPr>
              </a:p>
              <a:p>
                <a:pPr>
                  <a:lnSpc>
                    <a:spcPts val="3219"/>
                  </a:lnSpc>
                  <a:spcBef>
                    <a:spcPct val="0"/>
                  </a:spcBef>
                </a:pPr>
                <a:r>
                  <a:rPr lang="en-US" sz="2400" dirty="0">
                    <a:latin typeface="Mongolian Baiti" panose="03000500000000000000" pitchFamily="66" charset="0"/>
                    <a:cs typeface="Mongolian Baiti" panose="03000500000000000000" pitchFamily="66" charset="0"/>
                  </a:rPr>
                  <a:t>if </a:t>
                </a:r>
                <a14:m>
                  <m:oMath xmlns:m="http://schemas.openxmlformats.org/officeDocument/2006/math">
                    <m:r>
                      <m:rPr>
                        <m:nor/>
                      </m:rPr>
                      <a:rPr lang="en-US" sz="2400" dirty="0">
                        <a:latin typeface="Mongolian Baiti" panose="03000500000000000000" pitchFamily="66" charset="0"/>
                        <a:cs typeface="Mongolian Baiti" panose="03000500000000000000" pitchFamily="66" charset="0"/>
                      </a:rPr>
                      <m:t>Z</m:t>
                    </m:r>
                    <m:r>
                      <m:rPr>
                        <m:nor/>
                      </m:rPr>
                      <a:rPr lang="en-US" sz="2400" dirty="0">
                        <a:latin typeface="Mongolian Baiti" panose="03000500000000000000" pitchFamily="66" charset="0"/>
                        <a:cs typeface="Mongolian Baiti" panose="03000500000000000000" pitchFamily="66" charset="0"/>
                      </a:rPr>
                      <m:t>[</m:t>
                    </m:r>
                    <m:r>
                      <m:rPr>
                        <m:nor/>
                      </m:rPr>
                      <a:rPr lang="en-US" sz="2400" dirty="0">
                        <a:latin typeface="Mongolian Baiti" panose="03000500000000000000" pitchFamily="66" charset="0"/>
                        <a:cs typeface="Mongolian Baiti" panose="03000500000000000000" pitchFamily="66" charset="0"/>
                      </a:rPr>
                      <m:t>i</m:t>
                    </m:r>
                    <m:r>
                      <m:rPr>
                        <m:nor/>
                      </m:rPr>
                      <a:rPr lang="en-US" sz="2400" dirty="0">
                        <a:latin typeface="Mongolian Baiti" panose="03000500000000000000" pitchFamily="66" charset="0"/>
                        <a:cs typeface="Mongolian Baiti" panose="03000500000000000000" pitchFamily="66" charset="0"/>
                      </a:rPr>
                      <m:t>, </m:t>
                    </m:r>
                    <m:r>
                      <m:rPr>
                        <m:nor/>
                      </m:rPr>
                      <a:rPr lang="en-US" sz="2400" dirty="0">
                        <a:latin typeface="Mongolian Baiti" panose="03000500000000000000" pitchFamily="66" charset="0"/>
                        <a:cs typeface="Mongolian Baiti" panose="03000500000000000000" pitchFamily="66" charset="0"/>
                      </a:rPr>
                      <m:t>j</m:t>
                    </m:r>
                    <m:r>
                      <m:rPr>
                        <m:nor/>
                      </m:rPr>
                      <a:rPr lang="en-US" sz="2400" dirty="0">
                        <a:latin typeface="Mongolian Baiti" panose="03000500000000000000" pitchFamily="66" charset="0"/>
                        <a:cs typeface="Mongolian Baiti" panose="03000500000000000000" pitchFamily="66" charset="0"/>
                      </a:rPr>
                      <m:t>] = 0</m:t>
                    </m:r>
                  </m:oMath>
                </a14:m>
                <a:endParaRPr lang="en-US" sz="2400" dirty="0">
                  <a:latin typeface="Mongolian Baiti" panose="03000500000000000000" pitchFamily="66" charset="0"/>
                  <a:cs typeface="Mongolian Baiti" panose="03000500000000000000" pitchFamily="66" charset="0"/>
                </a:endParaRPr>
              </a:p>
              <a:p>
                <a:pPr>
                  <a:lnSpc>
                    <a:spcPts val="3219"/>
                  </a:lnSpc>
                  <a:spcBef>
                    <a:spcPct val="0"/>
                  </a:spcBef>
                </a:pPr>
                <a:r>
                  <a:rPr lang="en-US" sz="2400" dirty="0">
                    <a:latin typeface="Mongolian Baiti" panose="03000500000000000000" pitchFamily="66" charset="0"/>
                    <a:cs typeface="Mongolian Baiti" panose="03000500000000000000" pitchFamily="66" charset="0"/>
                  </a:rPr>
                  <a:t>	count = count + 1</a:t>
                </a:r>
              </a:p>
              <a:p>
                <a:pPr>
                  <a:lnSpc>
                    <a:spcPts val="3219"/>
                  </a:lnSpc>
                  <a:spcBef>
                    <a:spcPct val="0"/>
                  </a:spcBef>
                </a:pPr>
                <a:r>
                  <a:rPr lang="en-GB" sz="2400" dirty="0">
                    <a:latin typeface="Mongolian Baiti" panose="03000500000000000000" pitchFamily="66" charset="0"/>
                    <a:cs typeface="Mongolian Baiti" panose="03000500000000000000" pitchFamily="66" charset="0"/>
                  </a:rPr>
                  <a:t>if count &gt; longest es seg then</a:t>
                </a:r>
                <a:br>
                  <a:rPr lang="en-GB" sz="2400" dirty="0">
                    <a:latin typeface="Mongolian Baiti" panose="03000500000000000000" pitchFamily="66" charset="0"/>
                    <a:cs typeface="Mongolian Baiti" panose="03000500000000000000" pitchFamily="66" charset="0"/>
                  </a:rPr>
                </a:br>
                <a:r>
                  <a:rPr lang="en-GB" sz="2400" dirty="0" err="1">
                    <a:latin typeface="Mongolian Baiti" panose="03000500000000000000" pitchFamily="66" charset="0"/>
                    <a:cs typeface="Mongolian Baiti" panose="03000500000000000000" pitchFamily="66" charset="0"/>
                  </a:rPr>
                  <a:t>longest_es_Seg</a:t>
                </a:r>
                <a:r>
                  <a:rPr lang="en-GB" sz="2400" dirty="0">
                    <a:latin typeface="Mongolian Baiti" panose="03000500000000000000" pitchFamily="66" charset="0"/>
                    <a:cs typeface="Mongolian Baiti" panose="03000500000000000000" pitchFamily="66" charset="0"/>
                  </a:rPr>
                  <a:t> = count</a:t>
                </a:r>
              </a:p>
            </p:txBody>
          </p:sp>
        </mc:Choice>
        <mc:Fallback>
          <p:sp>
            <p:nvSpPr>
              <p:cNvPr id="19" name="TextBox 18">
                <a:extLst>
                  <a:ext uri="{FF2B5EF4-FFF2-40B4-BE49-F238E27FC236}">
                    <a16:creationId xmlns:a16="http://schemas.microsoft.com/office/drawing/2014/main" id="{40DCCCE1-6ADB-54E9-D3DA-5E3D3A501629}"/>
                  </a:ext>
                </a:extLst>
              </p:cNvPr>
              <p:cNvSpPr txBox="1">
                <a:spLocks noRot="1" noChangeAspect="1" noMove="1" noResize="1" noEditPoints="1" noAdjustHandles="1" noChangeArrowheads="1" noChangeShapeType="1" noTextEdit="1"/>
              </p:cNvSpPr>
              <p:nvPr/>
            </p:nvSpPr>
            <p:spPr>
              <a:xfrm>
                <a:off x="1296561" y="1436099"/>
                <a:ext cx="7716887" cy="4897944"/>
              </a:xfrm>
              <a:prstGeom prst="rect">
                <a:avLst/>
              </a:prstGeom>
              <a:blipFill>
                <a:blip r:embed="rId2"/>
                <a:stretch>
                  <a:fillRect l="-2449" t="-1743" b="-27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0803D91-61DB-2A14-9F28-E865EB739A85}"/>
                  </a:ext>
                </a:extLst>
              </p:cNvPr>
              <p:cNvSpPr txBox="1"/>
              <p:nvPr/>
            </p:nvSpPr>
            <p:spPr>
              <a:xfrm>
                <a:off x="9634076" y="1436099"/>
                <a:ext cx="7716887" cy="4983095"/>
              </a:xfrm>
              <a:prstGeom prst="rect">
                <a:avLst/>
              </a:prstGeom>
            </p:spPr>
            <p:txBody>
              <a:bodyPr wrap="square" lIns="0" tIns="0" rIns="0" bIns="0" rtlCol="0" anchor="t">
                <a:spAutoFit/>
              </a:bodyPr>
              <a:lstStyle/>
              <a:p>
                <a:pPr>
                  <a:lnSpc>
                    <a:spcPts val="3219"/>
                  </a:lnSpc>
                  <a:spcBef>
                    <a:spcPct val="0"/>
                  </a:spcBef>
                </a:pPr>
                <a:r>
                  <a:rPr lang="en-US" sz="2400" b="1" dirty="0">
                    <a:effectLst/>
                    <a:latin typeface="Mongolian Baiti" panose="03000500000000000000" pitchFamily="66" charset="0"/>
                    <a:cs typeface="Mongolian Baiti" panose="03000500000000000000" pitchFamily="66" charset="0"/>
                  </a:rPr>
                  <a:t>Input: </a:t>
                </a:r>
                <a:r>
                  <a:rPr lang="en-US" sz="2400" dirty="0">
                    <a:effectLst/>
                    <a:latin typeface="Mongolian Baiti" panose="03000500000000000000" pitchFamily="66" charset="0"/>
                    <a:cs typeface="Mongolian Baiti" panose="03000500000000000000" pitchFamily="66" charset="0"/>
                  </a:rPr>
                  <a:t>Query (Q[checkpoint:N-1]),  Reference(R[checkpoint:N-1]), Edit Distance</a:t>
                </a:r>
                <a:r>
                  <a:rPr lang="en-US" sz="2400" dirty="0">
                    <a:latin typeface="Mongolian Baiti" panose="03000500000000000000" pitchFamily="66" charset="0"/>
                    <a:cs typeface="Mongolian Baiti" panose="03000500000000000000" pitchFamily="66" charset="0"/>
                  </a:rPr>
                  <a:t> </a:t>
                </a:r>
                <a:r>
                  <a:rPr lang="en-US" sz="2400" dirty="0">
                    <a:effectLst/>
                    <a:latin typeface="Mongolian Baiti" panose="03000500000000000000" pitchFamily="66" charset="0"/>
                    <a:cs typeface="Mongolian Baiti" panose="03000500000000000000" pitchFamily="66" charset="0"/>
                  </a:rPr>
                  <a:t>Threshold (E)</a:t>
                </a:r>
              </a:p>
              <a:p>
                <a:pPr>
                  <a:lnSpc>
                    <a:spcPts val="3219"/>
                  </a:lnSpc>
                  <a:spcBef>
                    <a:spcPct val="0"/>
                  </a:spcBef>
                </a:pPr>
                <a:r>
                  <a:rPr lang="en-US" sz="2400" b="1" dirty="0">
                    <a:effectLst/>
                    <a:latin typeface="Mongolian Baiti" panose="03000500000000000000" pitchFamily="66" charset="0"/>
                    <a:cs typeface="Mongolian Baiti" panose="03000500000000000000" pitchFamily="66" charset="0"/>
                  </a:rPr>
                  <a:t>Output : </a:t>
                </a:r>
                <a:r>
                  <a:rPr lang="en-US" sz="2400" dirty="0">
                    <a:effectLst/>
                    <a:latin typeface="Mongolian Baiti" panose="03000500000000000000" pitchFamily="66" charset="0"/>
                    <a:cs typeface="Mongolian Baiti" panose="03000500000000000000" pitchFamily="66" charset="0"/>
                  </a:rPr>
                  <a:t>length of longest escape segment</a:t>
                </a:r>
              </a:p>
              <a:p>
                <a:pPr>
                  <a:lnSpc>
                    <a:spcPts val="3219"/>
                  </a:lnSpc>
                  <a:spcBef>
                    <a:spcPct val="0"/>
                  </a:spcBef>
                </a:pPr>
                <a:r>
                  <a:rPr lang="pt-BR" sz="2400" dirty="0">
                    <a:effectLst/>
                    <a:latin typeface="Mongolian Baiti" panose="03000500000000000000" pitchFamily="66" charset="0"/>
                    <a:cs typeface="Mongolian Baiti" panose="03000500000000000000" pitchFamily="66" charset="0"/>
                  </a:rPr>
                  <a:t>for i= 1 to E do</a:t>
                </a:r>
              </a:p>
              <a:p>
                <a:pPr>
                  <a:lnSpc>
                    <a:spcPts val="3219"/>
                  </a:lnSpc>
                  <a:spcBef>
                    <a:spcPct val="0"/>
                  </a:spcBef>
                </a:pPr>
                <a:r>
                  <a:rPr lang="pt-BR" sz="2400" dirty="0">
                    <a:latin typeface="Mongolian Baiti" panose="03000500000000000000" pitchFamily="66" charset="0"/>
                    <a:cs typeface="Mongolian Baiti" panose="03000500000000000000" pitchFamily="66" charset="0"/>
                  </a:rPr>
                  <a:t>	for j = </a:t>
                </a:r>
                <a:r>
                  <a:rPr lang="en-GB" sz="2400" dirty="0">
                    <a:effectLst/>
                    <a:latin typeface="Mongolian Baiti" panose="03000500000000000000" pitchFamily="66" charset="0"/>
                    <a:cs typeface="Mongolian Baiti" panose="03000500000000000000" pitchFamily="66" charset="0"/>
                  </a:rPr>
                  <a:t>checkpoint to length(Q)-1</a:t>
                </a:r>
              </a:p>
              <a:p>
                <a:pPr>
                  <a:lnSpc>
                    <a:spcPts val="3219"/>
                  </a:lnSpc>
                  <a:spcBef>
                    <a:spcPct val="0"/>
                  </a:spcBef>
                </a:pPr>
                <a:endParaRPr lang="en-US" sz="2000" dirty="0">
                  <a:effectLst/>
                  <a:latin typeface="Mongolian Baiti" panose="03000500000000000000" pitchFamily="66" charset="0"/>
                  <a:cs typeface="Mongolian Baiti" panose="03000500000000000000" pitchFamily="66" charset="0"/>
                </a:endParaRPr>
              </a:p>
              <a:p>
                <a:pPr/>
                <a14:m>
                  <m:oMathPara xmlns:m="http://schemas.openxmlformats.org/officeDocument/2006/math">
                    <m:oMathParaPr>
                      <m:jc m:val="centerGroup"/>
                    </m:oMathParaPr>
                    <m:oMath xmlns:m="http://schemas.openxmlformats.org/officeDocument/2006/math">
                      <m:r>
                        <m:rPr>
                          <m:nor/>
                        </m:rPr>
                        <a:rPr lang="en-US" sz="3200" dirty="0">
                          <a:latin typeface="Monotype Corsiva" panose="03010101010201010101" pitchFamily="66" charset="0"/>
                        </a:rPr>
                        <m:t>Z</m:t>
                      </m:r>
                      <m:r>
                        <m:rPr>
                          <m:nor/>
                        </m:rPr>
                        <a:rPr lang="en-US" sz="3200" dirty="0">
                          <a:latin typeface="Monotype Corsiva" panose="03010101010201010101" pitchFamily="66" charset="0"/>
                        </a:rPr>
                        <m:t>[</m:t>
                      </m:r>
                      <m:r>
                        <m:rPr>
                          <m:nor/>
                        </m:rPr>
                        <a:rPr lang="en-US" sz="3200" dirty="0">
                          <a:latin typeface="Monotype Corsiva" panose="03010101010201010101" pitchFamily="66" charset="0"/>
                        </a:rPr>
                        <m:t>i</m:t>
                      </m:r>
                      <m:r>
                        <m:rPr>
                          <m:nor/>
                        </m:rPr>
                        <a:rPr lang="en-US" sz="3200" dirty="0">
                          <a:latin typeface="Monotype Corsiva" panose="03010101010201010101" pitchFamily="66" charset="0"/>
                        </a:rPr>
                        <m:t>, </m:t>
                      </m:r>
                      <m:r>
                        <m:rPr>
                          <m:nor/>
                        </m:rPr>
                        <a:rPr lang="en-US" sz="3200" dirty="0">
                          <a:latin typeface="Monotype Corsiva" panose="03010101010201010101" pitchFamily="66" charset="0"/>
                        </a:rPr>
                        <m:t>j</m:t>
                      </m:r>
                      <m:r>
                        <m:rPr>
                          <m:nor/>
                        </m:rPr>
                        <a:rPr lang="en-US" sz="3200" dirty="0">
                          <a:latin typeface="Monotype Corsiva" panose="03010101010201010101" pitchFamily="66" charset="0"/>
                        </a:rPr>
                        <m:t>] = 0, </m:t>
                      </m:r>
                      <m:r>
                        <m:rPr>
                          <m:nor/>
                        </m:rPr>
                        <a:rPr lang="en-US" sz="3200" dirty="0">
                          <a:latin typeface="Monotype Corsiva" panose="03010101010201010101" pitchFamily="66" charset="0"/>
                        </a:rPr>
                        <m:t>if</m:t>
                      </m:r>
                      <m:r>
                        <m:rPr>
                          <m:nor/>
                        </m:rPr>
                        <a:rPr lang="en-US" sz="3200" dirty="0">
                          <a:latin typeface="Monotype Corsiva" panose="03010101010201010101" pitchFamily="66" charset="0"/>
                        </a:rPr>
                        <m:t> </m:t>
                      </m:r>
                      <m:r>
                        <m:rPr>
                          <m:nor/>
                        </m:rPr>
                        <a:rPr lang="en-US" sz="3200" dirty="0">
                          <a:latin typeface="Monotype Corsiva" panose="03010101010201010101" pitchFamily="66" charset="0"/>
                        </a:rPr>
                        <m:t>i</m:t>
                      </m:r>
                      <m:r>
                        <m:rPr>
                          <m:nor/>
                        </m:rPr>
                        <a:rPr lang="en-US" sz="3200" dirty="0">
                          <a:latin typeface="Monotype Corsiva" panose="03010101010201010101" pitchFamily="66" charset="0"/>
                        </a:rPr>
                        <m:t> &gt; </m:t>
                      </m:r>
                      <m:r>
                        <m:rPr>
                          <m:nor/>
                        </m:rPr>
                        <a:rPr lang="en-US" sz="3200" dirty="0">
                          <a:latin typeface="Monotype Corsiva" panose="03010101010201010101" pitchFamily="66" charset="0"/>
                        </a:rPr>
                        <m:t>E</m:t>
                      </m:r>
                      <m:r>
                        <m:rPr>
                          <m:nor/>
                        </m:rPr>
                        <a:rPr lang="en-US" sz="3200" dirty="0">
                          <a:latin typeface="Monotype Corsiva" panose="03010101010201010101" pitchFamily="66" charset="0"/>
                        </a:rPr>
                        <m:t> + 1, </m:t>
                      </m:r>
                      <m:r>
                        <m:rPr>
                          <m:nor/>
                        </m:rPr>
                        <a:rPr lang="en-US" sz="3200" dirty="0">
                          <a:latin typeface="Monotype Corsiva" panose="03010101010201010101" pitchFamily="66" charset="0"/>
                        </a:rPr>
                        <m:t>Q</m:t>
                      </m:r>
                      <m:r>
                        <m:rPr>
                          <m:nor/>
                        </m:rPr>
                        <a:rPr lang="en-US" sz="3200" dirty="0">
                          <a:latin typeface="Monotype Corsiva" panose="03010101010201010101" pitchFamily="66" charset="0"/>
                        </a:rPr>
                        <m:t>[</m:t>
                      </m:r>
                      <m:r>
                        <m:rPr>
                          <m:nor/>
                        </m:rPr>
                        <a:rPr lang="en-US" sz="3200" dirty="0">
                          <a:latin typeface="Monotype Corsiva" panose="03010101010201010101" pitchFamily="66" charset="0"/>
                        </a:rPr>
                        <m:t>j</m:t>
                      </m:r>
                      <m:r>
                        <m:rPr>
                          <m:nor/>
                        </m:rPr>
                        <a:rPr lang="en-US" sz="3200" dirty="0">
                          <a:latin typeface="Monotype Corsiva" panose="03010101010201010101" pitchFamily="66" charset="0"/>
                        </a:rPr>
                        <m:t> + </m:t>
                      </m:r>
                      <m:r>
                        <m:rPr>
                          <m:nor/>
                        </m:rPr>
                        <a:rPr lang="en-US" sz="3200" dirty="0">
                          <a:latin typeface="Monotype Corsiva" panose="03010101010201010101" pitchFamily="66" charset="0"/>
                        </a:rPr>
                        <m:t>i</m:t>
                      </m:r>
                      <m:r>
                        <m:rPr>
                          <m:nor/>
                        </m:rPr>
                        <a:rPr lang="en-US" sz="3200" dirty="0">
                          <a:latin typeface="Monotype Corsiva" panose="03010101010201010101" pitchFamily="66" charset="0"/>
                        </a:rPr>
                        <m:t> − </m:t>
                      </m:r>
                      <m:r>
                        <m:rPr>
                          <m:nor/>
                        </m:rPr>
                        <a:rPr lang="en-US" sz="3200" dirty="0">
                          <a:latin typeface="Monotype Corsiva" panose="03010101010201010101" pitchFamily="66" charset="0"/>
                        </a:rPr>
                        <m:t>E</m:t>
                      </m:r>
                      <m:r>
                        <m:rPr>
                          <m:nor/>
                        </m:rPr>
                        <a:rPr lang="en-US" sz="3200" dirty="0">
                          <a:latin typeface="Monotype Corsiva" panose="03010101010201010101" pitchFamily="66" charset="0"/>
                        </a:rPr>
                        <m:t> − 1] = </m:t>
                      </m:r>
                      <m:r>
                        <m:rPr>
                          <m:nor/>
                        </m:rPr>
                        <a:rPr lang="en-US" sz="3200" dirty="0">
                          <a:latin typeface="Monotype Corsiva" panose="03010101010201010101" pitchFamily="66" charset="0"/>
                        </a:rPr>
                        <m:t>R</m:t>
                      </m:r>
                      <m:r>
                        <m:rPr>
                          <m:nor/>
                        </m:rPr>
                        <a:rPr lang="en-US" sz="3200" dirty="0">
                          <a:latin typeface="Monotype Corsiva" panose="03010101010201010101" pitchFamily="66" charset="0"/>
                        </a:rPr>
                        <m:t>[</m:t>
                      </m:r>
                      <m:r>
                        <m:rPr>
                          <m:nor/>
                        </m:rPr>
                        <a:rPr lang="en-US" sz="3200" dirty="0">
                          <a:latin typeface="Monotype Corsiva" panose="03010101010201010101" pitchFamily="66" charset="0"/>
                        </a:rPr>
                        <m:t>j</m:t>
                      </m:r>
                      <m:r>
                        <m:rPr>
                          <m:nor/>
                        </m:rPr>
                        <a:rPr lang="en-US" sz="3200" dirty="0">
                          <a:latin typeface="Monotype Corsiva" panose="03010101010201010101" pitchFamily="66" charset="0"/>
                        </a:rPr>
                        <m:t>]</m:t>
                      </m:r>
                    </m:oMath>
                  </m:oMathPara>
                </a14:m>
                <a:endParaRPr lang="en-US" sz="3200" dirty="0">
                  <a:latin typeface="Monotype Corsiva" panose="03010101010201010101" pitchFamily="66" charset="0"/>
                </a:endParaRPr>
              </a:p>
              <a:p>
                <a:pPr>
                  <a:lnSpc>
                    <a:spcPts val="3219"/>
                  </a:lnSpc>
                  <a:spcBef>
                    <a:spcPct val="0"/>
                  </a:spcBef>
                </a:pPr>
                <a:endParaRPr lang="en-US" sz="3200" dirty="0">
                  <a:latin typeface="Monotype Corsiva" panose="03010101010201010101" pitchFamily="66" charset="0"/>
                </a:endParaRPr>
              </a:p>
              <a:p>
                <a:pPr>
                  <a:lnSpc>
                    <a:spcPts val="3219"/>
                  </a:lnSpc>
                  <a:spcBef>
                    <a:spcPct val="0"/>
                  </a:spcBef>
                </a:pPr>
                <a:r>
                  <a:rPr lang="en-US" sz="2400" dirty="0">
                    <a:latin typeface="Mongolian Baiti" panose="03000500000000000000" pitchFamily="66" charset="0"/>
                    <a:cs typeface="Mongolian Baiti" panose="03000500000000000000" pitchFamily="66" charset="0"/>
                  </a:rPr>
                  <a:t>if </a:t>
                </a:r>
                <a14:m>
                  <m:oMath xmlns:m="http://schemas.openxmlformats.org/officeDocument/2006/math">
                    <m:r>
                      <m:rPr>
                        <m:nor/>
                      </m:rPr>
                      <a:rPr lang="en-US" sz="2400" dirty="0">
                        <a:latin typeface="Mongolian Baiti" panose="03000500000000000000" pitchFamily="66" charset="0"/>
                        <a:cs typeface="Mongolian Baiti" panose="03000500000000000000" pitchFamily="66" charset="0"/>
                      </a:rPr>
                      <m:t>Z</m:t>
                    </m:r>
                    <m:r>
                      <m:rPr>
                        <m:nor/>
                      </m:rPr>
                      <a:rPr lang="en-US" sz="2400" dirty="0">
                        <a:latin typeface="Mongolian Baiti" panose="03000500000000000000" pitchFamily="66" charset="0"/>
                        <a:cs typeface="Mongolian Baiti" panose="03000500000000000000" pitchFamily="66" charset="0"/>
                      </a:rPr>
                      <m:t>[</m:t>
                    </m:r>
                    <m:r>
                      <m:rPr>
                        <m:nor/>
                      </m:rPr>
                      <a:rPr lang="en-US" sz="2400" dirty="0">
                        <a:latin typeface="Mongolian Baiti" panose="03000500000000000000" pitchFamily="66" charset="0"/>
                        <a:cs typeface="Mongolian Baiti" panose="03000500000000000000" pitchFamily="66" charset="0"/>
                      </a:rPr>
                      <m:t>i</m:t>
                    </m:r>
                    <m:r>
                      <m:rPr>
                        <m:nor/>
                      </m:rPr>
                      <a:rPr lang="en-US" sz="2400" dirty="0">
                        <a:latin typeface="Mongolian Baiti" panose="03000500000000000000" pitchFamily="66" charset="0"/>
                        <a:cs typeface="Mongolian Baiti" panose="03000500000000000000" pitchFamily="66" charset="0"/>
                      </a:rPr>
                      <m:t>, </m:t>
                    </m:r>
                    <m:r>
                      <m:rPr>
                        <m:nor/>
                      </m:rPr>
                      <a:rPr lang="en-US" sz="2400" dirty="0">
                        <a:latin typeface="Mongolian Baiti" panose="03000500000000000000" pitchFamily="66" charset="0"/>
                        <a:cs typeface="Mongolian Baiti" panose="03000500000000000000" pitchFamily="66" charset="0"/>
                      </a:rPr>
                      <m:t>j</m:t>
                    </m:r>
                    <m:r>
                      <m:rPr>
                        <m:nor/>
                      </m:rPr>
                      <a:rPr lang="en-US" sz="2400" dirty="0">
                        <a:latin typeface="Mongolian Baiti" panose="03000500000000000000" pitchFamily="66" charset="0"/>
                        <a:cs typeface="Mongolian Baiti" panose="03000500000000000000" pitchFamily="66" charset="0"/>
                      </a:rPr>
                      <m:t>] = 0</m:t>
                    </m:r>
                  </m:oMath>
                </a14:m>
                <a:endParaRPr lang="en-US" sz="2400" dirty="0">
                  <a:latin typeface="Mongolian Baiti" panose="03000500000000000000" pitchFamily="66" charset="0"/>
                  <a:cs typeface="Mongolian Baiti" panose="03000500000000000000" pitchFamily="66" charset="0"/>
                </a:endParaRPr>
              </a:p>
              <a:p>
                <a:pPr>
                  <a:lnSpc>
                    <a:spcPts val="3219"/>
                  </a:lnSpc>
                  <a:spcBef>
                    <a:spcPct val="0"/>
                  </a:spcBef>
                </a:pPr>
                <a:r>
                  <a:rPr lang="en-US" sz="2400" dirty="0">
                    <a:latin typeface="Mongolian Baiti" panose="03000500000000000000" pitchFamily="66" charset="0"/>
                    <a:cs typeface="Mongolian Baiti" panose="03000500000000000000" pitchFamily="66" charset="0"/>
                  </a:rPr>
                  <a:t>	count = count + 1</a:t>
                </a:r>
              </a:p>
              <a:p>
                <a:pPr>
                  <a:lnSpc>
                    <a:spcPts val="3219"/>
                  </a:lnSpc>
                  <a:spcBef>
                    <a:spcPct val="0"/>
                  </a:spcBef>
                </a:pPr>
                <a:r>
                  <a:rPr lang="en-GB" sz="2400" dirty="0">
                    <a:latin typeface="Mongolian Baiti" panose="03000500000000000000" pitchFamily="66" charset="0"/>
                    <a:cs typeface="Mongolian Baiti" panose="03000500000000000000" pitchFamily="66" charset="0"/>
                  </a:rPr>
                  <a:t>if count &gt; longest es seg then</a:t>
                </a:r>
                <a:br>
                  <a:rPr lang="en-GB" sz="2400" dirty="0">
                    <a:latin typeface="Mongolian Baiti" panose="03000500000000000000" pitchFamily="66" charset="0"/>
                    <a:cs typeface="Mongolian Baiti" panose="03000500000000000000" pitchFamily="66" charset="0"/>
                  </a:rPr>
                </a:br>
                <a:r>
                  <a:rPr lang="en-GB" sz="2400" dirty="0" err="1">
                    <a:latin typeface="Mongolian Baiti" panose="03000500000000000000" pitchFamily="66" charset="0"/>
                    <a:cs typeface="Mongolian Baiti" panose="03000500000000000000" pitchFamily="66" charset="0"/>
                  </a:rPr>
                  <a:t>longest_es_Seg</a:t>
                </a:r>
                <a:r>
                  <a:rPr lang="en-GB" sz="2400" dirty="0">
                    <a:latin typeface="Mongolian Baiti" panose="03000500000000000000" pitchFamily="66" charset="0"/>
                    <a:cs typeface="Mongolian Baiti" panose="03000500000000000000" pitchFamily="66" charset="0"/>
                  </a:rPr>
                  <a:t> = count</a:t>
                </a:r>
              </a:p>
            </p:txBody>
          </p:sp>
        </mc:Choice>
        <mc:Fallback xmlns="">
          <p:sp>
            <p:nvSpPr>
              <p:cNvPr id="21" name="TextBox 20">
                <a:extLst>
                  <a:ext uri="{FF2B5EF4-FFF2-40B4-BE49-F238E27FC236}">
                    <a16:creationId xmlns:a16="http://schemas.microsoft.com/office/drawing/2014/main" id="{00803D91-61DB-2A14-9F28-E865EB739A85}"/>
                  </a:ext>
                </a:extLst>
              </p:cNvPr>
              <p:cNvSpPr txBox="1">
                <a:spLocks noRot="1" noChangeAspect="1" noMove="1" noResize="1" noEditPoints="1" noAdjustHandles="1" noChangeArrowheads="1" noChangeShapeType="1" noTextEdit="1"/>
              </p:cNvSpPr>
              <p:nvPr/>
            </p:nvSpPr>
            <p:spPr>
              <a:xfrm>
                <a:off x="9634076" y="1436099"/>
                <a:ext cx="7716887" cy="4983095"/>
              </a:xfrm>
              <a:prstGeom prst="rect">
                <a:avLst/>
              </a:prstGeom>
              <a:blipFill>
                <a:blip r:embed="rId3"/>
                <a:stretch>
                  <a:fillRect l="-2370" t="-1714" b="-2693"/>
                </a:stretch>
              </a:blipFill>
            </p:spPr>
            <p:txBody>
              <a:bodyPr/>
              <a:lstStyle/>
              <a:p>
                <a:r>
                  <a:rPr lang="en-US">
                    <a:noFill/>
                  </a:rPr>
                  <a:t> </a:t>
                </a:r>
              </a:p>
            </p:txBody>
          </p:sp>
        </mc:Fallback>
      </mc:AlternateContent>
      <p:grpSp>
        <p:nvGrpSpPr>
          <p:cNvPr id="116" name="Group 115">
            <a:extLst>
              <a:ext uri="{FF2B5EF4-FFF2-40B4-BE49-F238E27FC236}">
                <a16:creationId xmlns:a16="http://schemas.microsoft.com/office/drawing/2014/main" id="{D5BC5B3E-522E-E42B-9BFB-C8C9708EA7C5}"/>
              </a:ext>
            </a:extLst>
          </p:cNvPr>
          <p:cNvGrpSpPr/>
          <p:nvPr/>
        </p:nvGrpSpPr>
        <p:grpSpPr>
          <a:xfrm>
            <a:off x="1676400" y="6756166"/>
            <a:ext cx="6441884" cy="1849284"/>
            <a:chOff x="1676400" y="6756166"/>
            <a:chExt cx="6441884" cy="1849284"/>
          </a:xfrm>
        </p:grpSpPr>
        <p:grpSp>
          <p:nvGrpSpPr>
            <p:cNvPr id="110" name="Group 109">
              <a:extLst>
                <a:ext uri="{FF2B5EF4-FFF2-40B4-BE49-F238E27FC236}">
                  <a16:creationId xmlns:a16="http://schemas.microsoft.com/office/drawing/2014/main" id="{83D6FAAA-284C-5046-0047-76DD9A038C65}"/>
                </a:ext>
              </a:extLst>
            </p:cNvPr>
            <p:cNvGrpSpPr/>
            <p:nvPr/>
          </p:nvGrpSpPr>
          <p:grpSpPr>
            <a:xfrm>
              <a:off x="1676400" y="6949099"/>
              <a:ext cx="6441884" cy="1528766"/>
              <a:chOff x="1648783" y="6949099"/>
              <a:chExt cx="6441884" cy="1528766"/>
            </a:xfrm>
          </p:grpSpPr>
          <p:sp>
            <p:nvSpPr>
              <p:cNvPr id="80" name="Rectangle 79">
                <a:extLst>
                  <a:ext uri="{FF2B5EF4-FFF2-40B4-BE49-F238E27FC236}">
                    <a16:creationId xmlns:a16="http://schemas.microsoft.com/office/drawing/2014/main" id="{279C4513-F3D7-BFB2-6E1D-2E24C83C3ABF}"/>
                  </a:ext>
                </a:extLst>
              </p:cNvPr>
              <p:cNvSpPr/>
              <p:nvPr/>
            </p:nvSpPr>
            <p:spPr>
              <a:xfrm>
                <a:off x="1653359" y="8127170"/>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E67A766-AC13-EFCC-2E14-75F31FC70FE1}"/>
                  </a:ext>
                </a:extLst>
              </p:cNvPr>
              <p:cNvSpPr/>
              <p:nvPr/>
            </p:nvSpPr>
            <p:spPr>
              <a:xfrm>
                <a:off x="1648783" y="8383509"/>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97CEA54-B6DA-6CD6-DD37-B8062AE6FF0B}"/>
                  </a:ext>
                </a:extLst>
              </p:cNvPr>
              <p:cNvSpPr/>
              <p:nvPr/>
            </p:nvSpPr>
            <p:spPr>
              <a:xfrm>
                <a:off x="1653359" y="6949099"/>
                <a:ext cx="6437308" cy="94356"/>
              </a:xfrm>
              <a:prstGeom prst="rect">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3E59E0A-B377-4C32-D6F0-1F3209CDBB24}"/>
                  </a:ext>
                </a:extLst>
              </p:cNvPr>
              <p:cNvSpPr/>
              <p:nvPr/>
            </p:nvSpPr>
            <p:spPr>
              <a:xfrm>
                <a:off x="1653359" y="7162338"/>
                <a:ext cx="6437308" cy="94356"/>
              </a:xfrm>
              <a:prstGeom prst="rect">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C6FE2EA-C414-5587-ADA3-FE34FEB4253D}"/>
                  </a:ext>
                </a:extLst>
              </p:cNvPr>
              <p:cNvSpPr/>
              <p:nvPr/>
            </p:nvSpPr>
            <p:spPr>
              <a:xfrm>
                <a:off x="1653359" y="7386250"/>
                <a:ext cx="6437308" cy="94356"/>
              </a:xfrm>
              <a:prstGeom prst="rect">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29CDF5E-C307-2366-F0EE-28C2F3A07F78}"/>
                  </a:ext>
                </a:extLst>
              </p:cNvPr>
              <p:cNvSpPr/>
              <p:nvPr/>
            </p:nvSpPr>
            <p:spPr>
              <a:xfrm>
                <a:off x="1653359" y="7624016"/>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C1322D8-7F8D-795C-BF22-76D8CA530131}"/>
                  </a:ext>
                </a:extLst>
              </p:cNvPr>
              <p:cNvSpPr/>
              <p:nvPr/>
            </p:nvSpPr>
            <p:spPr>
              <a:xfrm>
                <a:off x="1653359" y="7869548"/>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3AE224CB-2725-4568-2631-E75DB9E4AA7C}"/>
                </a:ext>
              </a:extLst>
            </p:cNvPr>
            <p:cNvSpPr/>
            <p:nvPr/>
          </p:nvSpPr>
          <p:spPr>
            <a:xfrm>
              <a:off x="1805758" y="6779899"/>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95DE4AD-247C-E8AD-E018-B5F8AD05066B}"/>
                </a:ext>
              </a:extLst>
            </p:cNvPr>
            <p:cNvSpPr/>
            <p:nvPr/>
          </p:nvSpPr>
          <p:spPr>
            <a:xfrm>
              <a:off x="2118082" y="6776084"/>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12B816E-5CBA-4FBC-6457-2016E1F8BE8C}"/>
                </a:ext>
              </a:extLst>
            </p:cNvPr>
            <p:cNvSpPr/>
            <p:nvPr/>
          </p:nvSpPr>
          <p:spPr>
            <a:xfrm>
              <a:off x="2452928" y="6773170"/>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598FF7D-FBEB-B30F-B96A-3C81FD9094D3}"/>
                </a:ext>
              </a:extLst>
            </p:cNvPr>
            <p:cNvSpPr/>
            <p:nvPr/>
          </p:nvSpPr>
          <p:spPr>
            <a:xfrm>
              <a:off x="2765252" y="6769355"/>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0201F1F-8F54-1723-C1C4-C5E288DDA3B1}"/>
                </a:ext>
              </a:extLst>
            </p:cNvPr>
            <p:cNvSpPr/>
            <p:nvPr/>
          </p:nvSpPr>
          <p:spPr>
            <a:xfrm>
              <a:off x="3054076" y="6772395"/>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421F3DC-DE75-9B3B-67C1-08E41AFF865C}"/>
                </a:ext>
              </a:extLst>
            </p:cNvPr>
            <p:cNvSpPr/>
            <p:nvPr/>
          </p:nvSpPr>
          <p:spPr>
            <a:xfrm>
              <a:off x="3366400" y="6768580"/>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3DF9B3F-5313-2F21-0605-90DC2394082C}"/>
                </a:ext>
              </a:extLst>
            </p:cNvPr>
            <p:cNvSpPr/>
            <p:nvPr/>
          </p:nvSpPr>
          <p:spPr>
            <a:xfrm>
              <a:off x="3701246" y="6765666"/>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5A0506B-93C9-E030-EB3A-310DCFD3F721}"/>
                </a:ext>
              </a:extLst>
            </p:cNvPr>
            <p:cNvSpPr/>
            <p:nvPr/>
          </p:nvSpPr>
          <p:spPr>
            <a:xfrm>
              <a:off x="4013570" y="6761851"/>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9C383829-045D-E00A-4E2D-944EA8DEF69A}"/>
                </a:ext>
              </a:extLst>
            </p:cNvPr>
            <p:cNvSpPr/>
            <p:nvPr/>
          </p:nvSpPr>
          <p:spPr>
            <a:xfrm>
              <a:off x="4331276" y="6766710"/>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E1897D7-67EC-1750-EDCC-AE813C1830BD}"/>
                </a:ext>
              </a:extLst>
            </p:cNvPr>
            <p:cNvSpPr/>
            <p:nvPr/>
          </p:nvSpPr>
          <p:spPr>
            <a:xfrm>
              <a:off x="4643600" y="6762895"/>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6687B0F-5A48-28FB-735F-C24ABC67970C}"/>
                </a:ext>
              </a:extLst>
            </p:cNvPr>
            <p:cNvSpPr/>
            <p:nvPr/>
          </p:nvSpPr>
          <p:spPr>
            <a:xfrm>
              <a:off x="4978446" y="6759981"/>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3D85E51-915B-0766-D352-7EB71EF31CA8}"/>
                </a:ext>
              </a:extLst>
            </p:cNvPr>
            <p:cNvSpPr/>
            <p:nvPr/>
          </p:nvSpPr>
          <p:spPr>
            <a:xfrm>
              <a:off x="5290770" y="6756166"/>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01FD5A4-867E-8FC0-F869-7073EE1ADDB4}"/>
                </a:ext>
              </a:extLst>
            </p:cNvPr>
            <p:cNvSpPr/>
            <p:nvPr/>
          </p:nvSpPr>
          <p:spPr>
            <a:xfrm>
              <a:off x="5653219" y="6784743"/>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7C8841E-0CF3-3A4D-DB94-85D028F13CD2}"/>
                </a:ext>
              </a:extLst>
            </p:cNvPr>
            <p:cNvSpPr/>
            <p:nvPr/>
          </p:nvSpPr>
          <p:spPr>
            <a:xfrm>
              <a:off x="5965542" y="6780928"/>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63A6459-81F1-E164-A9FF-A48291633248}"/>
                </a:ext>
              </a:extLst>
            </p:cNvPr>
            <p:cNvSpPr/>
            <p:nvPr/>
          </p:nvSpPr>
          <p:spPr>
            <a:xfrm>
              <a:off x="6300389" y="6778014"/>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41132AD-3E85-B738-43B8-B68EF5FD7857}"/>
                </a:ext>
              </a:extLst>
            </p:cNvPr>
            <p:cNvSpPr/>
            <p:nvPr/>
          </p:nvSpPr>
          <p:spPr>
            <a:xfrm>
              <a:off x="6612713" y="6774199"/>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02E9876-B34C-3B60-20B7-4C69B70F8B12}"/>
                </a:ext>
              </a:extLst>
            </p:cNvPr>
            <p:cNvSpPr/>
            <p:nvPr/>
          </p:nvSpPr>
          <p:spPr>
            <a:xfrm>
              <a:off x="6967020" y="6766710"/>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0E9DE32-BF4F-CAA9-D043-028DA32EE8D1}"/>
                </a:ext>
              </a:extLst>
            </p:cNvPr>
            <p:cNvSpPr/>
            <p:nvPr/>
          </p:nvSpPr>
          <p:spPr>
            <a:xfrm>
              <a:off x="7279344" y="6762895"/>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E39998EA-06FE-32D3-7F94-E7BA79455021}"/>
                </a:ext>
              </a:extLst>
            </p:cNvPr>
            <p:cNvSpPr/>
            <p:nvPr/>
          </p:nvSpPr>
          <p:spPr>
            <a:xfrm>
              <a:off x="7614191" y="6759981"/>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B7A52E1-74ED-018A-12A8-6E9F290F8AE1}"/>
                </a:ext>
              </a:extLst>
            </p:cNvPr>
            <p:cNvSpPr/>
            <p:nvPr/>
          </p:nvSpPr>
          <p:spPr>
            <a:xfrm>
              <a:off x="7926514" y="6756166"/>
              <a:ext cx="46848" cy="182070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11" name="Group 110">
            <a:extLst>
              <a:ext uri="{FF2B5EF4-FFF2-40B4-BE49-F238E27FC236}">
                <a16:creationId xmlns:a16="http://schemas.microsoft.com/office/drawing/2014/main" id="{59842F1B-53A3-B947-9D13-E1434AF5C1E4}"/>
              </a:ext>
            </a:extLst>
          </p:cNvPr>
          <p:cNvGrpSpPr/>
          <p:nvPr/>
        </p:nvGrpSpPr>
        <p:grpSpPr>
          <a:xfrm>
            <a:off x="10270647" y="6747671"/>
            <a:ext cx="6441884" cy="1849284"/>
            <a:chOff x="10270647" y="6747671"/>
            <a:chExt cx="6441884" cy="1849284"/>
          </a:xfrm>
        </p:grpSpPr>
        <p:sp>
          <p:nvSpPr>
            <p:cNvPr id="82" name="Rectangle 81">
              <a:extLst>
                <a:ext uri="{FF2B5EF4-FFF2-40B4-BE49-F238E27FC236}">
                  <a16:creationId xmlns:a16="http://schemas.microsoft.com/office/drawing/2014/main" id="{3DCF31D4-3298-1A79-E6BF-DEF1983DA840}"/>
                </a:ext>
              </a:extLst>
            </p:cNvPr>
            <p:cNvSpPr/>
            <p:nvPr/>
          </p:nvSpPr>
          <p:spPr>
            <a:xfrm>
              <a:off x="10275223" y="8118675"/>
              <a:ext cx="6437308" cy="94356"/>
            </a:xfrm>
            <a:prstGeom prst="rect">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4BB40934-C4CF-171E-4FA7-07BB4238ACD2}"/>
                </a:ext>
              </a:extLst>
            </p:cNvPr>
            <p:cNvSpPr/>
            <p:nvPr/>
          </p:nvSpPr>
          <p:spPr>
            <a:xfrm>
              <a:off x="10270647" y="8375014"/>
              <a:ext cx="6437308" cy="94356"/>
            </a:xfrm>
            <a:prstGeom prst="rect">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F8470099-74DF-9F5D-1862-8A6F0D7D42C0}"/>
                </a:ext>
              </a:extLst>
            </p:cNvPr>
            <p:cNvSpPr/>
            <p:nvPr/>
          </p:nvSpPr>
          <p:spPr>
            <a:xfrm>
              <a:off x="10275223" y="6940604"/>
              <a:ext cx="6437308" cy="94356"/>
            </a:xfrm>
            <a:prstGeom prst="rect">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85A0A3CA-5587-5DC4-CF82-BAFD8CCBAAB1}"/>
                </a:ext>
              </a:extLst>
            </p:cNvPr>
            <p:cNvSpPr/>
            <p:nvPr/>
          </p:nvSpPr>
          <p:spPr>
            <a:xfrm>
              <a:off x="10275223" y="7153843"/>
              <a:ext cx="6437308" cy="94356"/>
            </a:xfrm>
            <a:prstGeom prst="rect">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4850D2B7-91F9-4B7C-1C0B-1D0507BD7369}"/>
                </a:ext>
              </a:extLst>
            </p:cNvPr>
            <p:cNvSpPr/>
            <p:nvPr/>
          </p:nvSpPr>
          <p:spPr>
            <a:xfrm>
              <a:off x="10275223" y="7377755"/>
              <a:ext cx="6437308" cy="94356"/>
            </a:xfrm>
            <a:prstGeom prst="rect">
              <a:avLst/>
            </a:prstGeom>
            <a:solidFill>
              <a:schemeClr val="tx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7D21C2D3-B63E-87CE-CE41-A4CD8C3395BE}"/>
                </a:ext>
              </a:extLst>
            </p:cNvPr>
            <p:cNvSpPr/>
            <p:nvPr/>
          </p:nvSpPr>
          <p:spPr>
            <a:xfrm>
              <a:off x="10275223" y="7615521"/>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5493AE9D-0387-77E6-BAF5-425942F4F1C1}"/>
                </a:ext>
              </a:extLst>
            </p:cNvPr>
            <p:cNvSpPr/>
            <p:nvPr/>
          </p:nvSpPr>
          <p:spPr>
            <a:xfrm>
              <a:off x="10275223" y="7861053"/>
              <a:ext cx="6437308" cy="94356"/>
            </a:xfrm>
            <a:prstGeom prst="rect">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89" name="Group 88">
              <a:extLst>
                <a:ext uri="{FF2B5EF4-FFF2-40B4-BE49-F238E27FC236}">
                  <a16:creationId xmlns:a16="http://schemas.microsoft.com/office/drawing/2014/main" id="{290EFD50-34E6-27D6-F54B-6445F43D57EC}"/>
                </a:ext>
              </a:extLst>
            </p:cNvPr>
            <p:cNvGrpSpPr/>
            <p:nvPr/>
          </p:nvGrpSpPr>
          <p:grpSpPr>
            <a:xfrm>
              <a:off x="10427622" y="6747671"/>
              <a:ext cx="6167604" cy="1849284"/>
              <a:chOff x="1447800" y="6799415"/>
              <a:chExt cx="6019026" cy="1596213"/>
            </a:xfrm>
          </p:grpSpPr>
          <p:sp>
            <p:nvSpPr>
              <p:cNvPr id="90" name="Rectangle 89">
                <a:extLst>
                  <a:ext uri="{FF2B5EF4-FFF2-40B4-BE49-F238E27FC236}">
                    <a16:creationId xmlns:a16="http://schemas.microsoft.com/office/drawing/2014/main" id="{E52029EE-2D38-9220-BADD-5BF23BC9207A}"/>
                  </a:ext>
                </a:extLst>
              </p:cNvPr>
              <p:cNvSpPr/>
              <p:nvPr/>
            </p:nvSpPr>
            <p:spPr>
              <a:xfrm>
                <a:off x="1447800" y="681990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3CE5CC5E-175F-5623-1B23-E3728767033B}"/>
                  </a:ext>
                </a:extLst>
              </p:cNvPr>
              <p:cNvSpPr/>
              <p:nvPr/>
            </p:nvSpPr>
            <p:spPr>
              <a:xfrm>
                <a:off x="1752600" y="6816607"/>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BB9E1A86-7052-C787-1BEC-6BE8264919E0}"/>
                  </a:ext>
                </a:extLst>
              </p:cNvPr>
              <p:cNvSpPr/>
              <p:nvPr/>
            </p:nvSpPr>
            <p:spPr>
              <a:xfrm>
                <a:off x="2079380" y="6814092"/>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B08B5F02-0B79-CAB4-7B71-2F03BDF0CE08}"/>
                  </a:ext>
                </a:extLst>
              </p:cNvPr>
              <p:cNvSpPr/>
              <p:nvPr/>
            </p:nvSpPr>
            <p:spPr>
              <a:xfrm>
                <a:off x="2384180" y="6810799"/>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AACB8142-0BD5-11B4-3C1D-94EDD8EBE7C8}"/>
                  </a:ext>
                </a:extLst>
              </p:cNvPr>
              <p:cNvSpPr/>
              <p:nvPr/>
            </p:nvSpPr>
            <p:spPr>
              <a:xfrm>
                <a:off x="2666046" y="68134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80CA7500-05C8-AEC3-91D2-366933813458}"/>
                  </a:ext>
                </a:extLst>
              </p:cNvPr>
              <p:cNvSpPr/>
              <p:nvPr/>
            </p:nvSpPr>
            <p:spPr>
              <a:xfrm>
                <a:off x="2970846" y="681013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C42FE804-B772-2F07-9D70-B3D2C4B69785}"/>
                  </a:ext>
                </a:extLst>
              </p:cNvPr>
              <p:cNvSpPr/>
              <p:nvPr/>
            </p:nvSpPr>
            <p:spPr>
              <a:xfrm>
                <a:off x="3297626" y="68076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75BF0F31-B1C2-1A02-6A34-829F455896D6}"/>
                  </a:ext>
                </a:extLst>
              </p:cNvPr>
              <p:cNvSpPr/>
              <p:nvPr/>
            </p:nvSpPr>
            <p:spPr>
              <a:xfrm>
                <a:off x="3602426" y="6804322"/>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C53F1237-4410-8EFA-3FF5-81F109169DFF}"/>
                  </a:ext>
                </a:extLst>
              </p:cNvPr>
              <p:cNvSpPr/>
              <p:nvPr/>
            </p:nvSpPr>
            <p:spPr>
              <a:xfrm>
                <a:off x="3912478" y="6808516"/>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9C652996-2B3E-1C58-E0F1-82F55E4BCEF6}"/>
                  </a:ext>
                </a:extLst>
              </p:cNvPr>
              <p:cNvSpPr/>
              <p:nvPr/>
            </p:nvSpPr>
            <p:spPr>
              <a:xfrm>
                <a:off x="4217278" y="68052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385A82B3-4B8A-C30A-C3B6-358ACF67A3B9}"/>
                  </a:ext>
                </a:extLst>
              </p:cNvPr>
              <p:cNvSpPr/>
              <p:nvPr/>
            </p:nvSpPr>
            <p:spPr>
              <a:xfrm>
                <a:off x="4544058" y="680270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16FE43E3-23E5-3FED-2CCE-47DA6823C5F9}"/>
                  </a:ext>
                </a:extLst>
              </p:cNvPr>
              <p:cNvSpPr/>
              <p:nvPr/>
            </p:nvSpPr>
            <p:spPr>
              <a:xfrm>
                <a:off x="4848858" y="67994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8C1A23A5-B05C-6219-4AB6-03361AE571A1}"/>
                  </a:ext>
                </a:extLst>
              </p:cNvPr>
              <p:cNvSpPr/>
              <p:nvPr/>
            </p:nvSpPr>
            <p:spPr>
              <a:xfrm>
                <a:off x="5202575" y="6824081"/>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5D24FA36-D148-68E1-7AD2-354464C31389}"/>
                  </a:ext>
                </a:extLst>
              </p:cNvPr>
              <p:cNvSpPr/>
              <p:nvPr/>
            </p:nvSpPr>
            <p:spPr>
              <a:xfrm>
                <a:off x="5507375" y="682078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7437409D-08BF-5A54-78A6-DC56193C1A61}"/>
                  </a:ext>
                </a:extLst>
              </p:cNvPr>
              <p:cNvSpPr/>
              <p:nvPr/>
            </p:nvSpPr>
            <p:spPr>
              <a:xfrm>
                <a:off x="5834155" y="681827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D6A6A936-44CF-9600-1306-96113B7D0E8D}"/>
                  </a:ext>
                </a:extLst>
              </p:cNvPr>
              <p:cNvSpPr/>
              <p:nvPr/>
            </p:nvSpPr>
            <p:spPr>
              <a:xfrm>
                <a:off x="6138955" y="681498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13AC1E76-9103-331E-511B-F592FC443C7B}"/>
                  </a:ext>
                </a:extLst>
              </p:cNvPr>
              <p:cNvSpPr/>
              <p:nvPr/>
            </p:nvSpPr>
            <p:spPr>
              <a:xfrm>
                <a:off x="6484727" y="6808516"/>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26021AAC-36CA-7BF6-0DA3-324A751B3234}"/>
                  </a:ext>
                </a:extLst>
              </p:cNvPr>
              <p:cNvSpPr/>
              <p:nvPr/>
            </p:nvSpPr>
            <p:spPr>
              <a:xfrm>
                <a:off x="6789527" y="68052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D1921309-7E13-83B2-9685-56E3C64A9143}"/>
                  </a:ext>
                </a:extLst>
              </p:cNvPr>
              <p:cNvSpPr/>
              <p:nvPr/>
            </p:nvSpPr>
            <p:spPr>
              <a:xfrm>
                <a:off x="7116307" y="680270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3ADC1B7E-1310-F12A-7AF9-B92C0BAF16CE}"/>
                  </a:ext>
                </a:extLst>
              </p:cNvPr>
              <p:cNvSpPr/>
              <p:nvPr/>
            </p:nvSpPr>
            <p:spPr>
              <a:xfrm>
                <a:off x="7421107" y="67994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
        <p:nvSpPr>
          <p:cNvPr id="112" name="Rectangle 111">
            <a:extLst>
              <a:ext uri="{FF2B5EF4-FFF2-40B4-BE49-F238E27FC236}">
                <a16:creationId xmlns:a16="http://schemas.microsoft.com/office/drawing/2014/main" id="{CC618165-07B2-548F-29AB-7F5EF389964A}"/>
              </a:ext>
            </a:extLst>
          </p:cNvPr>
          <p:cNvSpPr/>
          <p:nvPr/>
        </p:nvSpPr>
        <p:spPr>
          <a:xfrm>
            <a:off x="1651427" y="7386250"/>
            <a:ext cx="2962357" cy="94356"/>
          </a:xfrm>
          <a:prstGeom prst="rect">
            <a:avLst/>
          </a:prstGeom>
          <a:solidFill>
            <a:schemeClr val="accent5"/>
          </a:solidFill>
          <a:ln>
            <a:solidFill>
              <a:schemeClr val="accent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F43BDBE6-8F63-1300-522D-B1B8BAD8BE0E}"/>
              </a:ext>
            </a:extLst>
          </p:cNvPr>
          <p:cNvSpPr/>
          <p:nvPr/>
        </p:nvSpPr>
        <p:spPr>
          <a:xfrm>
            <a:off x="4560004" y="7317529"/>
            <a:ext cx="214181" cy="251208"/>
          </a:xfrm>
          <a:prstGeom prst="ellipse">
            <a:avLst/>
          </a:prstGeom>
          <a:solidFill>
            <a:schemeClr val="tx1">
              <a:lumMod val="95000"/>
              <a:lumOff val="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41E5AA86-0E84-BD8E-851D-5A4ED21F35F0}"/>
              </a:ext>
            </a:extLst>
          </p:cNvPr>
          <p:cNvSpPr/>
          <p:nvPr/>
        </p:nvSpPr>
        <p:spPr>
          <a:xfrm>
            <a:off x="1612873" y="7160633"/>
            <a:ext cx="4635527" cy="94356"/>
          </a:xfrm>
          <a:prstGeom prst="rect">
            <a:avLst/>
          </a:prstGeom>
          <a:solidFill>
            <a:schemeClr val="accent5"/>
          </a:solidFill>
          <a:ln>
            <a:solidFill>
              <a:schemeClr val="accent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AE67BAE7-580B-BD6A-C92B-AC11B1D9B543}"/>
              </a:ext>
            </a:extLst>
          </p:cNvPr>
          <p:cNvSpPr/>
          <p:nvPr/>
        </p:nvSpPr>
        <p:spPr>
          <a:xfrm>
            <a:off x="6177203" y="7091912"/>
            <a:ext cx="258755" cy="251208"/>
          </a:xfrm>
          <a:prstGeom prst="ellipse">
            <a:avLst/>
          </a:prstGeom>
          <a:solidFill>
            <a:schemeClr val="tx1">
              <a:lumMod val="95000"/>
              <a:lumOff val="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282FFA3C-3AC5-552C-B79A-9A709F23493A}"/>
              </a:ext>
            </a:extLst>
          </p:cNvPr>
          <p:cNvSpPr/>
          <p:nvPr/>
        </p:nvSpPr>
        <p:spPr>
          <a:xfrm>
            <a:off x="10259136" y="7847886"/>
            <a:ext cx="2962357" cy="94356"/>
          </a:xfrm>
          <a:prstGeom prst="rect">
            <a:avLst/>
          </a:prstGeom>
          <a:solidFill>
            <a:schemeClr val="accent5"/>
          </a:solidFill>
          <a:ln>
            <a:solidFill>
              <a:schemeClr val="accent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DEE360E8-57E5-AEDA-EB8E-63E87ABEF868}"/>
              </a:ext>
            </a:extLst>
          </p:cNvPr>
          <p:cNvSpPr/>
          <p:nvPr/>
        </p:nvSpPr>
        <p:spPr>
          <a:xfrm>
            <a:off x="13167713" y="7779165"/>
            <a:ext cx="214181" cy="251208"/>
          </a:xfrm>
          <a:prstGeom prst="ellipse">
            <a:avLst/>
          </a:prstGeom>
          <a:solidFill>
            <a:schemeClr val="tx1">
              <a:lumMod val="95000"/>
              <a:lumOff val="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FF822E3F-AE03-B775-F0DF-23FBB260F519}"/>
              </a:ext>
            </a:extLst>
          </p:cNvPr>
          <p:cNvSpPr/>
          <p:nvPr/>
        </p:nvSpPr>
        <p:spPr>
          <a:xfrm>
            <a:off x="10284438" y="8376340"/>
            <a:ext cx="4635527" cy="94356"/>
          </a:xfrm>
          <a:prstGeom prst="rect">
            <a:avLst/>
          </a:prstGeom>
          <a:solidFill>
            <a:schemeClr val="accent5"/>
          </a:solidFill>
          <a:ln>
            <a:solidFill>
              <a:schemeClr val="accent5"/>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39BE5006-CAA1-9BB7-2870-C42773B1767B}"/>
              </a:ext>
            </a:extLst>
          </p:cNvPr>
          <p:cNvSpPr/>
          <p:nvPr/>
        </p:nvSpPr>
        <p:spPr>
          <a:xfrm>
            <a:off x="14848768" y="8307619"/>
            <a:ext cx="258755" cy="251208"/>
          </a:xfrm>
          <a:prstGeom prst="ellipse">
            <a:avLst/>
          </a:prstGeom>
          <a:solidFill>
            <a:schemeClr val="tx1">
              <a:lumMod val="95000"/>
              <a:lumOff val="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 calcmode="lin" valueType="num">
                                      <p:cBhvr additive="base">
                                        <p:cTn id="7" dur="500" fill="hold"/>
                                        <p:tgtEl>
                                          <p:spTgt spid="116"/>
                                        </p:tgtEl>
                                        <p:attrNameLst>
                                          <p:attrName>ppt_x</p:attrName>
                                        </p:attrNameLst>
                                      </p:cBhvr>
                                      <p:tavLst>
                                        <p:tav tm="0">
                                          <p:val>
                                            <p:strVal val="#ppt_x"/>
                                          </p:val>
                                        </p:tav>
                                        <p:tav tm="100000">
                                          <p:val>
                                            <p:strVal val="#ppt_x"/>
                                          </p:val>
                                        </p:tav>
                                      </p:tavLst>
                                    </p:anim>
                                    <p:anim calcmode="lin" valueType="num">
                                      <p:cBhvr additive="base">
                                        <p:cTn id="8"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12"/>
                                        </p:tgtEl>
                                        <p:attrNameLst>
                                          <p:attrName>style.visibility</p:attrName>
                                        </p:attrNameLst>
                                      </p:cBhvr>
                                      <p:to>
                                        <p:strVal val="visible"/>
                                      </p:to>
                                    </p:set>
                                    <p:animEffect transition="in" filter="fade">
                                      <p:cBhvr>
                                        <p:cTn id="13" dur="500"/>
                                        <p:tgtEl>
                                          <p:spTgt spid="112"/>
                                        </p:tgtEl>
                                      </p:cBhvr>
                                    </p:animEffect>
                                    <p:anim calcmode="lin" valueType="num">
                                      <p:cBhvr>
                                        <p:cTn id="14" dur="500" fill="hold"/>
                                        <p:tgtEl>
                                          <p:spTgt spid="112"/>
                                        </p:tgtEl>
                                        <p:attrNameLst>
                                          <p:attrName>ppt_x</p:attrName>
                                        </p:attrNameLst>
                                      </p:cBhvr>
                                      <p:tavLst>
                                        <p:tav tm="0">
                                          <p:val>
                                            <p:strVal val="#ppt_x"/>
                                          </p:val>
                                        </p:tav>
                                        <p:tav tm="100000">
                                          <p:val>
                                            <p:strVal val="#ppt_x"/>
                                          </p:val>
                                        </p:tav>
                                      </p:tavLst>
                                    </p:anim>
                                    <p:anim calcmode="lin" valueType="num">
                                      <p:cBhvr>
                                        <p:cTn id="15" dur="500" fill="hold"/>
                                        <p:tgtEl>
                                          <p:spTgt spid="112"/>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13"/>
                                        </p:tgtEl>
                                        <p:attrNameLst>
                                          <p:attrName>style.visibility</p:attrName>
                                        </p:attrNameLst>
                                      </p:cBhvr>
                                      <p:to>
                                        <p:strVal val="visible"/>
                                      </p:to>
                                    </p:set>
                                    <p:animEffect transition="in" filter="fade">
                                      <p:cBhvr>
                                        <p:cTn id="18" dur="500"/>
                                        <p:tgtEl>
                                          <p:spTgt spid="113"/>
                                        </p:tgtEl>
                                      </p:cBhvr>
                                    </p:animEffect>
                                    <p:anim calcmode="lin" valueType="num">
                                      <p:cBhvr>
                                        <p:cTn id="19" dur="500" fill="hold"/>
                                        <p:tgtEl>
                                          <p:spTgt spid="113"/>
                                        </p:tgtEl>
                                        <p:attrNameLst>
                                          <p:attrName>ppt_x</p:attrName>
                                        </p:attrNameLst>
                                      </p:cBhvr>
                                      <p:tavLst>
                                        <p:tav tm="0">
                                          <p:val>
                                            <p:strVal val="#ppt_x"/>
                                          </p:val>
                                        </p:tav>
                                        <p:tav tm="100000">
                                          <p:val>
                                            <p:strVal val="#ppt_x"/>
                                          </p:val>
                                        </p:tav>
                                      </p:tavLst>
                                    </p:anim>
                                    <p:anim calcmode="lin" valueType="num">
                                      <p:cBhvr>
                                        <p:cTn id="20" dur="500" fill="hold"/>
                                        <p:tgtEl>
                                          <p:spTgt spid="11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
                                        </p:tgtEl>
                                        <p:attrNameLst>
                                          <p:attrName>style.visibility</p:attrName>
                                        </p:attrNameLst>
                                      </p:cBhvr>
                                      <p:to>
                                        <p:strVal val="visible"/>
                                      </p:to>
                                    </p:set>
                                    <p:anim calcmode="lin" valueType="num">
                                      <p:cBhvr additive="base">
                                        <p:cTn id="25" dur="500" fill="hold"/>
                                        <p:tgtEl>
                                          <p:spTgt spid="115"/>
                                        </p:tgtEl>
                                        <p:attrNameLst>
                                          <p:attrName>ppt_x</p:attrName>
                                        </p:attrNameLst>
                                      </p:cBhvr>
                                      <p:tavLst>
                                        <p:tav tm="0">
                                          <p:val>
                                            <p:strVal val="#ppt_x"/>
                                          </p:val>
                                        </p:tav>
                                        <p:tav tm="100000">
                                          <p:val>
                                            <p:strVal val="#ppt_x"/>
                                          </p:val>
                                        </p:tav>
                                      </p:tavLst>
                                    </p:anim>
                                    <p:anim calcmode="lin" valueType="num">
                                      <p:cBhvr additive="base">
                                        <p:cTn id="26" dur="500" fill="hold"/>
                                        <p:tgtEl>
                                          <p:spTgt spid="1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4"/>
                                        </p:tgtEl>
                                        <p:attrNameLst>
                                          <p:attrName>style.visibility</p:attrName>
                                        </p:attrNameLst>
                                      </p:cBhvr>
                                      <p:to>
                                        <p:strVal val="visible"/>
                                      </p:to>
                                    </p:set>
                                    <p:anim calcmode="lin" valueType="num">
                                      <p:cBhvr additive="base">
                                        <p:cTn id="29" dur="500" fill="hold"/>
                                        <p:tgtEl>
                                          <p:spTgt spid="114"/>
                                        </p:tgtEl>
                                        <p:attrNameLst>
                                          <p:attrName>ppt_x</p:attrName>
                                        </p:attrNameLst>
                                      </p:cBhvr>
                                      <p:tavLst>
                                        <p:tav tm="0">
                                          <p:val>
                                            <p:strVal val="#ppt_x"/>
                                          </p:val>
                                        </p:tav>
                                        <p:tav tm="100000">
                                          <p:val>
                                            <p:strVal val="#ppt_x"/>
                                          </p:val>
                                        </p:tav>
                                      </p:tavLst>
                                    </p:anim>
                                    <p:anim calcmode="lin" valueType="num">
                                      <p:cBhvr additive="base">
                                        <p:cTn id="30"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1"/>
                                        </p:tgtEl>
                                        <p:attrNameLst>
                                          <p:attrName>style.visibility</p:attrName>
                                        </p:attrNameLst>
                                      </p:cBhvr>
                                      <p:to>
                                        <p:strVal val="visible"/>
                                      </p:to>
                                    </p:set>
                                    <p:anim calcmode="lin" valueType="num">
                                      <p:cBhvr additive="base">
                                        <p:cTn id="35" dur="500" fill="hold"/>
                                        <p:tgtEl>
                                          <p:spTgt spid="111"/>
                                        </p:tgtEl>
                                        <p:attrNameLst>
                                          <p:attrName>ppt_x</p:attrName>
                                        </p:attrNameLst>
                                      </p:cBhvr>
                                      <p:tavLst>
                                        <p:tav tm="0">
                                          <p:val>
                                            <p:strVal val="#ppt_x"/>
                                          </p:val>
                                        </p:tav>
                                        <p:tav tm="100000">
                                          <p:val>
                                            <p:strVal val="#ppt_x"/>
                                          </p:val>
                                        </p:tav>
                                      </p:tavLst>
                                    </p:anim>
                                    <p:anim calcmode="lin" valueType="num">
                                      <p:cBhvr additive="base">
                                        <p:cTn id="36"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17"/>
                                        </p:tgtEl>
                                        <p:attrNameLst>
                                          <p:attrName>style.visibility</p:attrName>
                                        </p:attrNameLst>
                                      </p:cBhvr>
                                      <p:to>
                                        <p:strVal val="visible"/>
                                      </p:to>
                                    </p:set>
                                    <p:animEffect transition="in" filter="fade">
                                      <p:cBhvr>
                                        <p:cTn id="41" dur="500"/>
                                        <p:tgtEl>
                                          <p:spTgt spid="117"/>
                                        </p:tgtEl>
                                      </p:cBhvr>
                                    </p:animEffect>
                                    <p:anim calcmode="lin" valueType="num">
                                      <p:cBhvr>
                                        <p:cTn id="42" dur="500" fill="hold"/>
                                        <p:tgtEl>
                                          <p:spTgt spid="117"/>
                                        </p:tgtEl>
                                        <p:attrNameLst>
                                          <p:attrName>ppt_x</p:attrName>
                                        </p:attrNameLst>
                                      </p:cBhvr>
                                      <p:tavLst>
                                        <p:tav tm="0">
                                          <p:val>
                                            <p:strVal val="#ppt_x"/>
                                          </p:val>
                                        </p:tav>
                                        <p:tav tm="100000">
                                          <p:val>
                                            <p:strVal val="#ppt_x"/>
                                          </p:val>
                                        </p:tav>
                                      </p:tavLst>
                                    </p:anim>
                                    <p:anim calcmode="lin" valueType="num">
                                      <p:cBhvr>
                                        <p:cTn id="43" dur="500" fill="hold"/>
                                        <p:tgtEl>
                                          <p:spTgt spid="11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8"/>
                                        </p:tgtEl>
                                        <p:attrNameLst>
                                          <p:attrName>style.visibility</p:attrName>
                                        </p:attrNameLst>
                                      </p:cBhvr>
                                      <p:to>
                                        <p:strVal val="visible"/>
                                      </p:to>
                                    </p:set>
                                    <p:animEffect transition="in" filter="fade">
                                      <p:cBhvr>
                                        <p:cTn id="46" dur="500"/>
                                        <p:tgtEl>
                                          <p:spTgt spid="118"/>
                                        </p:tgtEl>
                                      </p:cBhvr>
                                    </p:animEffect>
                                    <p:anim calcmode="lin" valueType="num">
                                      <p:cBhvr>
                                        <p:cTn id="47" dur="500" fill="hold"/>
                                        <p:tgtEl>
                                          <p:spTgt spid="118"/>
                                        </p:tgtEl>
                                        <p:attrNameLst>
                                          <p:attrName>ppt_x</p:attrName>
                                        </p:attrNameLst>
                                      </p:cBhvr>
                                      <p:tavLst>
                                        <p:tav tm="0">
                                          <p:val>
                                            <p:strVal val="#ppt_x"/>
                                          </p:val>
                                        </p:tav>
                                        <p:tav tm="100000">
                                          <p:val>
                                            <p:strVal val="#ppt_x"/>
                                          </p:val>
                                        </p:tav>
                                      </p:tavLst>
                                    </p:anim>
                                    <p:anim calcmode="lin" valueType="num">
                                      <p:cBhvr>
                                        <p:cTn id="48" dur="500" fill="hold"/>
                                        <p:tgtEl>
                                          <p:spTgt spid="118"/>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20"/>
                                        </p:tgtEl>
                                        <p:attrNameLst>
                                          <p:attrName>style.visibility</p:attrName>
                                        </p:attrNameLst>
                                      </p:cBhvr>
                                      <p:to>
                                        <p:strVal val="visible"/>
                                      </p:to>
                                    </p:set>
                                    <p:anim calcmode="lin" valueType="num">
                                      <p:cBhvr additive="base">
                                        <p:cTn id="53" dur="500" fill="hold"/>
                                        <p:tgtEl>
                                          <p:spTgt spid="120"/>
                                        </p:tgtEl>
                                        <p:attrNameLst>
                                          <p:attrName>ppt_x</p:attrName>
                                        </p:attrNameLst>
                                      </p:cBhvr>
                                      <p:tavLst>
                                        <p:tav tm="0">
                                          <p:val>
                                            <p:strVal val="#ppt_x"/>
                                          </p:val>
                                        </p:tav>
                                        <p:tav tm="100000">
                                          <p:val>
                                            <p:strVal val="#ppt_x"/>
                                          </p:val>
                                        </p:tav>
                                      </p:tavLst>
                                    </p:anim>
                                    <p:anim calcmode="lin" valueType="num">
                                      <p:cBhvr additive="base">
                                        <p:cTn id="54" dur="500" fill="hold"/>
                                        <p:tgtEl>
                                          <p:spTgt spid="12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19"/>
                                        </p:tgtEl>
                                        <p:attrNameLst>
                                          <p:attrName>style.visibility</p:attrName>
                                        </p:attrNameLst>
                                      </p:cBhvr>
                                      <p:to>
                                        <p:strVal val="visible"/>
                                      </p:to>
                                    </p:set>
                                    <p:anim calcmode="lin" valueType="num">
                                      <p:cBhvr additive="base">
                                        <p:cTn id="57" dur="500" fill="hold"/>
                                        <p:tgtEl>
                                          <p:spTgt spid="119"/>
                                        </p:tgtEl>
                                        <p:attrNameLst>
                                          <p:attrName>ppt_x</p:attrName>
                                        </p:attrNameLst>
                                      </p:cBhvr>
                                      <p:tavLst>
                                        <p:tav tm="0">
                                          <p:val>
                                            <p:strVal val="#ppt_x"/>
                                          </p:val>
                                        </p:tav>
                                        <p:tav tm="100000">
                                          <p:val>
                                            <p:strVal val="#ppt_x"/>
                                          </p:val>
                                        </p:tav>
                                      </p:tavLst>
                                    </p:anim>
                                    <p:anim calcmode="lin" valueType="num">
                                      <p:cBhvr additive="base">
                                        <p:cTn id="58" dur="500" fill="hold"/>
                                        <p:tgtEl>
                                          <p:spTgt spid="1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13" grpId="0" animBg="1"/>
      <p:bldP spid="114" grpId="0" animBg="1"/>
      <p:bldP spid="115" grpId="0" animBg="1"/>
      <p:bldP spid="117" grpId="0" animBg="1"/>
      <p:bldP spid="118" grpId="0" animBg="1"/>
      <p:bldP spid="119" grpId="0" animBg="1"/>
      <p:bldP spid="1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24</a:t>
            </a:r>
          </a:p>
        </p:txBody>
      </p:sp>
      <p:sp>
        <p:nvSpPr>
          <p:cNvPr id="13" name="TextBox 13"/>
          <p:cNvSpPr txBox="1"/>
          <p:nvPr/>
        </p:nvSpPr>
        <p:spPr>
          <a:xfrm>
            <a:off x="1312069" y="586583"/>
            <a:ext cx="4588034" cy="563879"/>
          </a:xfrm>
          <a:prstGeom prst="rect">
            <a:avLst/>
          </a:prstGeom>
        </p:spPr>
        <p:txBody>
          <a:bodyPr lIns="0" tIns="0" rIns="0" bIns="0" rtlCol="0" anchor="t">
            <a:spAutoFit/>
          </a:bodyPr>
          <a:lstStyle/>
          <a:p>
            <a:pPr>
              <a:lnSpc>
                <a:spcPts val="4620"/>
              </a:lnSpc>
            </a:pPr>
            <a:r>
              <a:rPr lang="en-US" sz="3200" dirty="0">
                <a:solidFill>
                  <a:srgbClr val="000000"/>
                </a:solidFill>
                <a:latin typeface="Canva Sans Bold"/>
              </a:rPr>
              <a:t>Algorithm 4: Main HRT</a:t>
            </a:r>
          </a:p>
        </p:txBody>
      </p:sp>
      <p:sp>
        <p:nvSpPr>
          <p:cNvPr id="14" name="TextBox 12">
            <a:extLst>
              <a:ext uri="{FF2B5EF4-FFF2-40B4-BE49-F238E27FC236}">
                <a16:creationId xmlns:a16="http://schemas.microsoft.com/office/drawing/2014/main" id="{6B54F2F4-9DB7-903E-418C-1C18CEC3EDAE}"/>
              </a:ext>
            </a:extLst>
          </p:cNvPr>
          <p:cNvSpPr txBox="1"/>
          <p:nvPr/>
        </p:nvSpPr>
        <p:spPr>
          <a:xfrm>
            <a:off x="13606893" y="9486900"/>
            <a:ext cx="4604907" cy="371897"/>
          </a:xfrm>
          <a:prstGeom prst="rect">
            <a:avLst/>
          </a:prstGeom>
        </p:spPr>
        <p:txBody>
          <a:bodyPr wrap="square" lIns="0" tIns="0" rIns="0" bIns="0" rtlCol="0" anchor="t">
            <a:spAutoFit/>
          </a:bodyPr>
          <a:lstStyle/>
          <a:p>
            <a:pPr>
              <a:lnSpc>
                <a:spcPts val="2870"/>
              </a:lnSpc>
            </a:pPr>
            <a:r>
              <a:rPr lang="en-US" sz="2800" dirty="0">
                <a:solidFill>
                  <a:srgbClr val="FFFFFF"/>
                </a:solidFill>
                <a:latin typeface="Open Sans Light Bold"/>
              </a:rPr>
              <a:t>05. CPU Implementation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5C68E9F-A0FC-CB20-4BEC-156A979F0D54}"/>
                  </a:ext>
                </a:extLst>
              </p:cNvPr>
              <p:cNvSpPr txBox="1"/>
              <p:nvPr/>
            </p:nvSpPr>
            <p:spPr>
              <a:xfrm>
                <a:off x="1296561" y="1436099"/>
                <a:ext cx="13257635" cy="4162358"/>
              </a:xfrm>
              <a:prstGeom prst="rect">
                <a:avLst/>
              </a:prstGeom>
            </p:spPr>
            <p:txBody>
              <a:bodyPr wrap="square" lIns="0" tIns="0" rIns="0" bIns="0" rtlCol="0" anchor="t">
                <a:spAutoFit/>
              </a:bodyPr>
              <a:lstStyle/>
              <a:p>
                <a:pPr>
                  <a:lnSpc>
                    <a:spcPts val="3219"/>
                  </a:lnSpc>
                  <a:spcBef>
                    <a:spcPct val="0"/>
                  </a:spcBef>
                </a:pPr>
                <a:r>
                  <a:rPr lang="en-US" sz="2400" b="1" dirty="0">
                    <a:effectLst/>
                    <a:latin typeface="Mongolian Baiti" panose="03000500000000000000" pitchFamily="66" charset="0"/>
                    <a:cs typeface="Mongolian Baiti" panose="03000500000000000000" pitchFamily="66" charset="0"/>
                  </a:rPr>
                  <a:t>Input: </a:t>
                </a:r>
                <a:r>
                  <a:rPr lang="en-US" sz="2400" dirty="0">
                    <a:effectLst/>
                    <a:latin typeface="Mongolian Baiti" panose="03000500000000000000" pitchFamily="66" charset="0"/>
                    <a:cs typeface="Mongolian Baiti" panose="03000500000000000000" pitchFamily="66" charset="0"/>
                  </a:rPr>
                  <a:t>Query (Q[checkpoint:N-1]),  Reference(R[checkpoint:N-1])</a:t>
                </a:r>
              </a:p>
              <a:p>
                <a:pPr>
                  <a:lnSpc>
                    <a:spcPts val="3219"/>
                  </a:lnSpc>
                  <a:spcBef>
                    <a:spcPct val="0"/>
                  </a:spcBef>
                </a:pPr>
                <a:r>
                  <a:rPr lang="en-US" sz="2400" b="1" dirty="0">
                    <a:effectLst/>
                    <a:latin typeface="Mongolian Baiti" panose="03000500000000000000" pitchFamily="66" charset="0"/>
                    <a:cs typeface="Mongolian Baiti" panose="03000500000000000000" pitchFamily="66" charset="0"/>
                  </a:rPr>
                  <a:t>Output : </a:t>
                </a:r>
                <a:r>
                  <a:rPr lang="en-US" sz="2400" dirty="0">
                    <a:effectLst/>
                    <a:latin typeface="Mongolian Baiti" panose="03000500000000000000" pitchFamily="66" charset="0"/>
                    <a:cs typeface="Mongolian Baiti" panose="03000500000000000000" pitchFamily="66" charset="0"/>
                  </a:rPr>
                  <a:t>length of longest escape segment</a:t>
                </a:r>
              </a:p>
              <a:p>
                <a:pPr>
                  <a:lnSpc>
                    <a:spcPts val="3219"/>
                  </a:lnSpc>
                  <a:spcBef>
                    <a:spcPct val="0"/>
                  </a:spcBef>
                </a:pPr>
                <a:endParaRPr lang="pt-BR" sz="2400" dirty="0">
                  <a:latin typeface="Mongolian Baiti" panose="03000500000000000000" pitchFamily="66" charset="0"/>
                  <a:cs typeface="Mongolian Baiti" panose="03000500000000000000" pitchFamily="66" charset="0"/>
                </a:endParaRPr>
              </a:p>
              <a:p>
                <a:pPr>
                  <a:lnSpc>
                    <a:spcPts val="3219"/>
                  </a:lnSpc>
                  <a:spcBef>
                    <a:spcPct val="0"/>
                  </a:spcBef>
                </a:pPr>
                <a:r>
                  <a:rPr lang="pt-BR" sz="2400" dirty="0">
                    <a:latin typeface="Mongolian Baiti" panose="03000500000000000000" pitchFamily="66" charset="0"/>
                    <a:cs typeface="Mongolian Baiti" panose="03000500000000000000" pitchFamily="66" charset="0"/>
                  </a:rPr>
                  <a:t>	for j = </a:t>
                </a:r>
                <a:r>
                  <a:rPr lang="en-GB" sz="2400" dirty="0">
                    <a:effectLst/>
                    <a:latin typeface="Mongolian Baiti" panose="03000500000000000000" pitchFamily="66" charset="0"/>
                    <a:cs typeface="Mongolian Baiti" panose="03000500000000000000" pitchFamily="66" charset="0"/>
                  </a:rPr>
                  <a:t>checkpoint to length(Q)-1</a:t>
                </a:r>
              </a:p>
              <a:p>
                <a:pPr>
                  <a:lnSpc>
                    <a:spcPts val="3219"/>
                  </a:lnSpc>
                  <a:spcBef>
                    <a:spcPct val="0"/>
                  </a:spcBef>
                </a:pPr>
                <a:endParaRPr lang="en-US" sz="2000" dirty="0">
                  <a:effectLst/>
                  <a:latin typeface="Mongolian Baiti" panose="03000500000000000000" pitchFamily="66" charset="0"/>
                  <a:cs typeface="Mongolian Baiti" panose="03000500000000000000" pitchFamily="66" charset="0"/>
                </a:endParaRPr>
              </a:p>
              <a:p>
                <a:pPr/>
                <a14:m>
                  <m:oMathPara xmlns:m="http://schemas.openxmlformats.org/officeDocument/2006/math">
                    <m:oMathParaPr>
                      <m:jc m:val="centerGroup"/>
                    </m:oMathParaPr>
                    <m:oMath xmlns:m="http://schemas.openxmlformats.org/officeDocument/2006/math">
                      <m:r>
                        <m:rPr>
                          <m:nor/>
                        </m:rPr>
                        <a:rPr lang="en-US" sz="3200">
                          <a:latin typeface="Monotype Corsiva" panose="03010101010201010101" pitchFamily="66" charset="0"/>
                        </a:rPr>
                        <m:t>Z</m:t>
                      </m:r>
                      <m:r>
                        <m:rPr>
                          <m:nor/>
                        </m:rPr>
                        <a:rPr lang="en-US" sz="3200">
                          <a:latin typeface="Monotype Corsiva" panose="03010101010201010101" pitchFamily="66" charset="0"/>
                        </a:rPr>
                        <m:t>[</m:t>
                      </m:r>
                      <m:r>
                        <m:rPr>
                          <m:nor/>
                        </m:rPr>
                        <a:rPr lang="en-US" sz="3200">
                          <a:latin typeface="Monotype Corsiva" panose="03010101010201010101" pitchFamily="66" charset="0"/>
                        </a:rPr>
                        <m:t>i</m:t>
                      </m:r>
                      <m:r>
                        <m:rPr>
                          <m:nor/>
                        </m:rPr>
                        <a:rPr lang="en-US" sz="3200">
                          <a:latin typeface="Monotype Corsiva" panose="03010101010201010101" pitchFamily="66" charset="0"/>
                        </a:rPr>
                        <m:t>, </m:t>
                      </m:r>
                      <m:r>
                        <m:rPr>
                          <m:nor/>
                        </m:rPr>
                        <a:rPr lang="en-US" sz="3200">
                          <a:latin typeface="Monotype Corsiva" panose="03010101010201010101" pitchFamily="66" charset="0"/>
                        </a:rPr>
                        <m:t>j</m:t>
                      </m:r>
                      <m:r>
                        <m:rPr>
                          <m:nor/>
                        </m:rPr>
                        <a:rPr lang="en-US" sz="3200">
                          <a:latin typeface="Monotype Corsiva" panose="03010101010201010101" pitchFamily="66" charset="0"/>
                        </a:rPr>
                        <m:t>] = 0, </m:t>
                      </m:r>
                      <m:r>
                        <m:rPr>
                          <m:nor/>
                        </m:rPr>
                        <a:rPr lang="en-US" sz="3200">
                          <a:latin typeface="Monotype Corsiva" panose="03010101010201010101" pitchFamily="66" charset="0"/>
                        </a:rPr>
                        <m:t>if</m:t>
                      </m:r>
                      <m:r>
                        <m:rPr>
                          <m:nor/>
                        </m:rPr>
                        <a:rPr lang="en-US" sz="3200">
                          <a:latin typeface="Monotype Corsiva" panose="03010101010201010101" pitchFamily="66" charset="0"/>
                        </a:rPr>
                        <m:t> </m:t>
                      </m:r>
                      <m:r>
                        <m:rPr>
                          <m:nor/>
                        </m:rPr>
                        <a:rPr lang="en-US" sz="3200">
                          <a:latin typeface="Monotype Corsiva" panose="03010101010201010101" pitchFamily="66" charset="0"/>
                        </a:rPr>
                        <m:t>i</m:t>
                      </m:r>
                      <m:r>
                        <m:rPr>
                          <m:nor/>
                        </m:rPr>
                        <a:rPr lang="en-US" sz="3200">
                          <a:latin typeface="Monotype Corsiva" panose="03010101010201010101" pitchFamily="66" charset="0"/>
                        </a:rPr>
                        <m:t> = </m:t>
                      </m:r>
                      <m:r>
                        <m:rPr>
                          <m:nor/>
                        </m:rPr>
                        <a:rPr lang="en-US" sz="3200">
                          <a:latin typeface="Monotype Corsiva" panose="03010101010201010101" pitchFamily="66" charset="0"/>
                        </a:rPr>
                        <m:t>E</m:t>
                      </m:r>
                      <m:r>
                        <m:rPr>
                          <m:nor/>
                        </m:rPr>
                        <a:rPr lang="en-US" sz="3200">
                          <a:latin typeface="Monotype Corsiva" panose="03010101010201010101" pitchFamily="66" charset="0"/>
                        </a:rPr>
                        <m:t> + 1, </m:t>
                      </m:r>
                      <m:r>
                        <m:rPr>
                          <m:nor/>
                        </m:rPr>
                        <a:rPr lang="en-US" sz="3200">
                          <a:latin typeface="Monotype Corsiva" panose="03010101010201010101" pitchFamily="66" charset="0"/>
                        </a:rPr>
                        <m:t>Q</m:t>
                      </m:r>
                      <m:r>
                        <m:rPr>
                          <m:nor/>
                        </m:rPr>
                        <a:rPr lang="en-US" sz="3200">
                          <a:latin typeface="Monotype Corsiva" panose="03010101010201010101" pitchFamily="66" charset="0"/>
                        </a:rPr>
                        <m:t>[</m:t>
                      </m:r>
                      <m:r>
                        <m:rPr>
                          <m:nor/>
                        </m:rPr>
                        <a:rPr lang="en-US" sz="3200">
                          <a:latin typeface="Monotype Corsiva" panose="03010101010201010101" pitchFamily="66" charset="0"/>
                        </a:rPr>
                        <m:t>j</m:t>
                      </m:r>
                      <m:r>
                        <m:rPr>
                          <m:nor/>
                        </m:rPr>
                        <a:rPr lang="en-US" sz="3200">
                          <a:latin typeface="Monotype Corsiva" panose="03010101010201010101" pitchFamily="66" charset="0"/>
                        </a:rPr>
                        <m:t>] = </m:t>
                      </m:r>
                      <m:r>
                        <m:rPr>
                          <m:nor/>
                        </m:rPr>
                        <a:rPr lang="en-US" sz="3200">
                          <a:latin typeface="Monotype Corsiva" panose="03010101010201010101" pitchFamily="66" charset="0"/>
                        </a:rPr>
                        <m:t>R</m:t>
                      </m:r>
                      <m:r>
                        <m:rPr>
                          <m:nor/>
                        </m:rPr>
                        <a:rPr lang="en-US" sz="3200">
                          <a:latin typeface="Monotype Corsiva" panose="03010101010201010101" pitchFamily="66" charset="0"/>
                        </a:rPr>
                        <m:t>[</m:t>
                      </m:r>
                      <m:r>
                        <m:rPr>
                          <m:nor/>
                        </m:rPr>
                        <a:rPr lang="en-US" sz="3200">
                          <a:latin typeface="Monotype Corsiva" panose="03010101010201010101" pitchFamily="66" charset="0"/>
                        </a:rPr>
                        <m:t>j</m:t>
                      </m:r>
                      <m:r>
                        <m:rPr>
                          <m:nor/>
                        </m:rPr>
                        <a:rPr lang="en-US" sz="3200">
                          <a:latin typeface="Monotype Corsiva" panose="03010101010201010101" pitchFamily="66" charset="0"/>
                        </a:rPr>
                        <m:t>]</m:t>
                      </m:r>
                    </m:oMath>
                  </m:oMathPara>
                </a14:m>
                <a:endParaRPr lang="en-US" sz="3200" dirty="0">
                  <a:latin typeface="Monotype Corsiva" panose="03010101010201010101" pitchFamily="66" charset="0"/>
                </a:endParaRPr>
              </a:p>
              <a:p>
                <a:pPr>
                  <a:lnSpc>
                    <a:spcPts val="3219"/>
                  </a:lnSpc>
                  <a:spcBef>
                    <a:spcPct val="0"/>
                  </a:spcBef>
                </a:pPr>
                <a:r>
                  <a:rPr lang="en-US" sz="2400" dirty="0">
                    <a:latin typeface="Mongolian Baiti" panose="03000500000000000000" pitchFamily="66" charset="0"/>
                    <a:cs typeface="Mongolian Baiti" panose="03000500000000000000" pitchFamily="66" charset="0"/>
                  </a:rPr>
                  <a:t>if </a:t>
                </a:r>
                <a14:m>
                  <m:oMath xmlns:m="http://schemas.openxmlformats.org/officeDocument/2006/math">
                    <m:r>
                      <m:rPr>
                        <m:nor/>
                      </m:rPr>
                      <a:rPr lang="en-US" sz="2400" dirty="0">
                        <a:latin typeface="Mongolian Baiti" panose="03000500000000000000" pitchFamily="66" charset="0"/>
                        <a:cs typeface="Mongolian Baiti" panose="03000500000000000000" pitchFamily="66" charset="0"/>
                      </a:rPr>
                      <m:t>Z</m:t>
                    </m:r>
                    <m:r>
                      <m:rPr>
                        <m:nor/>
                      </m:rPr>
                      <a:rPr lang="en-US" sz="2400" dirty="0">
                        <a:latin typeface="Mongolian Baiti" panose="03000500000000000000" pitchFamily="66" charset="0"/>
                        <a:cs typeface="Mongolian Baiti" panose="03000500000000000000" pitchFamily="66" charset="0"/>
                      </a:rPr>
                      <m:t>[</m:t>
                    </m:r>
                    <m:r>
                      <m:rPr>
                        <m:nor/>
                      </m:rPr>
                      <a:rPr lang="en-US" sz="2400" dirty="0">
                        <a:latin typeface="Mongolian Baiti" panose="03000500000000000000" pitchFamily="66" charset="0"/>
                        <a:cs typeface="Mongolian Baiti" panose="03000500000000000000" pitchFamily="66" charset="0"/>
                      </a:rPr>
                      <m:t>i</m:t>
                    </m:r>
                    <m:r>
                      <m:rPr>
                        <m:nor/>
                      </m:rPr>
                      <a:rPr lang="en-US" sz="2400" dirty="0">
                        <a:latin typeface="Mongolian Baiti" panose="03000500000000000000" pitchFamily="66" charset="0"/>
                        <a:cs typeface="Mongolian Baiti" panose="03000500000000000000" pitchFamily="66" charset="0"/>
                      </a:rPr>
                      <m:t>, </m:t>
                    </m:r>
                    <m:r>
                      <m:rPr>
                        <m:nor/>
                      </m:rPr>
                      <a:rPr lang="en-US" sz="2400" dirty="0">
                        <a:latin typeface="Mongolian Baiti" panose="03000500000000000000" pitchFamily="66" charset="0"/>
                        <a:cs typeface="Mongolian Baiti" panose="03000500000000000000" pitchFamily="66" charset="0"/>
                      </a:rPr>
                      <m:t>j</m:t>
                    </m:r>
                    <m:r>
                      <m:rPr>
                        <m:nor/>
                      </m:rPr>
                      <a:rPr lang="en-US" sz="2400" dirty="0">
                        <a:latin typeface="Mongolian Baiti" panose="03000500000000000000" pitchFamily="66" charset="0"/>
                        <a:cs typeface="Mongolian Baiti" panose="03000500000000000000" pitchFamily="66" charset="0"/>
                      </a:rPr>
                      <m:t>] != 0</m:t>
                    </m:r>
                  </m:oMath>
                </a14:m>
                <a:endParaRPr lang="en-US" sz="2400" dirty="0">
                  <a:latin typeface="Mongolian Baiti" panose="03000500000000000000" pitchFamily="66" charset="0"/>
                  <a:cs typeface="Mongolian Baiti" panose="03000500000000000000" pitchFamily="66" charset="0"/>
                </a:endParaRPr>
              </a:p>
              <a:p>
                <a:pPr>
                  <a:lnSpc>
                    <a:spcPts val="3219"/>
                  </a:lnSpc>
                  <a:spcBef>
                    <a:spcPct val="0"/>
                  </a:spcBef>
                </a:pPr>
                <a:r>
                  <a:rPr lang="en-US" sz="2400" dirty="0">
                    <a:latin typeface="Mongolian Baiti" panose="03000500000000000000" pitchFamily="66" charset="0"/>
                    <a:cs typeface="Mongolian Baiti" panose="03000500000000000000" pitchFamily="66" charset="0"/>
                  </a:rPr>
                  <a:t>	</a:t>
                </a:r>
                <a:r>
                  <a:rPr lang="en-US" sz="2400" b="1" dirty="0">
                    <a:latin typeface="Mongolian Baiti" panose="03000500000000000000" pitchFamily="66" charset="0"/>
                    <a:cs typeface="Mongolian Baiti" panose="03000500000000000000" pitchFamily="66" charset="0"/>
                  </a:rPr>
                  <a:t>return </a:t>
                </a:r>
                <a:r>
                  <a:rPr lang="en-US" sz="2400" dirty="0" err="1">
                    <a:latin typeface="Mongolian Baiti" panose="03000500000000000000" pitchFamily="66" charset="0"/>
                    <a:cs typeface="Mongolian Baiti" panose="03000500000000000000" pitchFamily="66" charset="0"/>
                  </a:rPr>
                  <a:t>longest_es_Seg</a:t>
                </a:r>
                <a:endParaRPr lang="en-US" sz="2400" dirty="0">
                  <a:latin typeface="Mongolian Baiti" panose="03000500000000000000" pitchFamily="66" charset="0"/>
                  <a:cs typeface="Mongolian Baiti" panose="03000500000000000000" pitchFamily="66" charset="0"/>
                </a:endParaRPr>
              </a:p>
              <a:p>
                <a:pPr>
                  <a:lnSpc>
                    <a:spcPts val="3219"/>
                  </a:lnSpc>
                  <a:spcBef>
                    <a:spcPct val="0"/>
                  </a:spcBef>
                </a:pPr>
                <a:r>
                  <a:rPr lang="en-US" sz="2400" dirty="0">
                    <a:latin typeface="Mongolian Baiti" panose="03000500000000000000" pitchFamily="66" charset="0"/>
                    <a:cs typeface="Mongolian Baiti" panose="03000500000000000000" pitchFamily="66" charset="0"/>
                  </a:rPr>
                  <a:t>else </a:t>
                </a:r>
              </a:p>
              <a:p>
                <a:pPr>
                  <a:lnSpc>
                    <a:spcPts val="3219"/>
                  </a:lnSpc>
                  <a:spcBef>
                    <a:spcPct val="0"/>
                  </a:spcBef>
                </a:pPr>
                <a:r>
                  <a:rPr lang="en-US" sz="2400" dirty="0">
                    <a:latin typeface="Mongolian Baiti" panose="03000500000000000000" pitchFamily="66" charset="0"/>
                    <a:cs typeface="Mongolian Baiti" panose="03000500000000000000" pitchFamily="66" charset="0"/>
                  </a:rPr>
                  <a:t>	</a:t>
                </a:r>
                <a:r>
                  <a:rPr lang="en-US" sz="2400" dirty="0" err="1">
                    <a:latin typeface="Mongolian Baiti" panose="03000500000000000000" pitchFamily="66" charset="0"/>
                    <a:cs typeface="Mongolian Baiti" panose="03000500000000000000" pitchFamily="66" charset="0"/>
                  </a:rPr>
                  <a:t>longest_es_Seg</a:t>
                </a:r>
                <a:r>
                  <a:rPr lang="en-US" sz="2400" dirty="0">
                    <a:latin typeface="Mongolian Baiti" panose="03000500000000000000" pitchFamily="66" charset="0"/>
                    <a:cs typeface="Mongolian Baiti" panose="03000500000000000000" pitchFamily="66" charset="0"/>
                  </a:rPr>
                  <a:t> = </a:t>
                </a:r>
                <a:r>
                  <a:rPr lang="en-US" sz="2400" dirty="0" err="1">
                    <a:latin typeface="Mongolian Baiti" panose="03000500000000000000" pitchFamily="66" charset="0"/>
                    <a:cs typeface="Mongolian Baiti" panose="03000500000000000000" pitchFamily="66" charset="0"/>
                  </a:rPr>
                  <a:t>longest_es_Seg</a:t>
                </a:r>
                <a:r>
                  <a:rPr lang="en-US" sz="2400" dirty="0">
                    <a:latin typeface="Mongolian Baiti" panose="03000500000000000000" pitchFamily="66" charset="0"/>
                    <a:cs typeface="Mongolian Baiti" panose="03000500000000000000" pitchFamily="66" charset="0"/>
                  </a:rPr>
                  <a:t> + 1</a:t>
                </a:r>
              </a:p>
            </p:txBody>
          </p:sp>
        </mc:Choice>
        <mc:Fallback xmlns="">
          <p:sp>
            <p:nvSpPr>
              <p:cNvPr id="12" name="TextBox 11">
                <a:extLst>
                  <a:ext uri="{FF2B5EF4-FFF2-40B4-BE49-F238E27FC236}">
                    <a16:creationId xmlns:a16="http://schemas.microsoft.com/office/drawing/2014/main" id="{65C68E9F-A0FC-CB20-4BEC-156A979F0D54}"/>
                  </a:ext>
                </a:extLst>
              </p:cNvPr>
              <p:cNvSpPr txBox="1">
                <a:spLocks noRot="1" noChangeAspect="1" noMove="1" noResize="1" noEditPoints="1" noAdjustHandles="1" noChangeArrowheads="1" noChangeShapeType="1" noTextEdit="1"/>
              </p:cNvSpPr>
              <p:nvPr/>
            </p:nvSpPr>
            <p:spPr>
              <a:xfrm>
                <a:off x="1296561" y="1436099"/>
                <a:ext cx="13257635" cy="4162358"/>
              </a:xfrm>
              <a:prstGeom prst="rect">
                <a:avLst/>
              </a:prstGeom>
              <a:blipFill>
                <a:blip r:embed="rId2"/>
                <a:stretch>
                  <a:fillRect l="-1426" t="-2053" b="-3519"/>
                </a:stretch>
              </a:blipFill>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8BC74492-903B-84DF-C65D-55B757A85A49}"/>
              </a:ext>
            </a:extLst>
          </p:cNvPr>
          <p:cNvGrpSpPr/>
          <p:nvPr/>
        </p:nvGrpSpPr>
        <p:grpSpPr>
          <a:xfrm>
            <a:off x="5285157" y="6106706"/>
            <a:ext cx="7717686" cy="2215531"/>
            <a:chOff x="5920770" y="6476456"/>
            <a:chExt cx="6441884" cy="1849284"/>
          </a:xfrm>
        </p:grpSpPr>
        <p:sp>
          <p:nvSpPr>
            <p:cNvPr id="15" name="Rectangle 14">
              <a:extLst>
                <a:ext uri="{FF2B5EF4-FFF2-40B4-BE49-F238E27FC236}">
                  <a16:creationId xmlns:a16="http://schemas.microsoft.com/office/drawing/2014/main" id="{BAA6A561-6FA8-E297-B016-476780064C27}"/>
                </a:ext>
              </a:extLst>
            </p:cNvPr>
            <p:cNvSpPr/>
            <p:nvPr/>
          </p:nvSpPr>
          <p:spPr>
            <a:xfrm>
              <a:off x="5925346" y="7847460"/>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F65C9D2-0578-C01B-074E-6A7A7670E931}"/>
                </a:ext>
              </a:extLst>
            </p:cNvPr>
            <p:cNvSpPr/>
            <p:nvPr/>
          </p:nvSpPr>
          <p:spPr>
            <a:xfrm>
              <a:off x="5920770" y="8103799"/>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56F80FE-E72B-76A4-4CED-61A383BC0114}"/>
                </a:ext>
              </a:extLst>
            </p:cNvPr>
            <p:cNvSpPr/>
            <p:nvPr/>
          </p:nvSpPr>
          <p:spPr>
            <a:xfrm>
              <a:off x="5925346" y="6669389"/>
              <a:ext cx="6437308" cy="94356"/>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9151B2A-C667-057D-B33E-892260313498}"/>
                </a:ext>
              </a:extLst>
            </p:cNvPr>
            <p:cNvSpPr/>
            <p:nvPr/>
          </p:nvSpPr>
          <p:spPr>
            <a:xfrm>
              <a:off x="5925346" y="6882628"/>
              <a:ext cx="6437308" cy="94356"/>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FCACC4B-0364-D45A-7EB7-63335F71AF58}"/>
                </a:ext>
              </a:extLst>
            </p:cNvPr>
            <p:cNvSpPr/>
            <p:nvPr/>
          </p:nvSpPr>
          <p:spPr>
            <a:xfrm>
              <a:off x="5925346" y="7106540"/>
              <a:ext cx="6437308" cy="94356"/>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DED3701-7927-33C2-B251-CB49464EE815}"/>
                </a:ext>
              </a:extLst>
            </p:cNvPr>
            <p:cNvSpPr/>
            <p:nvPr/>
          </p:nvSpPr>
          <p:spPr>
            <a:xfrm>
              <a:off x="5925346" y="7344306"/>
              <a:ext cx="6437308" cy="94356"/>
            </a:xfrm>
            <a:prstGeom prst="rect">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90AABE5-CAA4-6C55-EECA-360174859B4C}"/>
                </a:ext>
              </a:extLst>
            </p:cNvPr>
            <p:cNvSpPr/>
            <p:nvPr/>
          </p:nvSpPr>
          <p:spPr>
            <a:xfrm>
              <a:off x="5925346" y="7589838"/>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18EFBC82-AFD2-D8B8-A678-B6825104B4E7}"/>
                </a:ext>
              </a:extLst>
            </p:cNvPr>
            <p:cNvGrpSpPr/>
            <p:nvPr/>
          </p:nvGrpSpPr>
          <p:grpSpPr>
            <a:xfrm>
              <a:off x="6077745" y="6476456"/>
              <a:ext cx="6167604" cy="1849284"/>
              <a:chOff x="1447800" y="6799415"/>
              <a:chExt cx="6019026" cy="1596213"/>
            </a:xfrm>
          </p:grpSpPr>
          <p:sp>
            <p:nvSpPr>
              <p:cNvPr id="23" name="Rectangle 22">
                <a:extLst>
                  <a:ext uri="{FF2B5EF4-FFF2-40B4-BE49-F238E27FC236}">
                    <a16:creationId xmlns:a16="http://schemas.microsoft.com/office/drawing/2014/main" id="{B11097CF-DD42-88E3-C60B-C91337006561}"/>
                  </a:ext>
                </a:extLst>
              </p:cNvPr>
              <p:cNvSpPr/>
              <p:nvPr/>
            </p:nvSpPr>
            <p:spPr>
              <a:xfrm>
                <a:off x="1447800" y="681990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932EDB7-76D1-A502-9F5A-61F94F1E5785}"/>
                  </a:ext>
                </a:extLst>
              </p:cNvPr>
              <p:cNvSpPr/>
              <p:nvPr/>
            </p:nvSpPr>
            <p:spPr>
              <a:xfrm>
                <a:off x="1752600" y="6816607"/>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52E3CB4-0D67-3C94-7823-94402D39CD82}"/>
                  </a:ext>
                </a:extLst>
              </p:cNvPr>
              <p:cNvSpPr/>
              <p:nvPr/>
            </p:nvSpPr>
            <p:spPr>
              <a:xfrm>
                <a:off x="2079380" y="6814092"/>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E6AFDA-115E-6D70-C03A-BEBB4AC106E3}"/>
                  </a:ext>
                </a:extLst>
              </p:cNvPr>
              <p:cNvSpPr/>
              <p:nvPr/>
            </p:nvSpPr>
            <p:spPr>
              <a:xfrm>
                <a:off x="2384180" y="6810799"/>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394043B-B4F3-8658-A816-AF3630FEC7DD}"/>
                  </a:ext>
                </a:extLst>
              </p:cNvPr>
              <p:cNvSpPr/>
              <p:nvPr/>
            </p:nvSpPr>
            <p:spPr>
              <a:xfrm>
                <a:off x="2666046" y="68134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2196C7-1959-C844-67C7-4FAF3A6120F3}"/>
                  </a:ext>
                </a:extLst>
              </p:cNvPr>
              <p:cNvSpPr/>
              <p:nvPr/>
            </p:nvSpPr>
            <p:spPr>
              <a:xfrm>
                <a:off x="2970846" y="681013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5A9C9CB-8058-C497-36B1-5227B3CBABA4}"/>
                  </a:ext>
                </a:extLst>
              </p:cNvPr>
              <p:cNvSpPr/>
              <p:nvPr/>
            </p:nvSpPr>
            <p:spPr>
              <a:xfrm>
                <a:off x="3297626" y="68076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9776C80-BEDE-A61B-43D3-876CC98FD065}"/>
                  </a:ext>
                </a:extLst>
              </p:cNvPr>
              <p:cNvSpPr/>
              <p:nvPr/>
            </p:nvSpPr>
            <p:spPr>
              <a:xfrm>
                <a:off x="3602426" y="6804322"/>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8480C7F-135D-42EF-FCFF-CAE56FA6A476}"/>
                  </a:ext>
                </a:extLst>
              </p:cNvPr>
              <p:cNvSpPr/>
              <p:nvPr/>
            </p:nvSpPr>
            <p:spPr>
              <a:xfrm>
                <a:off x="3912478" y="6808516"/>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DDC0544-FD09-C008-022A-919165962442}"/>
                  </a:ext>
                </a:extLst>
              </p:cNvPr>
              <p:cNvSpPr/>
              <p:nvPr/>
            </p:nvSpPr>
            <p:spPr>
              <a:xfrm>
                <a:off x="4217278" y="68052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DC11595-E5C7-56FC-469C-D61008961944}"/>
                  </a:ext>
                </a:extLst>
              </p:cNvPr>
              <p:cNvSpPr/>
              <p:nvPr/>
            </p:nvSpPr>
            <p:spPr>
              <a:xfrm>
                <a:off x="4544058" y="680270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3E23280-E2D5-DBFD-331F-5116E722E773}"/>
                  </a:ext>
                </a:extLst>
              </p:cNvPr>
              <p:cNvSpPr/>
              <p:nvPr/>
            </p:nvSpPr>
            <p:spPr>
              <a:xfrm>
                <a:off x="4848858" y="67994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9D44C57-4103-5AC8-1E7B-E75965F9E7A2}"/>
                  </a:ext>
                </a:extLst>
              </p:cNvPr>
              <p:cNvSpPr/>
              <p:nvPr/>
            </p:nvSpPr>
            <p:spPr>
              <a:xfrm>
                <a:off x="5202575" y="6824081"/>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653EE6B-9763-B524-1F35-EF1696DF42AC}"/>
                  </a:ext>
                </a:extLst>
              </p:cNvPr>
              <p:cNvSpPr/>
              <p:nvPr/>
            </p:nvSpPr>
            <p:spPr>
              <a:xfrm>
                <a:off x="5507375" y="682078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6A21277-C4F1-9763-81C2-50AAC5F829E3}"/>
                  </a:ext>
                </a:extLst>
              </p:cNvPr>
              <p:cNvSpPr/>
              <p:nvPr/>
            </p:nvSpPr>
            <p:spPr>
              <a:xfrm>
                <a:off x="5834155" y="681827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8117981-8C90-CEEE-D217-1AA574864D7A}"/>
                  </a:ext>
                </a:extLst>
              </p:cNvPr>
              <p:cNvSpPr/>
              <p:nvPr/>
            </p:nvSpPr>
            <p:spPr>
              <a:xfrm>
                <a:off x="6138955" y="681498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C3B7738-C9F1-EBEA-E536-B8CC8E041D22}"/>
                  </a:ext>
                </a:extLst>
              </p:cNvPr>
              <p:cNvSpPr/>
              <p:nvPr/>
            </p:nvSpPr>
            <p:spPr>
              <a:xfrm>
                <a:off x="6484727" y="6808516"/>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1A1042F-85FE-9EEA-0BFF-3553B7880780}"/>
                  </a:ext>
                </a:extLst>
              </p:cNvPr>
              <p:cNvSpPr/>
              <p:nvPr/>
            </p:nvSpPr>
            <p:spPr>
              <a:xfrm>
                <a:off x="6789527" y="68052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7D9D0ECA-6098-AA78-39DE-F1789034536A}"/>
                  </a:ext>
                </a:extLst>
              </p:cNvPr>
              <p:cNvSpPr/>
              <p:nvPr/>
            </p:nvSpPr>
            <p:spPr>
              <a:xfrm>
                <a:off x="7116307" y="680270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6053737-C752-8922-5522-1802F0CD7402}"/>
                  </a:ext>
                </a:extLst>
              </p:cNvPr>
              <p:cNvSpPr/>
              <p:nvPr/>
            </p:nvSpPr>
            <p:spPr>
              <a:xfrm>
                <a:off x="7421107" y="67994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25</a:t>
            </a:r>
          </a:p>
        </p:txBody>
      </p:sp>
      <p:sp>
        <p:nvSpPr>
          <p:cNvPr id="12" name="TextBox 12"/>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a:rPr>
              <a:t>PARALLELISM</a:t>
            </a:r>
          </a:p>
        </p:txBody>
      </p:sp>
      <p:sp>
        <p:nvSpPr>
          <p:cNvPr id="13" name="TextBox 13"/>
          <p:cNvSpPr txBox="1"/>
          <p:nvPr/>
        </p:nvSpPr>
        <p:spPr>
          <a:xfrm>
            <a:off x="1072017" y="2092808"/>
            <a:ext cx="8071983" cy="4373954"/>
          </a:xfrm>
          <a:prstGeom prst="rect">
            <a:avLst/>
          </a:prstGeom>
        </p:spPr>
        <p:txBody>
          <a:bodyPr lIns="0" tIns="0" rIns="0" bIns="0" rtlCol="0" anchor="t">
            <a:spAutoFit/>
          </a:bodyPr>
          <a:lstStyle/>
          <a:p>
            <a:pPr marL="669291" lvl="1" indent="-334646" algn="just">
              <a:lnSpc>
                <a:spcPts val="4340"/>
              </a:lnSpc>
              <a:buFont typeface="Arial"/>
              <a:buChar char="•"/>
            </a:pPr>
            <a:r>
              <a:rPr lang="en-US" sz="3100" dirty="0">
                <a:solidFill>
                  <a:srgbClr val="000000"/>
                </a:solidFill>
                <a:latin typeface="Times Neue Roman"/>
              </a:rPr>
              <a:t>Bottleneck </a:t>
            </a:r>
          </a:p>
          <a:p>
            <a:pPr marL="669291" lvl="1" indent="-334646" algn="just">
              <a:lnSpc>
                <a:spcPts val="4340"/>
              </a:lnSpc>
              <a:buFont typeface="Arial"/>
              <a:buChar char="•"/>
            </a:pPr>
            <a:r>
              <a:rPr lang="en-US" sz="3100" dirty="0">
                <a:solidFill>
                  <a:srgbClr val="000000"/>
                </a:solidFill>
                <a:latin typeface="Times Neue Roman"/>
              </a:rPr>
              <a:t>Algorithm and Parallelism</a:t>
            </a:r>
          </a:p>
          <a:p>
            <a:pPr marL="1338582" lvl="2" indent="-446194" algn="just">
              <a:lnSpc>
                <a:spcPts val="4340"/>
              </a:lnSpc>
              <a:buFont typeface="Arial"/>
              <a:buChar char="⚬"/>
            </a:pPr>
            <a:r>
              <a:rPr lang="en-US" sz="3100" dirty="0">
                <a:solidFill>
                  <a:srgbClr val="000000"/>
                </a:solidFill>
                <a:latin typeface="Times Neue Roman"/>
              </a:rPr>
              <a:t>Independent Reads</a:t>
            </a:r>
          </a:p>
          <a:p>
            <a:pPr marL="1338582" lvl="2" indent="-446194" algn="just">
              <a:lnSpc>
                <a:spcPts val="4340"/>
              </a:lnSpc>
              <a:buFont typeface="Arial"/>
              <a:buChar char="⚬"/>
            </a:pPr>
            <a:r>
              <a:rPr lang="en-US" sz="3100" dirty="0">
                <a:solidFill>
                  <a:srgbClr val="000000"/>
                </a:solidFill>
                <a:latin typeface="Times Neue Roman"/>
              </a:rPr>
              <a:t>Independent Rows</a:t>
            </a:r>
          </a:p>
          <a:p>
            <a:pPr marL="669291" lvl="1" indent="-334646" algn="just">
              <a:lnSpc>
                <a:spcPts val="4340"/>
              </a:lnSpc>
              <a:buFont typeface="Arial"/>
              <a:buChar char="•"/>
            </a:pPr>
            <a:r>
              <a:rPr lang="en-US" sz="3100" dirty="0">
                <a:solidFill>
                  <a:srgbClr val="000000"/>
                </a:solidFill>
                <a:latin typeface="Times Neue Roman"/>
              </a:rPr>
              <a:t>OpenMP</a:t>
            </a:r>
          </a:p>
          <a:p>
            <a:pPr marL="669291" lvl="1" indent="-334646" algn="just">
              <a:lnSpc>
                <a:spcPts val="4340"/>
              </a:lnSpc>
              <a:buFont typeface="Arial"/>
              <a:buChar char="•"/>
            </a:pPr>
            <a:r>
              <a:rPr lang="en-US" sz="3100" dirty="0">
                <a:solidFill>
                  <a:srgbClr val="000000"/>
                </a:solidFill>
                <a:latin typeface="Times Neue Roman"/>
              </a:rPr>
              <a:t>SIMD Model </a:t>
            </a:r>
          </a:p>
          <a:p>
            <a:pPr marL="669291" lvl="1" indent="-334646" algn="just">
              <a:lnSpc>
                <a:spcPts val="4340"/>
              </a:lnSpc>
              <a:buFont typeface="Arial"/>
              <a:buChar char="•"/>
            </a:pPr>
            <a:r>
              <a:rPr lang="en-US" sz="3100" dirty="0">
                <a:solidFill>
                  <a:srgbClr val="000000"/>
                </a:solidFill>
                <a:latin typeface="Times Neue Roman"/>
              </a:rPr>
              <a:t>limitations</a:t>
            </a:r>
          </a:p>
          <a:p>
            <a:pPr algn="just">
              <a:lnSpc>
                <a:spcPts val="4340"/>
              </a:lnSpc>
            </a:pPr>
            <a:endParaRPr lang="en-US" sz="3100" dirty="0">
              <a:solidFill>
                <a:srgbClr val="000000"/>
              </a:solidFill>
              <a:latin typeface="Times Neue Roman"/>
            </a:endParaRPr>
          </a:p>
        </p:txBody>
      </p:sp>
      <p:sp>
        <p:nvSpPr>
          <p:cNvPr id="48" name="TextBox 12">
            <a:extLst>
              <a:ext uri="{FF2B5EF4-FFF2-40B4-BE49-F238E27FC236}">
                <a16:creationId xmlns:a16="http://schemas.microsoft.com/office/drawing/2014/main" id="{C6DD8900-63CD-AD5F-92B5-9359A57B8FE2}"/>
              </a:ext>
            </a:extLst>
          </p:cNvPr>
          <p:cNvSpPr txBox="1"/>
          <p:nvPr/>
        </p:nvSpPr>
        <p:spPr>
          <a:xfrm>
            <a:off x="13606893" y="9486900"/>
            <a:ext cx="4604907" cy="371897"/>
          </a:xfrm>
          <a:prstGeom prst="rect">
            <a:avLst/>
          </a:prstGeom>
        </p:spPr>
        <p:txBody>
          <a:bodyPr wrap="square" lIns="0" tIns="0" rIns="0" bIns="0" rtlCol="0" anchor="t">
            <a:spAutoFit/>
          </a:bodyPr>
          <a:lstStyle/>
          <a:p>
            <a:pPr>
              <a:lnSpc>
                <a:spcPts val="2870"/>
              </a:lnSpc>
            </a:pPr>
            <a:r>
              <a:rPr lang="en-US" sz="2800" dirty="0">
                <a:solidFill>
                  <a:srgbClr val="FFFFFF"/>
                </a:solidFill>
                <a:latin typeface="Open Sans Light Bold"/>
              </a:rPr>
              <a:t>05. CPU Implementation</a:t>
            </a:r>
          </a:p>
        </p:txBody>
      </p:sp>
      <p:pic>
        <p:nvPicPr>
          <p:cNvPr id="49" name="Picture 48">
            <a:extLst>
              <a:ext uri="{FF2B5EF4-FFF2-40B4-BE49-F238E27FC236}">
                <a16:creationId xmlns:a16="http://schemas.microsoft.com/office/drawing/2014/main" id="{16A527BE-A423-1FD2-0024-CB3E7FA2EFE4}"/>
              </a:ext>
            </a:extLst>
          </p:cNvPr>
          <p:cNvPicPr>
            <a:picLocks noChangeAspect="1"/>
          </p:cNvPicPr>
          <p:nvPr/>
        </p:nvPicPr>
        <p:blipFill>
          <a:blip r:embed="rId2"/>
          <a:stretch>
            <a:fillRect/>
          </a:stretch>
        </p:blipFill>
        <p:spPr>
          <a:xfrm>
            <a:off x="9213924" y="3803372"/>
            <a:ext cx="9021434" cy="4906060"/>
          </a:xfrm>
          <a:prstGeom prst="rect">
            <a:avLst/>
          </a:prstGeom>
        </p:spPr>
      </p:pic>
      <p:grpSp>
        <p:nvGrpSpPr>
          <p:cNvPr id="53" name="Group 52">
            <a:extLst>
              <a:ext uri="{FF2B5EF4-FFF2-40B4-BE49-F238E27FC236}">
                <a16:creationId xmlns:a16="http://schemas.microsoft.com/office/drawing/2014/main" id="{D5BADC1D-F50B-E646-05DA-E92BDC7FB213}"/>
              </a:ext>
            </a:extLst>
          </p:cNvPr>
          <p:cNvGrpSpPr/>
          <p:nvPr/>
        </p:nvGrpSpPr>
        <p:grpSpPr>
          <a:xfrm>
            <a:off x="10385951" y="1577568"/>
            <a:ext cx="6441884" cy="1849284"/>
            <a:chOff x="1648783" y="6756166"/>
            <a:chExt cx="6441884" cy="1849284"/>
          </a:xfrm>
        </p:grpSpPr>
        <p:grpSp>
          <p:nvGrpSpPr>
            <p:cNvPr id="21" name="Group 20">
              <a:extLst>
                <a:ext uri="{FF2B5EF4-FFF2-40B4-BE49-F238E27FC236}">
                  <a16:creationId xmlns:a16="http://schemas.microsoft.com/office/drawing/2014/main" id="{B3336203-E12C-360D-F772-415840119FF5}"/>
                </a:ext>
              </a:extLst>
            </p:cNvPr>
            <p:cNvGrpSpPr/>
            <p:nvPr/>
          </p:nvGrpSpPr>
          <p:grpSpPr>
            <a:xfrm>
              <a:off x="1648783" y="6949099"/>
              <a:ext cx="6441884" cy="1528766"/>
              <a:chOff x="1648783" y="6949099"/>
              <a:chExt cx="6441884" cy="1528766"/>
            </a:xfrm>
          </p:grpSpPr>
          <p:sp>
            <p:nvSpPr>
              <p:cNvPr id="22" name="Rectangle 21">
                <a:extLst>
                  <a:ext uri="{FF2B5EF4-FFF2-40B4-BE49-F238E27FC236}">
                    <a16:creationId xmlns:a16="http://schemas.microsoft.com/office/drawing/2014/main" id="{DCABF759-E1C9-4FC3-9704-21115339C5A6}"/>
                  </a:ext>
                </a:extLst>
              </p:cNvPr>
              <p:cNvSpPr/>
              <p:nvPr/>
            </p:nvSpPr>
            <p:spPr>
              <a:xfrm>
                <a:off x="1653359" y="8127170"/>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5E64814-2227-424C-59B0-307DEB5D47FF}"/>
                  </a:ext>
                </a:extLst>
              </p:cNvPr>
              <p:cNvSpPr/>
              <p:nvPr/>
            </p:nvSpPr>
            <p:spPr>
              <a:xfrm>
                <a:off x="1648783" y="8383509"/>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2D4B833-710A-3788-9F84-550C07E7DF96}"/>
                  </a:ext>
                </a:extLst>
              </p:cNvPr>
              <p:cNvSpPr/>
              <p:nvPr/>
            </p:nvSpPr>
            <p:spPr>
              <a:xfrm>
                <a:off x="1653359" y="6949099"/>
                <a:ext cx="6437308" cy="94356"/>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7F5FBB1-37AF-B151-B744-58130A21014E}"/>
                  </a:ext>
                </a:extLst>
              </p:cNvPr>
              <p:cNvSpPr/>
              <p:nvPr/>
            </p:nvSpPr>
            <p:spPr>
              <a:xfrm>
                <a:off x="1653359" y="7162338"/>
                <a:ext cx="6437308" cy="94356"/>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77B1409-06E8-2240-8626-655E8BFE25CB}"/>
                  </a:ext>
                </a:extLst>
              </p:cNvPr>
              <p:cNvSpPr/>
              <p:nvPr/>
            </p:nvSpPr>
            <p:spPr>
              <a:xfrm>
                <a:off x="1653359" y="7386250"/>
                <a:ext cx="6437308" cy="94356"/>
              </a:xfrm>
              <a:prstGeom prst="rect">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2ED26B8-566E-A50E-0FAE-766BE9AD7704}"/>
                  </a:ext>
                </a:extLst>
              </p:cNvPr>
              <p:cNvSpPr/>
              <p:nvPr/>
            </p:nvSpPr>
            <p:spPr>
              <a:xfrm>
                <a:off x="1653359" y="7624016"/>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8487463-4D1C-2162-734E-0D356E4B00A0}"/>
                  </a:ext>
                </a:extLst>
              </p:cNvPr>
              <p:cNvSpPr/>
              <p:nvPr/>
            </p:nvSpPr>
            <p:spPr>
              <a:xfrm>
                <a:off x="1653359" y="7869548"/>
                <a:ext cx="6437308" cy="9435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B6B60FFF-B456-E9B5-26EC-9A456549CAE9}"/>
                </a:ext>
              </a:extLst>
            </p:cNvPr>
            <p:cNvGrpSpPr/>
            <p:nvPr/>
          </p:nvGrpSpPr>
          <p:grpSpPr>
            <a:xfrm>
              <a:off x="1805758" y="6756166"/>
              <a:ext cx="6167604" cy="1849284"/>
              <a:chOff x="1447800" y="6799415"/>
              <a:chExt cx="6019026" cy="1596213"/>
            </a:xfrm>
          </p:grpSpPr>
          <p:sp>
            <p:nvSpPr>
              <p:cNvPr id="30" name="Rectangle 29">
                <a:extLst>
                  <a:ext uri="{FF2B5EF4-FFF2-40B4-BE49-F238E27FC236}">
                    <a16:creationId xmlns:a16="http://schemas.microsoft.com/office/drawing/2014/main" id="{E2AA3BC8-06C4-3B99-9FC3-A70C886DC19A}"/>
                  </a:ext>
                </a:extLst>
              </p:cNvPr>
              <p:cNvSpPr/>
              <p:nvPr/>
            </p:nvSpPr>
            <p:spPr>
              <a:xfrm>
                <a:off x="1447800" y="681990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14556A6-CA9B-9A2B-5A7E-D469639B4CB6}"/>
                  </a:ext>
                </a:extLst>
              </p:cNvPr>
              <p:cNvSpPr/>
              <p:nvPr/>
            </p:nvSpPr>
            <p:spPr>
              <a:xfrm>
                <a:off x="1752600" y="6816607"/>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4D985DA-2596-F9E3-F6DA-DCA76E05CE7A}"/>
                  </a:ext>
                </a:extLst>
              </p:cNvPr>
              <p:cNvSpPr/>
              <p:nvPr/>
            </p:nvSpPr>
            <p:spPr>
              <a:xfrm>
                <a:off x="2079380" y="6814092"/>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24190B8-1A81-A3D9-AB37-E7A8DA94EE0F}"/>
                  </a:ext>
                </a:extLst>
              </p:cNvPr>
              <p:cNvSpPr/>
              <p:nvPr/>
            </p:nvSpPr>
            <p:spPr>
              <a:xfrm>
                <a:off x="2384180" y="6810799"/>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507102E-DFA7-14CE-622D-2168FA2E16FC}"/>
                  </a:ext>
                </a:extLst>
              </p:cNvPr>
              <p:cNvSpPr/>
              <p:nvPr/>
            </p:nvSpPr>
            <p:spPr>
              <a:xfrm>
                <a:off x="2666046" y="68134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9AF4238-6CE1-20AB-7C35-E4BB1D16D5F3}"/>
                  </a:ext>
                </a:extLst>
              </p:cNvPr>
              <p:cNvSpPr/>
              <p:nvPr/>
            </p:nvSpPr>
            <p:spPr>
              <a:xfrm>
                <a:off x="2970846" y="681013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126555E-7CFF-F6D2-B8A5-D7B18F9A7C4B}"/>
                  </a:ext>
                </a:extLst>
              </p:cNvPr>
              <p:cNvSpPr/>
              <p:nvPr/>
            </p:nvSpPr>
            <p:spPr>
              <a:xfrm>
                <a:off x="3297626" y="68076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FC44ABB-1F35-26CE-5E9F-52F8472CE2D9}"/>
                  </a:ext>
                </a:extLst>
              </p:cNvPr>
              <p:cNvSpPr/>
              <p:nvPr/>
            </p:nvSpPr>
            <p:spPr>
              <a:xfrm>
                <a:off x="3602426" y="6804322"/>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BE446D34-454F-3814-337A-75BA3BA62FA8}"/>
                  </a:ext>
                </a:extLst>
              </p:cNvPr>
              <p:cNvSpPr/>
              <p:nvPr/>
            </p:nvSpPr>
            <p:spPr>
              <a:xfrm>
                <a:off x="3912478" y="6808516"/>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0B1DC15-9CAA-BF14-BC62-DAC590A91512}"/>
                  </a:ext>
                </a:extLst>
              </p:cNvPr>
              <p:cNvSpPr/>
              <p:nvPr/>
            </p:nvSpPr>
            <p:spPr>
              <a:xfrm>
                <a:off x="4217278" y="68052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C9BAF11-95E6-D930-901F-35B219045F8D}"/>
                  </a:ext>
                </a:extLst>
              </p:cNvPr>
              <p:cNvSpPr/>
              <p:nvPr/>
            </p:nvSpPr>
            <p:spPr>
              <a:xfrm>
                <a:off x="4544058" y="680270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7FE681D-7E7A-B81B-142D-AD4D13F59169}"/>
                  </a:ext>
                </a:extLst>
              </p:cNvPr>
              <p:cNvSpPr/>
              <p:nvPr/>
            </p:nvSpPr>
            <p:spPr>
              <a:xfrm>
                <a:off x="4848858" y="67994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25377D2-888A-5E0C-E22F-74BB1500F519}"/>
                  </a:ext>
                </a:extLst>
              </p:cNvPr>
              <p:cNvSpPr/>
              <p:nvPr/>
            </p:nvSpPr>
            <p:spPr>
              <a:xfrm>
                <a:off x="5202575" y="6824081"/>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CEC0D43-DD0C-7E56-D7F5-835E06FD6937}"/>
                  </a:ext>
                </a:extLst>
              </p:cNvPr>
              <p:cNvSpPr/>
              <p:nvPr/>
            </p:nvSpPr>
            <p:spPr>
              <a:xfrm>
                <a:off x="5507375" y="682078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D162925-AFEA-395E-646E-13C6A0A2A91E}"/>
                  </a:ext>
                </a:extLst>
              </p:cNvPr>
              <p:cNvSpPr/>
              <p:nvPr/>
            </p:nvSpPr>
            <p:spPr>
              <a:xfrm>
                <a:off x="5834155" y="681827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1F271EA-2309-C2B7-5FF8-CE46FF7BCFCE}"/>
                  </a:ext>
                </a:extLst>
              </p:cNvPr>
              <p:cNvSpPr/>
              <p:nvPr/>
            </p:nvSpPr>
            <p:spPr>
              <a:xfrm>
                <a:off x="6138955" y="6814980"/>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ABFF25F-99BA-6434-21BF-7AC6360C6285}"/>
                  </a:ext>
                </a:extLst>
              </p:cNvPr>
              <p:cNvSpPr/>
              <p:nvPr/>
            </p:nvSpPr>
            <p:spPr>
              <a:xfrm>
                <a:off x="6484727" y="6808516"/>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6B2869D-45A3-EB55-6C71-56B6D1FCF087}"/>
                  </a:ext>
                </a:extLst>
              </p:cNvPr>
              <p:cNvSpPr/>
              <p:nvPr/>
            </p:nvSpPr>
            <p:spPr>
              <a:xfrm>
                <a:off x="6789527" y="6805223"/>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9435ED5-50CB-ABFA-C7F0-5935FA69EA04}"/>
                  </a:ext>
                </a:extLst>
              </p:cNvPr>
              <p:cNvSpPr/>
              <p:nvPr/>
            </p:nvSpPr>
            <p:spPr>
              <a:xfrm>
                <a:off x="7116307" y="6802708"/>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C9F971A-3CC6-71B7-53D9-D833964C8E0F}"/>
                  </a:ext>
                </a:extLst>
              </p:cNvPr>
              <p:cNvSpPr/>
              <p:nvPr/>
            </p:nvSpPr>
            <p:spPr>
              <a:xfrm>
                <a:off x="7421107" y="6799415"/>
                <a:ext cx="45719" cy="1571547"/>
              </a:xfrm>
              <a:prstGeom prst="rect">
                <a:avLst/>
              </a:prstGeom>
              <a:solidFill>
                <a:schemeClr val="accent3"/>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26</a:t>
            </a:r>
          </a:p>
        </p:txBody>
      </p:sp>
      <p:sp>
        <p:nvSpPr>
          <p:cNvPr id="13" name="TextBox 13"/>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Bold"/>
              </a:rPr>
              <a:t>Hardware Used</a:t>
            </a:r>
          </a:p>
        </p:txBody>
      </p:sp>
      <p:sp>
        <p:nvSpPr>
          <p:cNvPr id="14" name="TextBox 14"/>
          <p:cNvSpPr txBox="1"/>
          <p:nvPr/>
        </p:nvSpPr>
        <p:spPr>
          <a:xfrm>
            <a:off x="1028700" y="6308886"/>
            <a:ext cx="16230600" cy="2238059"/>
          </a:xfrm>
          <a:prstGeom prst="rect">
            <a:avLst/>
          </a:prstGeom>
        </p:spPr>
        <p:txBody>
          <a:bodyPr lIns="0" tIns="0" rIns="0" bIns="0" rtlCol="0" anchor="t">
            <a:spAutoFit/>
          </a:bodyPr>
          <a:lstStyle/>
          <a:p>
            <a:pPr algn="just">
              <a:lnSpc>
                <a:spcPts val="4479"/>
              </a:lnSpc>
            </a:pPr>
            <a:r>
              <a:rPr lang="en-US" sz="3199" dirty="0">
                <a:solidFill>
                  <a:srgbClr val="000000"/>
                </a:solidFill>
                <a:latin typeface="Source Han Serif JP Bold Bold"/>
              </a:rPr>
              <a:t>Software Requirements </a:t>
            </a:r>
          </a:p>
          <a:p>
            <a:pPr marL="690871" lvl="1" indent="-345435" algn="just">
              <a:lnSpc>
                <a:spcPts val="4479"/>
              </a:lnSpc>
              <a:buFont typeface="Arial"/>
              <a:buChar char="•"/>
            </a:pPr>
            <a:r>
              <a:rPr lang="en-US" sz="3199" dirty="0">
                <a:solidFill>
                  <a:srgbClr val="000000"/>
                </a:solidFill>
                <a:latin typeface="Times Neue Roman"/>
              </a:rPr>
              <a:t>Visual Studio Enterprise Edition </a:t>
            </a:r>
          </a:p>
          <a:p>
            <a:pPr marL="690871" lvl="1" indent="-345435" algn="just">
              <a:lnSpc>
                <a:spcPts val="4479"/>
              </a:lnSpc>
              <a:buFont typeface="Arial"/>
              <a:buChar char="•"/>
            </a:pPr>
            <a:r>
              <a:rPr lang="en-US" sz="3199" dirty="0">
                <a:solidFill>
                  <a:srgbClr val="000000"/>
                </a:solidFill>
                <a:latin typeface="Times Neue Roman"/>
              </a:rPr>
              <a:t>C++ 14 </a:t>
            </a:r>
          </a:p>
          <a:p>
            <a:pPr marL="690871" lvl="1" indent="-345435" algn="just">
              <a:lnSpc>
                <a:spcPts val="4479"/>
              </a:lnSpc>
              <a:buFont typeface="Arial"/>
              <a:buChar char="•"/>
            </a:pPr>
            <a:r>
              <a:rPr lang="en-US" sz="3199" dirty="0">
                <a:solidFill>
                  <a:srgbClr val="000000"/>
                </a:solidFill>
                <a:latin typeface="Times Neue Roman"/>
              </a:rPr>
              <a:t>OpenMP </a:t>
            </a:r>
          </a:p>
        </p:txBody>
      </p:sp>
      <p:sp>
        <p:nvSpPr>
          <p:cNvPr id="15" name="TextBox 12">
            <a:extLst>
              <a:ext uri="{FF2B5EF4-FFF2-40B4-BE49-F238E27FC236}">
                <a16:creationId xmlns:a16="http://schemas.microsoft.com/office/drawing/2014/main" id="{20E460D8-9581-DBB7-9864-2C8A1B39BCA3}"/>
              </a:ext>
            </a:extLst>
          </p:cNvPr>
          <p:cNvSpPr txBox="1"/>
          <p:nvPr/>
        </p:nvSpPr>
        <p:spPr>
          <a:xfrm>
            <a:off x="13606893" y="9486900"/>
            <a:ext cx="4604907" cy="371897"/>
          </a:xfrm>
          <a:prstGeom prst="rect">
            <a:avLst/>
          </a:prstGeom>
        </p:spPr>
        <p:txBody>
          <a:bodyPr wrap="square" lIns="0" tIns="0" rIns="0" bIns="0" rtlCol="0" anchor="t">
            <a:spAutoFit/>
          </a:bodyPr>
          <a:lstStyle/>
          <a:p>
            <a:pPr>
              <a:lnSpc>
                <a:spcPts val="2870"/>
              </a:lnSpc>
            </a:pPr>
            <a:r>
              <a:rPr lang="en-US" sz="2800" dirty="0">
                <a:solidFill>
                  <a:srgbClr val="FFFFFF"/>
                </a:solidFill>
                <a:latin typeface="Open Sans Light Bold"/>
              </a:rPr>
              <a:t>05. CPU Implementation</a:t>
            </a:r>
          </a:p>
        </p:txBody>
      </p:sp>
      <p:graphicFrame>
        <p:nvGraphicFramePr>
          <p:cNvPr id="12" name="Table 16">
            <a:extLst>
              <a:ext uri="{FF2B5EF4-FFF2-40B4-BE49-F238E27FC236}">
                <a16:creationId xmlns:a16="http://schemas.microsoft.com/office/drawing/2014/main" id="{892F4B1C-1ACB-5ED7-307E-693B3828CA1F}"/>
              </a:ext>
            </a:extLst>
          </p:cNvPr>
          <p:cNvGraphicFramePr>
            <a:graphicFrameLocks noGrp="1"/>
          </p:cNvGraphicFramePr>
          <p:nvPr>
            <p:extLst>
              <p:ext uri="{D42A27DB-BD31-4B8C-83A1-F6EECF244321}">
                <p14:modId xmlns:p14="http://schemas.microsoft.com/office/powerpoint/2010/main" val="1699025566"/>
              </p:ext>
            </p:extLst>
          </p:nvPr>
        </p:nvGraphicFramePr>
        <p:xfrm>
          <a:off x="3048000" y="2009581"/>
          <a:ext cx="12192000" cy="3992880"/>
        </p:xfrm>
        <a:graphic>
          <a:graphicData uri="http://schemas.openxmlformats.org/drawingml/2006/table">
            <a:tbl>
              <a:tblPr firstRow="1" bandRow="1">
                <a:tableStyleId>{9D7B26C5-4107-4FEC-AEDC-1716B250A1EF}</a:tableStyleId>
              </a:tblPr>
              <a:tblGrid>
                <a:gridCol w="6096000">
                  <a:extLst>
                    <a:ext uri="{9D8B030D-6E8A-4147-A177-3AD203B41FA5}">
                      <a16:colId xmlns:a16="http://schemas.microsoft.com/office/drawing/2014/main" val="3706185290"/>
                    </a:ext>
                  </a:extLst>
                </a:gridCol>
                <a:gridCol w="6096000">
                  <a:extLst>
                    <a:ext uri="{9D8B030D-6E8A-4147-A177-3AD203B41FA5}">
                      <a16:colId xmlns:a16="http://schemas.microsoft.com/office/drawing/2014/main" val="1845696970"/>
                    </a:ext>
                  </a:extLst>
                </a:gridCol>
              </a:tblGrid>
              <a:tr h="370840">
                <a:tc gridSpan="2">
                  <a:txBody>
                    <a:bodyPr/>
                    <a:lstStyle/>
                    <a:p>
                      <a:pPr algn="ctr"/>
                      <a:r>
                        <a:rPr lang="pt-BR" sz="2800" b="1" kern="1200" dirty="0">
                          <a:solidFill>
                            <a:schemeClr val="tx1"/>
                          </a:solidFill>
                          <a:effectLst/>
                          <a:latin typeface="Times Neue Roman" panose="020B0604020202020204" charset="0"/>
                          <a:ea typeface="+mn-ea"/>
                          <a:cs typeface="+mn-cs"/>
                        </a:rPr>
                        <a:t>intel(R) Core(TM) i5-10210U </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75848"/>
                  </a:ext>
                </a:extLst>
              </a:tr>
              <a:tr h="370840">
                <a:tc>
                  <a:txBody>
                    <a:bodyPr/>
                    <a:lstStyle/>
                    <a:p>
                      <a:r>
                        <a:rPr lang="en-US" sz="3200" dirty="0"/>
                        <a:t>Characteristic </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Specification</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406657"/>
                  </a:ext>
                </a:extLst>
              </a:tr>
              <a:tr h="370840">
                <a:tc>
                  <a:txBody>
                    <a:bodyPr/>
                    <a:lstStyle/>
                    <a:p>
                      <a:r>
                        <a:rPr lang="en-US" sz="3200" dirty="0"/>
                        <a:t>Cores</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4</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7329190"/>
                  </a:ext>
                </a:extLst>
              </a:tr>
              <a:tr h="370840">
                <a:tc>
                  <a:txBody>
                    <a:bodyPr/>
                    <a:lstStyle/>
                    <a:p>
                      <a:r>
                        <a:rPr lang="en-US" sz="3200" dirty="0"/>
                        <a:t>Logical Processors </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8</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0327449"/>
                  </a:ext>
                </a:extLst>
              </a:tr>
              <a:tr h="370840">
                <a:tc>
                  <a:txBody>
                    <a:bodyPr/>
                    <a:lstStyle/>
                    <a:p>
                      <a:r>
                        <a:rPr lang="en-US" sz="3200" dirty="0"/>
                        <a:t>Maximum Turbo Frequency </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4.20 GHz</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3581657"/>
                  </a:ext>
                </a:extLst>
              </a:tr>
              <a:tr h="370840">
                <a:tc>
                  <a:txBody>
                    <a:bodyPr/>
                    <a:lstStyle/>
                    <a:p>
                      <a:r>
                        <a:rPr lang="en-US" sz="3200" dirty="0"/>
                        <a:t>Base Frequency </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1.60 GHz</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6831681"/>
                  </a:ext>
                </a:extLst>
              </a:tr>
              <a:tr h="370840">
                <a:tc>
                  <a:txBody>
                    <a:bodyPr/>
                    <a:lstStyle/>
                    <a:p>
                      <a:r>
                        <a:rPr lang="en-US" sz="3200" dirty="0"/>
                        <a:t>Cache</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6MB Intel Smart Cache</a:t>
                      </a:r>
                      <a:endParaRPr lang="en-US" sz="3200" dirty="0">
                        <a:latin typeface="Times Neue Roman"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585477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4590709" y="5138742"/>
            <a:ext cx="9695769" cy="0"/>
          </a:xfrm>
          <a:prstGeom prst="line">
            <a:avLst/>
          </a:prstGeom>
          <a:ln w="38100" cap="flat">
            <a:solidFill>
              <a:srgbClr val="22466B"/>
            </a:solidFill>
            <a:prstDash val="solid"/>
            <a:headEnd type="none" w="sm" len="sm"/>
            <a:tailEnd type="none" w="sm" len="sm"/>
          </a:ln>
        </p:spPr>
      </p:sp>
      <p:sp>
        <p:nvSpPr>
          <p:cNvPr id="3" name="AutoShape 3"/>
          <p:cNvSpPr/>
          <p:nvPr/>
        </p:nvSpPr>
        <p:spPr>
          <a:xfrm rot="-10800000">
            <a:off x="257175" y="290857"/>
            <a:ext cx="17782493" cy="0"/>
          </a:xfrm>
          <a:prstGeom prst="line">
            <a:avLst/>
          </a:prstGeom>
          <a:ln w="38100" cap="flat">
            <a:solidFill>
              <a:srgbClr val="000000"/>
            </a:solidFill>
            <a:prstDash val="solid"/>
            <a:headEnd type="none" w="sm" len="sm"/>
            <a:tailEnd type="none" w="sm" len="sm"/>
          </a:ln>
        </p:spPr>
      </p:sp>
      <p:sp>
        <p:nvSpPr>
          <p:cNvPr id="4" name="AutoShape 4"/>
          <p:cNvSpPr/>
          <p:nvPr/>
        </p:nvSpPr>
        <p:spPr>
          <a:xfrm rot="-10800000">
            <a:off x="257175" y="10005676"/>
            <a:ext cx="17687243" cy="0"/>
          </a:xfrm>
          <a:prstGeom prst="line">
            <a:avLst/>
          </a:prstGeom>
          <a:ln w="38100" cap="flat">
            <a:solidFill>
              <a:srgbClr val="000000"/>
            </a:solidFill>
            <a:prstDash val="solid"/>
            <a:headEnd type="none" w="sm" len="sm"/>
            <a:tailEnd type="none" w="sm" len="sm"/>
          </a:ln>
        </p:spPr>
      </p:sp>
      <p:sp>
        <p:nvSpPr>
          <p:cNvPr id="5" name="AutoShape 5"/>
          <p:cNvSpPr/>
          <p:nvPr/>
        </p:nvSpPr>
        <p:spPr>
          <a:xfrm rot="5400000">
            <a:off x="13032072" y="5298454"/>
            <a:ext cx="9977093" cy="0"/>
          </a:xfrm>
          <a:prstGeom prst="line">
            <a:avLst/>
          </a:prstGeom>
          <a:ln w="38100" cap="flat">
            <a:solidFill>
              <a:srgbClr val="22466B"/>
            </a:solidFill>
            <a:prstDash val="solid"/>
            <a:headEnd type="none" w="sm" len="sm"/>
            <a:tailEnd type="none" w="sm" len="sm"/>
          </a:ln>
        </p:spPr>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363603" y="5670805"/>
            <a:ext cx="5644895" cy="5644895"/>
          </a:xfrm>
          <a:prstGeom prst="rect">
            <a:avLst/>
          </a:prstGeom>
        </p:spPr>
      </p:pic>
      <p:sp>
        <p:nvSpPr>
          <p:cNvPr id="7" name="TextBox 7"/>
          <p:cNvSpPr txBox="1"/>
          <p:nvPr/>
        </p:nvSpPr>
        <p:spPr>
          <a:xfrm>
            <a:off x="1028700" y="1350402"/>
            <a:ext cx="15238548" cy="1675141"/>
          </a:xfrm>
          <a:prstGeom prst="rect">
            <a:avLst/>
          </a:prstGeom>
        </p:spPr>
        <p:txBody>
          <a:bodyPr lIns="0" tIns="0" rIns="0" bIns="0" rtlCol="0" anchor="t">
            <a:spAutoFit/>
          </a:bodyPr>
          <a:lstStyle/>
          <a:p>
            <a:pPr>
              <a:lnSpc>
                <a:spcPts val="13719"/>
              </a:lnSpc>
              <a:spcBef>
                <a:spcPct val="0"/>
              </a:spcBef>
            </a:pPr>
            <a:r>
              <a:rPr lang="en-US" sz="9799">
                <a:solidFill>
                  <a:srgbClr val="22466B"/>
                </a:solidFill>
                <a:latin typeface="Source Han Serif JP Bold"/>
              </a:rPr>
              <a:t>Results and Discussion</a:t>
            </a: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1614405" y="7464553"/>
            <a:ext cx="5644895" cy="56448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t="21322" r="403"/>
          <a:stretch>
            <a:fillRect/>
          </a:stretch>
        </p:blipFill>
        <p:spPr>
          <a:xfrm>
            <a:off x="2778636" y="1638300"/>
            <a:ext cx="13466456" cy="2920677"/>
          </a:xfrm>
          <a:prstGeom prst="rect">
            <a:avLst/>
          </a:prstGeom>
        </p:spPr>
      </p:pic>
      <p:pic>
        <p:nvPicPr>
          <p:cNvPr id="11" name="Picture 11"/>
          <p:cNvPicPr>
            <a:picLocks noChangeAspect="1"/>
          </p:cNvPicPr>
          <p:nvPr/>
        </p:nvPicPr>
        <p:blipFill>
          <a:blip r:embed="rId3"/>
          <a:srcRect t="21618" r="968"/>
          <a:stretch>
            <a:fillRect/>
          </a:stretch>
        </p:blipFill>
        <p:spPr>
          <a:xfrm>
            <a:off x="2778636" y="5477823"/>
            <a:ext cx="13358009" cy="3005297"/>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28</a:t>
            </a:r>
          </a:p>
        </p:txBody>
      </p:sp>
      <p:sp>
        <p:nvSpPr>
          <p:cNvPr id="13" name="TextBox 13"/>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a:rPr>
              <a:t>Functioning and Output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t="23592" r="389"/>
          <a:stretch>
            <a:fillRect/>
          </a:stretch>
        </p:blipFill>
        <p:spPr>
          <a:xfrm>
            <a:off x="2167591" y="3704393"/>
            <a:ext cx="13952817" cy="2878213"/>
          </a:xfrm>
          <a:prstGeom prst="rect">
            <a:avLst/>
          </a:prstGeom>
        </p:spPr>
      </p:pic>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29</a:t>
            </a:r>
          </a:p>
        </p:txBody>
      </p:sp>
      <p:sp>
        <p:nvSpPr>
          <p:cNvPr id="13" name="TextBox 13"/>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a:rPr>
              <a:t>Functioning and Output</a:t>
            </a:r>
          </a:p>
        </p:txBody>
      </p:sp>
      <p:sp>
        <p:nvSpPr>
          <p:cNvPr id="14" name="TextBox 13">
            <a:extLst>
              <a:ext uri="{FF2B5EF4-FFF2-40B4-BE49-F238E27FC236}">
                <a16:creationId xmlns:a16="http://schemas.microsoft.com/office/drawing/2014/main" id="{239F8163-BB60-21D4-9BFF-8B43749E3313}"/>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30</a:t>
            </a:r>
          </a:p>
        </p:txBody>
      </p:sp>
      <p:sp>
        <p:nvSpPr>
          <p:cNvPr id="13" name="TextBox 13"/>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dirty="0">
                <a:solidFill>
                  <a:srgbClr val="000000"/>
                </a:solidFill>
                <a:latin typeface="Source Han Serif JP Bold"/>
              </a:rPr>
              <a:t>Accuracy</a:t>
            </a:r>
          </a:p>
        </p:txBody>
      </p:sp>
      <p:graphicFrame>
        <p:nvGraphicFramePr>
          <p:cNvPr id="22" name="Table 21">
            <a:extLst>
              <a:ext uri="{FF2B5EF4-FFF2-40B4-BE49-F238E27FC236}">
                <a16:creationId xmlns:a16="http://schemas.microsoft.com/office/drawing/2014/main" id="{DF6CC824-B8B1-FCF5-58F9-7BE4D6EE5140}"/>
              </a:ext>
            </a:extLst>
          </p:cNvPr>
          <p:cNvGraphicFramePr>
            <a:graphicFrameLocks noGrp="1"/>
          </p:cNvGraphicFramePr>
          <p:nvPr>
            <p:extLst>
              <p:ext uri="{D42A27DB-BD31-4B8C-83A1-F6EECF244321}">
                <p14:modId xmlns:p14="http://schemas.microsoft.com/office/powerpoint/2010/main" val="3146257894"/>
              </p:ext>
            </p:extLst>
          </p:nvPr>
        </p:nvGraphicFramePr>
        <p:xfrm>
          <a:off x="1002680" y="3268949"/>
          <a:ext cx="16605247" cy="3062996"/>
        </p:xfrm>
        <a:graphic>
          <a:graphicData uri="http://schemas.openxmlformats.org/drawingml/2006/table">
            <a:tbl>
              <a:tblPr/>
              <a:tblGrid>
                <a:gridCol w="2077538">
                  <a:extLst>
                    <a:ext uri="{9D8B030D-6E8A-4147-A177-3AD203B41FA5}">
                      <a16:colId xmlns:a16="http://schemas.microsoft.com/office/drawing/2014/main" val="3974702882"/>
                    </a:ext>
                  </a:extLst>
                </a:gridCol>
                <a:gridCol w="2145284">
                  <a:extLst>
                    <a:ext uri="{9D8B030D-6E8A-4147-A177-3AD203B41FA5}">
                      <a16:colId xmlns:a16="http://schemas.microsoft.com/office/drawing/2014/main" val="958104176"/>
                    </a:ext>
                  </a:extLst>
                </a:gridCol>
                <a:gridCol w="3522782">
                  <a:extLst>
                    <a:ext uri="{9D8B030D-6E8A-4147-A177-3AD203B41FA5}">
                      <a16:colId xmlns:a16="http://schemas.microsoft.com/office/drawing/2014/main" val="1944472776"/>
                    </a:ext>
                  </a:extLst>
                </a:gridCol>
                <a:gridCol w="2649613">
                  <a:extLst>
                    <a:ext uri="{9D8B030D-6E8A-4147-A177-3AD203B41FA5}">
                      <a16:colId xmlns:a16="http://schemas.microsoft.com/office/drawing/2014/main" val="3406994693"/>
                    </a:ext>
                  </a:extLst>
                </a:gridCol>
                <a:gridCol w="3500198">
                  <a:extLst>
                    <a:ext uri="{9D8B030D-6E8A-4147-A177-3AD203B41FA5}">
                      <a16:colId xmlns:a16="http://schemas.microsoft.com/office/drawing/2014/main" val="3414629311"/>
                    </a:ext>
                  </a:extLst>
                </a:gridCol>
                <a:gridCol w="2709832">
                  <a:extLst>
                    <a:ext uri="{9D8B030D-6E8A-4147-A177-3AD203B41FA5}">
                      <a16:colId xmlns:a16="http://schemas.microsoft.com/office/drawing/2014/main" val="949575224"/>
                    </a:ext>
                  </a:extLst>
                </a:gridCol>
              </a:tblGrid>
              <a:tr h="428666">
                <a:tc gridSpan="6">
                  <a:txBody>
                    <a:bodyPr/>
                    <a:lstStyle/>
                    <a:p>
                      <a:pPr algn="ctr" fontAlgn="b"/>
                      <a:r>
                        <a:rPr lang="nn-NO" sz="2800" b="1" i="0" u="none" strike="noStrike" dirty="0">
                          <a:solidFill>
                            <a:srgbClr val="000000"/>
                          </a:solidFill>
                          <a:effectLst/>
                          <a:latin typeface="Calibri" panose="020F0502020204030204" pitchFamily="34" charset="0"/>
                        </a:rPr>
                        <a:t>Data Set: 100_bp_1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90544364"/>
                  </a:ext>
                </a:extLst>
              </a:tr>
              <a:tr h="445526">
                <a:tc>
                  <a:txBody>
                    <a:bodyPr/>
                    <a:lstStyle/>
                    <a:p>
                      <a:pPr algn="l" fontAlgn="b"/>
                      <a:r>
                        <a:rPr lang="en-US" sz="2800" b="1" i="0" u="none" strike="noStrike" dirty="0">
                          <a:solidFill>
                            <a:srgbClr val="000000"/>
                          </a:solidFill>
                          <a:effectLst/>
                          <a:latin typeface="Calibri" panose="020F0502020204030204" pitchFamily="34" charset="0"/>
                        </a:rPr>
                        <a:t>Edit Distance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800" b="1" i="0" u="none" strike="noStrike">
                          <a:solidFill>
                            <a:srgbClr val="000000"/>
                          </a:solidFill>
                          <a:effectLst/>
                          <a:latin typeface="Calibri" panose="020F0502020204030204" pitchFamily="34" charset="0"/>
                        </a:rPr>
                        <a:t>No of Threads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800" b="1" i="0" u="none" strike="noStrike" dirty="0">
                          <a:solidFill>
                            <a:srgbClr val="000000"/>
                          </a:solidFill>
                          <a:effectLst/>
                          <a:latin typeface="Calibri" panose="020F0502020204030204" pitchFamily="34" charset="0"/>
                        </a:rPr>
                        <a:t>Accepted Experimental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800" b="1" i="0" u="none" strike="noStrike">
                          <a:solidFill>
                            <a:srgbClr val="000000"/>
                          </a:solidFill>
                          <a:effectLst/>
                          <a:latin typeface="Calibri" panose="020F0502020204030204" pitchFamily="34" charset="0"/>
                        </a:rPr>
                        <a:t>Accepted Original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800" b="1" i="0" u="none" strike="noStrike">
                          <a:solidFill>
                            <a:srgbClr val="000000"/>
                          </a:solidFill>
                          <a:effectLst/>
                          <a:latin typeface="Calibri" panose="020F0502020204030204" pitchFamily="34" charset="0"/>
                        </a:rPr>
                        <a:t>Rejected Experimental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800" b="1" i="0" u="none" strike="noStrike" dirty="0">
                          <a:solidFill>
                            <a:srgbClr val="000000"/>
                          </a:solidFill>
                          <a:effectLst/>
                          <a:latin typeface="Calibri" panose="020F0502020204030204" pitchFamily="34" charset="0"/>
                        </a:rPr>
                        <a:t>Rejected Original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4541228"/>
                  </a:ext>
                </a:extLst>
              </a:tr>
              <a:tr h="428666">
                <a:tc>
                  <a:txBody>
                    <a:bodyPr/>
                    <a:lstStyle/>
                    <a:p>
                      <a:pPr algn="r" fontAlgn="b"/>
                      <a:r>
                        <a:rPr lang="en-US" sz="2800" b="0" i="0" u="none" strike="noStrike">
                          <a:solidFill>
                            <a:srgbClr val="000000"/>
                          </a:solidFill>
                          <a:effectLst/>
                          <a:latin typeface="Calibri" panose="020F0502020204030204" pitchFamily="34"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29757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29757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171852"/>
                  </a:ext>
                </a:extLst>
              </a:tr>
              <a:tr h="428666">
                <a:tc>
                  <a:txBody>
                    <a:bodyPr/>
                    <a:lstStyle/>
                    <a:p>
                      <a:pPr algn="r" fontAlgn="b"/>
                      <a:r>
                        <a:rPr lang="en-US" sz="28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1578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1578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28422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28422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6684582"/>
                  </a:ext>
                </a:extLst>
              </a:tr>
              <a:tr h="428666">
                <a:tc>
                  <a:txBody>
                    <a:bodyPr/>
                    <a:lstStyle/>
                    <a:p>
                      <a:pPr algn="r" fontAlgn="b"/>
                      <a:r>
                        <a:rPr lang="en-US" sz="28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5850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5850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24150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24150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6928724"/>
                  </a:ext>
                </a:extLst>
              </a:tr>
              <a:tr h="428666">
                <a:tc>
                  <a:txBody>
                    <a:bodyPr/>
                    <a:lstStyle/>
                    <a:p>
                      <a:pPr algn="r" fontAlgn="b"/>
                      <a:r>
                        <a:rPr lang="en-US" sz="2800" b="0" i="0" u="none" strike="noStrike">
                          <a:solidFill>
                            <a:srgbClr val="000000"/>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14623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14623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15377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15377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7861990"/>
                  </a:ext>
                </a:extLst>
              </a:tr>
              <a:tr h="428666">
                <a:tc>
                  <a:txBody>
                    <a:bodyPr/>
                    <a:lstStyle/>
                    <a:p>
                      <a:pPr algn="r" fontAlgn="b"/>
                      <a:r>
                        <a:rPr lang="en-US" sz="2800" b="0" i="0" u="none" strike="noStrike">
                          <a:solidFill>
                            <a:srgbClr val="000000"/>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26416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26416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a:solidFill>
                            <a:srgbClr val="000000"/>
                          </a:solidFill>
                          <a:effectLst/>
                          <a:latin typeface="Calibri" panose="020F0502020204030204" pitchFamily="34" charset="0"/>
                        </a:rPr>
                        <a:t>3584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2800" b="0" i="0" u="none" strike="noStrike" dirty="0">
                          <a:solidFill>
                            <a:srgbClr val="000000"/>
                          </a:solidFill>
                          <a:effectLst/>
                          <a:latin typeface="Calibri" panose="020F0502020204030204" pitchFamily="34" charset="0"/>
                        </a:rPr>
                        <a:t>3584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3253700"/>
                  </a:ext>
                </a:extLst>
              </a:tr>
            </a:tbl>
          </a:graphicData>
        </a:graphic>
      </p:graphicFrame>
    </p:spTree>
    <p:extLst>
      <p:ext uri="{BB962C8B-B14F-4D97-AF65-F5344CB8AC3E}">
        <p14:creationId xmlns:p14="http://schemas.microsoft.com/office/powerpoint/2010/main" val="1235310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990600" y="2324100"/>
            <a:ext cx="6578447" cy="5433092"/>
          </a:xfrm>
          <a:prstGeom prst="rect">
            <a:avLst/>
          </a:prstGeom>
        </p:spPr>
      </p:pic>
      <p:pic>
        <p:nvPicPr>
          <p:cNvPr id="11" name="Picture 11"/>
          <p:cNvPicPr>
            <a:picLocks noChangeAspect="1"/>
          </p:cNvPicPr>
          <p:nvPr/>
        </p:nvPicPr>
        <p:blipFill>
          <a:blip r:embed="rId3"/>
          <a:srcRect/>
          <a:stretch>
            <a:fillRect/>
          </a:stretch>
        </p:blipFill>
        <p:spPr>
          <a:xfrm>
            <a:off x="9929427" y="2066040"/>
            <a:ext cx="6042341" cy="5972775"/>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31</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Bold"/>
              </a:rPr>
              <a:t>Execution Time</a:t>
            </a:r>
          </a:p>
        </p:txBody>
      </p:sp>
      <p:sp>
        <p:nvSpPr>
          <p:cNvPr id="15" name="TextBox 13">
            <a:extLst>
              <a:ext uri="{FF2B5EF4-FFF2-40B4-BE49-F238E27FC236}">
                <a16:creationId xmlns:a16="http://schemas.microsoft.com/office/drawing/2014/main" id="{E5E643D6-B926-C52D-0C0E-957E3C417A89}"/>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1028700" y="2160017"/>
            <a:ext cx="7439245" cy="5440860"/>
          </a:xfrm>
          <a:prstGeom prst="rect">
            <a:avLst/>
          </a:prstGeom>
        </p:spPr>
      </p:pic>
      <p:pic>
        <p:nvPicPr>
          <p:cNvPr id="11" name="Picture 11"/>
          <p:cNvPicPr>
            <a:picLocks noChangeAspect="1"/>
          </p:cNvPicPr>
          <p:nvPr/>
        </p:nvPicPr>
        <p:blipFill>
          <a:blip r:embed="rId3"/>
          <a:srcRect/>
          <a:stretch>
            <a:fillRect/>
          </a:stretch>
        </p:blipFill>
        <p:spPr>
          <a:xfrm>
            <a:off x="10627139" y="1894059"/>
            <a:ext cx="6111907" cy="5972775"/>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32</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Bold"/>
              </a:rPr>
              <a:t>Execution Time</a:t>
            </a:r>
          </a:p>
        </p:txBody>
      </p:sp>
      <p:sp>
        <p:nvSpPr>
          <p:cNvPr id="15" name="TextBox 13">
            <a:extLst>
              <a:ext uri="{FF2B5EF4-FFF2-40B4-BE49-F238E27FC236}">
                <a16:creationId xmlns:a16="http://schemas.microsoft.com/office/drawing/2014/main" id="{15D866A5-1A27-8355-AAA7-CC27CD7021D4}"/>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1028700" y="2204721"/>
            <a:ext cx="8239229" cy="5391289"/>
          </a:xfrm>
          <a:prstGeom prst="rect">
            <a:avLst/>
          </a:prstGeom>
        </p:spPr>
      </p:pic>
      <p:pic>
        <p:nvPicPr>
          <p:cNvPr id="11" name="Picture 11"/>
          <p:cNvPicPr>
            <a:picLocks noChangeAspect="1"/>
          </p:cNvPicPr>
          <p:nvPr/>
        </p:nvPicPr>
        <p:blipFill>
          <a:blip r:embed="rId3"/>
          <a:srcRect/>
          <a:stretch>
            <a:fillRect/>
          </a:stretch>
        </p:blipFill>
        <p:spPr>
          <a:xfrm>
            <a:off x="10509459" y="1936263"/>
            <a:ext cx="6347267" cy="5928205"/>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33</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Bold"/>
              </a:rPr>
              <a:t>Execution Time</a:t>
            </a:r>
          </a:p>
        </p:txBody>
      </p:sp>
      <p:sp>
        <p:nvSpPr>
          <p:cNvPr id="15" name="TextBox 13">
            <a:extLst>
              <a:ext uri="{FF2B5EF4-FFF2-40B4-BE49-F238E27FC236}">
                <a16:creationId xmlns:a16="http://schemas.microsoft.com/office/drawing/2014/main" id="{3FDB6519-FC74-BC0F-7477-EB5144416E41}"/>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3028324" y="1765392"/>
            <a:ext cx="12817716" cy="3099366"/>
          </a:xfrm>
          <a:prstGeom prst="rect">
            <a:avLst/>
          </a:prstGeom>
        </p:spPr>
      </p:pic>
      <p:pic>
        <p:nvPicPr>
          <p:cNvPr id="11" name="Picture 11"/>
          <p:cNvPicPr>
            <a:picLocks noChangeAspect="1"/>
          </p:cNvPicPr>
          <p:nvPr/>
        </p:nvPicPr>
        <p:blipFill rotWithShape="1">
          <a:blip r:embed="rId3"/>
          <a:srcRect r="14240" b="6158"/>
          <a:stretch/>
        </p:blipFill>
        <p:spPr>
          <a:xfrm>
            <a:off x="3028324" y="5388632"/>
            <a:ext cx="12817715" cy="3088356"/>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34</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a:rPr>
              <a:t>CPU Utilization</a:t>
            </a:r>
          </a:p>
        </p:txBody>
      </p:sp>
      <p:sp>
        <p:nvSpPr>
          <p:cNvPr id="15" name="TextBox 15"/>
          <p:cNvSpPr txBox="1"/>
          <p:nvPr/>
        </p:nvSpPr>
        <p:spPr>
          <a:xfrm>
            <a:off x="8024662" y="4299608"/>
            <a:ext cx="2451418" cy="431799"/>
          </a:xfrm>
          <a:prstGeom prst="rect">
            <a:avLst/>
          </a:prstGeom>
        </p:spPr>
        <p:txBody>
          <a:bodyPr lIns="0" tIns="0" rIns="0" bIns="0" rtlCol="0" anchor="t">
            <a:spAutoFit/>
          </a:bodyPr>
          <a:lstStyle/>
          <a:p>
            <a:pPr algn="ctr">
              <a:lnSpc>
                <a:spcPts val="3500"/>
              </a:lnSpc>
            </a:pPr>
            <a:r>
              <a:rPr lang="en-US" sz="2500">
                <a:solidFill>
                  <a:srgbClr val="FFFFFF"/>
                </a:solidFill>
                <a:latin typeface="Times Neue Roman"/>
              </a:rPr>
              <a:t>Execution Time (s)</a:t>
            </a:r>
          </a:p>
        </p:txBody>
      </p:sp>
      <p:sp>
        <p:nvSpPr>
          <p:cNvPr id="16" name="TextBox 16"/>
          <p:cNvSpPr txBox="1"/>
          <p:nvPr/>
        </p:nvSpPr>
        <p:spPr>
          <a:xfrm>
            <a:off x="8192423" y="7938895"/>
            <a:ext cx="2451418" cy="431799"/>
          </a:xfrm>
          <a:prstGeom prst="rect">
            <a:avLst/>
          </a:prstGeom>
        </p:spPr>
        <p:txBody>
          <a:bodyPr lIns="0" tIns="0" rIns="0" bIns="0" rtlCol="0" anchor="t">
            <a:spAutoFit/>
          </a:bodyPr>
          <a:lstStyle/>
          <a:p>
            <a:pPr algn="ctr">
              <a:lnSpc>
                <a:spcPts val="3500"/>
              </a:lnSpc>
            </a:pPr>
            <a:r>
              <a:rPr lang="en-US" sz="2500">
                <a:solidFill>
                  <a:srgbClr val="FFFFFF"/>
                </a:solidFill>
                <a:latin typeface="Times Neue Roman"/>
              </a:rPr>
              <a:t>Execution Time (s)</a:t>
            </a:r>
          </a:p>
        </p:txBody>
      </p:sp>
      <p:sp>
        <p:nvSpPr>
          <p:cNvPr id="17" name="TextBox 13">
            <a:extLst>
              <a:ext uri="{FF2B5EF4-FFF2-40B4-BE49-F238E27FC236}">
                <a16:creationId xmlns:a16="http://schemas.microsoft.com/office/drawing/2014/main" id="{24851E6F-17A0-F430-D192-FE5D92CE7FA3}"/>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1" name="TextBox 11"/>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35</a:t>
            </a:r>
          </a:p>
        </p:txBody>
      </p:sp>
      <p:sp>
        <p:nvSpPr>
          <p:cNvPr id="13" name="TextBox 13"/>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a:rPr>
              <a:t>CPU Utilization</a:t>
            </a:r>
          </a:p>
        </p:txBody>
      </p:sp>
      <p:sp>
        <p:nvSpPr>
          <p:cNvPr id="14" name="TextBox 14"/>
          <p:cNvSpPr txBox="1"/>
          <p:nvPr/>
        </p:nvSpPr>
        <p:spPr>
          <a:xfrm>
            <a:off x="8023066" y="4985753"/>
            <a:ext cx="2451418" cy="431799"/>
          </a:xfrm>
          <a:prstGeom prst="rect">
            <a:avLst/>
          </a:prstGeom>
        </p:spPr>
        <p:txBody>
          <a:bodyPr lIns="0" tIns="0" rIns="0" bIns="0" rtlCol="0" anchor="t">
            <a:spAutoFit/>
          </a:bodyPr>
          <a:lstStyle/>
          <a:p>
            <a:pPr algn="ctr">
              <a:lnSpc>
                <a:spcPts val="3500"/>
              </a:lnSpc>
            </a:pPr>
            <a:r>
              <a:rPr lang="en-US" sz="2500">
                <a:solidFill>
                  <a:srgbClr val="FFFFFF"/>
                </a:solidFill>
                <a:latin typeface="Times Neue Roman"/>
              </a:rPr>
              <a:t>Execution Time (s)</a:t>
            </a:r>
          </a:p>
        </p:txBody>
      </p:sp>
      <p:sp>
        <p:nvSpPr>
          <p:cNvPr id="15" name="TextBox 15"/>
          <p:cNvSpPr txBox="1"/>
          <p:nvPr/>
        </p:nvSpPr>
        <p:spPr>
          <a:xfrm>
            <a:off x="8192423" y="7938895"/>
            <a:ext cx="2451418" cy="431799"/>
          </a:xfrm>
          <a:prstGeom prst="rect">
            <a:avLst/>
          </a:prstGeom>
        </p:spPr>
        <p:txBody>
          <a:bodyPr lIns="0" tIns="0" rIns="0" bIns="0" rtlCol="0" anchor="t">
            <a:spAutoFit/>
          </a:bodyPr>
          <a:lstStyle/>
          <a:p>
            <a:pPr algn="ctr">
              <a:lnSpc>
                <a:spcPts val="3500"/>
              </a:lnSpc>
            </a:pPr>
            <a:r>
              <a:rPr lang="en-US" sz="2500">
                <a:solidFill>
                  <a:srgbClr val="FFFFFF"/>
                </a:solidFill>
                <a:latin typeface="Times Neue Roman"/>
              </a:rPr>
              <a:t>Execution Time (s)</a:t>
            </a:r>
          </a:p>
        </p:txBody>
      </p:sp>
      <p:sp>
        <p:nvSpPr>
          <p:cNvPr id="16" name="TextBox 13">
            <a:extLst>
              <a:ext uri="{FF2B5EF4-FFF2-40B4-BE49-F238E27FC236}">
                <a16:creationId xmlns:a16="http://schemas.microsoft.com/office/drawing/2014/main" id="{45E0B932-F783-580A-32C5-E8501BCEBA1B}"/>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pic>
        <p:nvPicPr>
          <p:cNvPr id="18" name="Picture 17">
            <a:extLst>
              <a:ext uri="{FF2B5EF4-FFF2-40B4-BE49-F238E27FC236}">
                <a16:creationId xmlns:a16="http://schemas.microsoft.com/office/drawing/2014/main" id="{3F1BCBE0-9754-1C72-5B87-522192B06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2421515"/>
            <a:ext cx="15087600" cy="336289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1028700" y="2343683"/>
            <a:ext cx="6429549" cy="5417490"/>
          </a:xfrm>
          <a:prstGeom prst="rect">
            <a:avLst/>
          </a:prstGeom>
        </p:spPr>
      </p:pic>
      <p:pic>
        <p:nvPicPr>
          <p:cNvPr id="11" name="Picture 11"/>
          <p:cNvPicPr>
            <a:picLocks noChangeAspect="1"/>
          </p:cNvPicPr>
          <p:nvPr/>
        </p:nvPicPr>
        <p:blipFill>
          <a:blip r:embed="rId3"/>
          <a:srcRect/>
          <a:stretch>
            <a:fillRect/>
          </a:stretch>
        </p:blipFill>
        <p:spPr>
          <a:xfrm>
            <a:off x="10476079" y="2157113"/>
            <a:ext cx="6082093" cy="5972775"/>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36</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a:rPr>
              <a:t>CPU Utilization</a:t>
            </a:r>
          </a:p>
        </p:txBody>
      </p:sp>
      <p:sp>
        <p:nvSpPr>
          <p:cNvPr id="15" name="TextBox 15"/>
          <p:cNvSpPr txBox="1"/>
          <p:nvPr/>
        </p:nvSpPr>
        <p:spPr>
          <a:xfrm>
            <a:off x="8024662" y="4299608"/>
            <a:ext cx="2451418" cy="431799"/>
          </a:xfrm>
          <a:prstGeom prst="rect">
            <a:avLst/>
          </a:prstGeom>
        </p:spPr>
        <p:txBody>
          <a:bodyPr lIns="0" tIns="0" rIns="0" bIns="0" rtlCol="0" anchor="t">
            <a:spAutoFit/>
          </a:bodyPr>
          <a:lstStyle/>
          <a:p>
            <a:pPr algn="ctr">
              <a:lnSpc>
                <a:spcPts val="3500"/>
              </a:lnSpc>
            </a:pPr>
            <a:r>
              <a:rPr lang="en-US" sz="2500">
                <a:solidFill>
                  <a:srgbClr val="FFFFFF"/>
                </a:solidFill>
                <a:latin typeface="Times Neue Roman"/>
              </a:rPr>
              <a:t>Execution Time (s)</a:t>
            </a:r>
          </a:p>
        </p:txBody>
      </p:sp>
      <p:sp>
        <p:nvSpPr>
          <p:cNvPr id="16" name="TextBox 13">
            <a:extLst>
              <a:ext uri="{FF2B5EF4-FFF2-40B4-BE49-F238E27FC236}">
                <a16:creationId xmlns:a16="http://schemas.microsoft.com/office/drawing/2014/main" id="{D2DA6509-9983-503A-74E8-5103DA4C973B}"/>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
        <p:nvSpPr>
          <p:cNvPr id="13" name="Rectangle 12">
            <a:extLst>
              <a:ext uri="{FF2B5EF4-FFF2-40B4-BE49-F238E27FC236}">
                <a16:creationId xmlns:a16="http://schemas.microsoft.com/office/drawing/2014/main" id="{0010C6BA-8943-78F1-1799-1FAEAB3B833E}"/>
              </a:ext>
            </a:extLst>
          </p:cNvPr>
          <p:cNvSpPr/>
          <p:nvPr/>
        </p:nvSpPr>
        <p:spPr>
          <a:xfrm>
            <a:off x="6324600" y="5155248"/>
            <a:ext cx="5334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85000"/>
                    <a:lumOff val="15000"/>
                  </a:schemeClr>
                </a:solidFill>
                <a:latin typeface="Times Neue Roman" panose="020B0604020202020204" charset="0"/>
              </a:rPr>
              <a:t>21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1028700" y="2346293"/>
            <a:ext cx="6458841" cy="5412270"/>
          </a:xfrm>
          <a:prstGeom prst="rect">
            <a:avLst/>
          </a:prstGeom>
        </p:spPr>
      </p:pic>
      <p:pic>
        <p:nvPicPr>
          <p:cNvPr id="11" name="Picture 11"/>
          <p:cNvPicPr>
            <a:picLocks noChangeAspect="1"/>
          </p:cNvPicPr>
          <p:nvPr/>
        </p:nvPicPr>
        <p:blipFill>
          <a:blip r:embed="rId3"/>
          <a:srcRect/>
          <a:stretch>
            <a:fillRect/>
          </a:stretch>
        </p:blipFill>
        <p:spPr>
          <a:xfrm>
            <a:off x="8249541" y="2346293"/>
            <a:ext cx="9075270" cy="5412270"/>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37</a:t>
            </a:r>
          </a:p>
        </p:txBody>
      </p:sp>
      <p:sp>
        <p:nvSpPr>
          <p:cNvPr id="13" name="TextBox 13"/>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a:rPr>
              <a:t>CPU Utilization</a:t>
            </a:r>
          </a:p>
        </p:txBody>
      </p:sp>
      <p:sp>
        <p:nvSpPr>
          <p:cNvPr id="15" name="TextBox 15"/>
          <p:cNvSpPr txBox="1"/>
          <p:nvPr/>
        </p:nvSpPr>
        <p:spPr>
          <a:xfrm>
            <a:off x="8024662" y="4299608"/>
            <a:ext cx="2451418" cy="431799"/>
          </a:xfrm>
          <a:prstGeom prst="rect">
            <a:avLst/>
          </a:prstGeom>
        </p:spPr>
        <p:txBody>
          <a:bodyPr lIns="0" tIns="0" rIns="0" bIns="0" rtlCol="0" anchor="t">
            <a:spAutoFit/>
          </a:bodyPr>
          <a:lstStyle/>
          <a:p>
            <a:pPr algn="ctr">
              <a:lnSpc>
                <a:spcPts val="3500"/>
              </a:lnSpc>
            </a:pPr>
            <a:r>
              <a:rPr lang="en-US" sz="2500">
                <a:solidFill>
                  <a:srgbClr val="FFFFFF"/>
                </a:solidFill>
                <a:latin typeface="Times Neue Roman"/>
              </a:rPr>
              <a:t>Execution Time (s)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pic>
        <p:nvPicPr>
          <p:cNvPr id="10" name="Picture 10"/>
          <p:cNvPicPr>
            <a:picLocks noChangeAspect="1"/>
          </p:cNvPicPr>
          <p:nvPr/>
        </p:nvPicPr>
        <p:blipFill>
          <a:blip r:embed="rId2"/>
          <a:srcRect/>
          <a:stretch>
            <a:fillRect/>
          </a:stretch>
        </p:blipFill>
        <p:spPr>
          <a:xfrm>
            <a:off x="2645839" y="4872468"/>
            <a:ext cx="12996322" cy="2614445"/>
          </a:xfrm>
          <a:prstGeom prst="rect">
            <a:avLst/>
          </a:prstGeom>
        </p:spPr>
      </p:pic>
      <p:pic>
        <p:nvPicPr>
          <p:cNvPr id="11" name="Picture 11"/>
          <p:cNvPicPr>
            <a:picLocks noChangeAspect="1"/>
          </p:cNvPicPr>
          <p:nvPr/>
        </p:nvPicPr>
        <p:blipFill>
          <a:blip r:embed="rId3"/>
          <a:srcRect/>
          <a:stretch>
            <a:fillRect/>
          </a:stretch>
        </p:blipFill>
        <p:spPr>
          <a:xfrm>
            <a:off x="2696118" y="2204721"/>
            <a:ext cx="12946043" cy="1801636"/>
          </a:xfrm>
          <a:prstGeom prst="rect">
            <a:avLst/>
          </a:prstGeom>
        </p:spPr>
      </p:pic>
      <p:sp>
        <p:nvSpPr>
          <p:cNvPr id="12" name="TextBox 12"/>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38</a:t>
            </a:r>
          </a:p>
        </p:txBody>
      </p:sp>
      <p:sp>
        <p:nvSpPr>
          <p:cNvPr id="14" name="TextBox 14"/>
          <p:cNvSpPr txBox="1"/>
          <p:nvPr/>
        </p:nvSpPr>
        <p:spPr>
          <a:xfrm>
            <a:off x="1028700" y="971550"/>
            <a:ext cx="16230600" cy="537846"/>
          </a:xfrm>
          <a:prstGeom prst="rect">
            <a:avLst/>
          </a:prstGeom>
        </p:spPr>
        <p:txBody>
          <a:bodyPr lIns="0" tIns="0" rIns="0" bIns="0" rtlCol="0" anchor="t">
            <a:spAutoFit/>
          </a:bodyPr>
          <a:lstStyle/>
          <a:p>
            <a:pPr algn="just">
              <a:lnSpc>
                <a:spcPts val="4479"/>
              </a:lnSpc>
            </a:pPr>
            <a:r>
              <a:rPr lang="en-US" sz="3199">
                <a:solidFill>
                  <a:srgbClr val="000000"/>
                </a:solidFill>
                <a:latin typeface="Source Han Serif JP Bold Bold"/>
              </a:rPr>
              <a:t>Bottleneck and Problems</a:t>
            </a:r>
          </a:p>
        </p:txBody>
      </p:sp>
      <p:sp>
        <p:nvSpPr>
          <p:cNvPr id="15" name="TextBox 13">
            <a:extLst>
              <a:ext uri="{FF2B5EF4-FFF2-40B4-BE49-F238E27FC236}">
                <a16:creationId xmlns:a16="http://schemas.microsoft.com/office/drawing/2014/main" id="{189C6D85-6161-08BF-3808-347A646AD7A2}"/>
              </a:ext>
            </a:extLst>
          </p:cNvPr>
          <p:cNvSpPr txBox="1"/>
          <p:nvPr/>
        </p:nvSpPr>
        <p:spPr>
          <a:xfrm>
            <a:off x="13683093" y="9323705"/>
            <a:ext cx="4325894" cy="760016"/>
          </a:xfrm>
          <a:prstGeom prst="rect">
            <a:avLst/>
          </a:prstGeom>
        </p:spPr>
        <p:txBody>
          <a:bodyPr lIns="0" tIns="0" rIns="0" bIns="0" rtlCol="0" anchor="t">
            <a:spAutoFit/>
          </a:bodyPr>
          <a:lstStyle/>
          <a:p>
            <a:pPr>
              <a:lnSpc>
                <a:spcPts val="2870"/>
              </a:lnSpc>
            </a:pPr>
            <a:r>
              <a:rPr lang="en-US" sz="3299" dirty="0">
                <a:solidFill>
                  <a:srgbClr val="FFFFFF"/>
                </a:solidFill>
                <a:latin typeface="Open Sans Light Bold"/>
              </a:rPr>
              <a:t>06. Results and Discussion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400000">
            <a:off x="-4590709" y="5138742"/>
            <a:ext cx="9695769" cy="0"/>
          </a:xfrm>
          <a:prstGeom prst="line">
            <a:avLst/>
          </a:prstGeom>
          <a:ln w="38100" cap="flat">
            <a:solidFill>
              <a:srgbClr val="22466B"/>
            </a:solidFill>
            <a:prstDash val="solid"/>
            <a:headEnd type="none" w="sm" len="sm"/>
            <a:tailEnd type="none" w="sm" len="sm"/>
          </a:ln>
        </p:spPr>
      </p:sp>
      <p:sp>
        <p:nvSpPr>
          <p:cNvPr id="3" name="AutoShape 3"/>
          <p:cNvSpPr/>
          <p:nvPr/>
        </p:nvSpPr>
        <p:spPr>
          <a:xfrm rot="-10800000">
            <a:off x="257175" y="290857"/>
            <a:ext cx="17782493" cy="0"/>
          </a:xfrm>
          <a:prstGeom prst="line">
            <a:avLst/>
          </a:prstGeom>
          <a:ln w="38100" cap="flat">
            <a:solidFill>
              <a:srgbClr val="000000"/>
            </a:solidFill>
            <a:prstDash val="solid"/>
            <a:headEnd type="none" w="sm" len="sm"/>
            <a:tailEnd type="none" w="sm" len="sm"/>
          </a:ln>
        </p:spPr>
      </p:sp>
      <p:sp>
        <p:nvSpPr>
          <p:cNvPr id="4" name="AutoShape 4"/>
          <p:cNvSpPr/>
          <p:nvPr/>
        </p:nvSpPr>
        <p:spPr>
          <a:xfrm rot="-10800000">
            <a:off x="257175" y="10005676"/>
            <a:ext cx="17687243" cy="0"/>
          </a:xfrm>
          <a:prstGeom prst="line">
            <a:avLst/>
          </a:prstGeom>
          <a:ln w="38100" cap="flat">
            <a:solidFill>
              <a:srgbClr val="000000"/>
            </a:solidFill>
            <a:prstDash val="solid"/>
            <a:headEnd type="none" w="sm" len="sm"/>
            <a:tailEnd type="none" w="sm" len="sm"/>
          </a:ln>
        </p:spPr>
      </p:sp>
      <p:sp>
        <p:nvSpPr>
          <p:cNvPr id="5" name="AutoShape 5"/>
          <p:cNvSpPr/>
          <p:nvPr/>
        </p:nvSpPr>
        <p:spPr>
          <a:xfrm rot="5400000">
            <a:off x="13032072" y="5298454"/>
            <a:ext cx="9977093" cy="0"/>
          </a:xfrm>
          <a:prstGeom prst="line">
            <a:avLst/>
          </a:prstGeom>
          <a:ln w="38100" cap="flat">
            <a:solidFill>
              <a:srgbClr val="22466B"/>
            </a:solidFill>
            <a:prstDash val="solid"/>
            <a:headEnd type="none" w="sm" len="sm"/>
            <a:tailEnd type="none" w="sm" len="sm"/>
          </a:ln>
        </p:spPr>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363603" y="5670805"/>
            <a:ext cx="5644895" cy="5644895"/>
          </a:xfrm>
          <a:prstGeom prst="rect">
            <a:avLst/>
          </a:prstGeom>
        </p:spPr>
      </p:pic>
      <p:sp>
        <p:nvSpPr>
          <p:cNvPr id="7" name="TextBox 7"/>
          <p:cNvSpPr txBox="1"/>
          <p:nvPr/>
        </p:nvSpPr>
        <p:spPr>
          <a:xfrm>
            <a:off x="1028700" y="1350402"/>
            <a:ext cx="15238548" cy="1675141"/>
          </a:xfrm>
          <a:prstGeom prst="rect">
            <a:avLst/>
          </a:prstGeom>
        </p:spPr>
        <p:txBody>
          <a:bodyPr lIns="0" tIns="0" rIns="0" bIns="0" rtlCol="0" anchor="t">
            <a:spAutoFit/>
          </a:bodyPr>
          <a:lstStyle/>
          <a:p>
            <a:pPr>
              <a:lnSpc>
                <a:spcPts val="13719"/>
              </a:lnSpc>
              <a:spcBef>
                <a:spcPct val="0"/>
              </a:spcBef>
            </a:pPr>
            <a:r>
              <a:rPr lang="en-US" sz="9799">
                <a:solidFill>
                  <a:srgbClr val="22466B"/>
                </a:solidFill>
                <a:latin typeface="Source Han Serif JP Bold"/>
              </a:rPr>
              <a:t>Conclusion</a:t>
            </a: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1614405" y="7464553"/>
            <a:ext cx="5644895" cy="56448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40</a:t>
            </a:r>
          </a:p>
        </p:txBody>
      </p:sp>
      <p:sp>
        <p:nvSpPr>
          <p:cNvPr id="12" name="TextBox 12"/>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a:rPr>
              <a:t>Conclusion</a:t>
            </a:r>
          </a:p>
        </p:txBody>
      </p:sp>
      <p:sp>
        <p:nvSpPr>
          <p:cNvPr id="13" name="TextBox 13"/>
          <p:cNvSpPr txBox="1"/>
          <p:nvPr/>
        </p:nvSpPr>
        <p:spPr>
          <a:xfrm>
            <a:off x="1072017" y="2092808"/>
            <a:ext cx="15877954" cy="3235960"/>
          </a:xfrm>
          <a:prstGeom prst="rect">
            <a:avLst/>
          </a:prstGeom>
        </p:spPr>
        <p:txBody>
          <a:bodyPr lIns="0" tIns="0" rIns="0" bIns="0" rtlCol="0" anchor="t">
            <a:spAutoFit/>
          </a:bodyPr>
          <a:lstStyle/>
          <a:p>
            <a:pPr algn="just">
              <a:lnSpc>
                <a:spcPts val="4340"/>
              </a:lnSpc>
            </a:pPr>
            <a:r>
              <a:rPr lang="en-US" sz="3100" dirty="0">
                <a:solidFill>
                  <a:srgbClr val="000000"/>
                </a:solidFill>
                <a:latin typeface="Times Neue Roman"/>
              </a:rPr>
              <a:t>The project aimed to implement the Sneaky Snake algorithm on the CPU. The implemented algorithm worked accurately, achieving results that coincided with the previously tested algorithm’s results. The algorithm’s performance was analyzed to conclude that with increasing cores, the algorithm performed better for most data sets. The results indicated that a multi-threaded approach towards the implementation was superior to single-threaded implementation unless the multi-threading overhead cost exceeded the speed provided by it.</a:t>
            </a:r>
          </a:p>
        </p:txBody>
      </p:sp>
      <p:sp>
        <p:nvSpPr>
          <p:cNvPr id="14" name="TextBox 14"/>
          <p:cNvSpPr txBox="1"/>
          <p:nvPr/>
        </p:nvSpPr>
        <p:spPr>
          <a:xfrm>
            <a:off x="1028700" y="5595060"/>
            <a:ext cx="3796311" cy="695962"/>
          </a:xfrm>
          <a:prstGeom prst="rect">
            <a:avLst/>
          </a:prstGeom>
        </p:spPr>
        <p:txBody>
          <a:bodyPr lIns="0" tIns="0" rIns="0" bIns="0" rtlCol="0" anchor="t">
            <a:spAutoFit/>
          </a:bodyPr>
          <a:lstStyle/>
          <a:p>
            <a:pPr algn="just">
              <a:lnSpc>
                <a:spcPts val="5739"/>
              </a:lnSpc>
            </a:pPr>
            <a:r>
              <a:rPr lang="en-US" sz="4099">
                <a:solidFill>
                  <a:srgbClr val="000000"/>
                </a:solidFill>
                <a:latin typeface="Source Han Serif JP Bold"/>
              </a:rPr>
              <a:t>Future work </a:t>
            </a:r>
          </a:p>
        </p:txBody>
      </p:sp>
      <p:sp>
        <p:nvSpPr>
          <p:cNvPr id="15" name="TextBox 15"/>
          <p:cNvSpPr txBox="1"/>
          <p:nvPr/>
        </p:nvSpPr>
        <p:spPr>
          <a:xfrm>
            <a:off x="1072017" y="6414071"/>
            <a:ext cx="15877954" cy="2159635"/>
          </a:xfrm>
          <a:prstGeom prst="rect">
            <a:avLst/>
          </a:prstGeom>
        </p:spPr>
        <p:txBody>
          <a:bodyPr lIns="0" tIns="0" rIns="0" bIns="0" rtlCol="0" anchor="t">
            <a:spAutoFit/>
          </a:bodyPr>
          <a:lstStyle/>
          <a:p>
            <a:pPr marL="669291" lvl="1" indent="-334646" algn="just">
              <a:lnSpc>
                <a:spcPts val="4340"/>
              </a:lnSpc>
              <a:buFont typeface="Arial"/>
              <a:buChar char="•"/>
            </a:pPr>
            <a:r>
              <a:rPr lang="en-US" sz="3100" dirty="0">
                <a:solidFill>
                  <a:srgbClr val="000000"/>
                </a:solidFill>
                <a:latin typeface="Times Neue Roman"/>
              </a:rPr>
              <a:t>Sneaky Snake algorithm can be moved onto other processing hardware such as FPGAs and GPU</a:t>
            </a:r>
          </a:p>
          <a:p>
            <a:pPr marL="669291" lvl="1" indent="-334646" algn="just">
              <a:lnSpc>
                <a:spcPts val="4340"/>
              </a:lnSpc>
              <a:buFont typeface="Arial"/>
              <a:buChar char="•"/>
            </a:pPr>
            <a:r>
              <a:rPr lang="en-US" sz="3100" dirty="0">
                <a:solidFill>
                  <a:srgbClr val="000000"/>
                </a:solidFill>
                <a:latin typeface="Times Neue Roman"/>
              </a:rPr>
              <a:t>Moving the implementation onto cloud computing platforms can optimize the speed and resource utilization much better due to the availability of better resources and support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6317186" y="2455409"/>
            <a:ext cx="1028700" cy="14634482"/>
            <a:chOff x="0" y="0"/>
            <a:chExt cx="270933" cy="3854349"/>
          </a:xfrm>
        </p:grpSpPr>
        <p:sp>
          <p:nvSpPr>
            <p:cNvPr id="3" name="Freeform 3"/>
            <p:cNvSpPr/>
            <p:nvPr/>
          </p:nvSpPr>
          <p:spPr>
            <a:xfrm>
              <a:off x="0" y="0"/>
              <a:ext cx="270933" cy="3854349"/>
            </a:xfrm>
            <a:custGeom>
              <a:avLst/>
              <a:gdLst/>
              <a:ahLst/>
              <a:cxnLst/>
              <a:rect l="l" t="t" r="r" b="b"/>
              <a:pathLst>
                <a:path w="270933" h="3854349">
                  <a:moveTo>
                    <a:pt x="0" y="0"/>
                  </a:moveTo>
                  <a:lnTo>
                    <a:pt x="270933" y="0"/>
                  </a:lnTo>
                  <a:lnTo>
                    <a:pt x="270933" y="3854349"/>
                  </a:lnTo>
                  <a:lnTo>
                    <a:pt x="0" y="3854349"/>
                  </a:lnTo>
                  <a:close/>
                </a:path>
              </a:pathLst>
            </a:custGeom>
            <a:solidFill>
              <a:srgbClr val="22466B"/>
            </a:solidFill>
          </p:spPr>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950597" y="8975148"/>
            <a:ext cx="6633302" cy="1311852"/>
            <a:chOff x="0" y="0"/>
            <a:chExt cx="1747042" cy="345508"/>
          </a:xfrm>
        </p:grpSpPr>
        <p:sp>
          <p:nvSpPr>
            <p:cNvPr id="6" name="Freeform 6"/>
            <p:cNvSpPr/>
            <p:nvPr/>
          </p:nvSpPr>
          <p:spPr>
            <a:xfrm>
              <a:off x="0" y="0"/>
              <a:ext cx="1747042" cy="345508"/>
            </a:xfrm>
            <a:custGeom>
              <a:avLst/>
              <a:gdLst/>
              <a:ahLst/>
              <a:cxnLst/>
              <a:rect l="l" t="t" r="r" b="b"/>
              <a:pathLst>
                <a:path w="1747042" h="345508">
                  <a:moveTo>
                    <a:pt x="0" y="0"/>
                  </a:moveTo>
                  <a:lnTo>
                    <a:pt x="1747042" y="0"/>
                  </a:lnTo>
                  <a:lnTo>
                    <a:pt x="1747042" y="345508"/>
                  </a:lnTo>
                  <a:lnTo>
                    <a:pt x="0" y="345508"/>
                  </a:lnTo>
                  <a:close/>
                </a:path>
              </a:pathLst>
            </a:custGeom>
            <a:solidFill>
              <a:srgbClr val="CD9461"/>
            </a:solidFill>
          </p:spPr>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rot="5400000">
            <a:off x="-4494870" y="5033378"/>
            <a:ext cx="9485041" cy="0"/>
          </a:xfrm>
          <a:prstGeom prst="line">
            <a:avLst/>
          </a:prstGeom>
          <a:ln w="38100" cap="flat">
            <a:solidFill>
              <a:srgbClr val="22466B"/>
            </a:solidFill>
            <a:prstDash val="solid"/>
            <a:headEnd type="none" w="sm" len="sm"/>
            <a:tailEnd type="none" w="sm" len="sm"/>
          </a:ln>
        </p:spPr>
      </p:sp>
      <p:sp>
        <p:nvSpPr>
          <p:cNvPr id="9" name="AutoShape 9"/>
          <p:cNvSpPr/>
          <p:nvPr/>
        </p:nvSpPr>
        <p:spPr>
          <a:xfrm rot="-10800000">
            <a:off x="257175" y="290857"/>
            <a:ext cx="7209905"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7733872" y="113338"/>
            <a:ext cx="10490600" cy="396262"/>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Garet Bold"/>
              </a:rPr>
              <a:t>PAKISTAN INSTITUTE OF ENGINEERING AND APPLIED SCIENCES | 41</a:t>
            </a:r>
          </a:p>
        </p:txBody>
      </p:sp>
      <p:sp>
        <p:nvSpPr>
          <p:cNvPr id="11" name="TextBox 11"/>
          <p:cNvSpPr txBox="1"/>
          <p:nvPr/>
        </p:nvSpPr>
        <p:spPr>
          <a:xfrm>
            <a:off x="13683093" y="9323705"/>
            <a:ext cx="4325894" cy="757426"/>
          </a:xfrm>
          <a:prstGeom prst="rect">
            <a:avLst/>
          </a:prstGeom>
        </p:spPr>
        <p:txBody>
          <a:bodyPr lIns="0" tIns="0" rIns="0" bIns="0" rtlCol="0" anchor="t">
            <a:spAutoFit/>
          </a:bodyPr>
          <a:lstStyle/>
          <a:p>
            <a:pPr>
              <a:lnSpc>
                <a:spcPts val="2870"/>
              </a:lnSpc>
            </a:pPr>
            <a:r>
              <a:rPr lang="en-US" sz="3299">
                <a:solidFill>
                  <a:srgbClr val="FFFFFF"/>
                </a:solidFill>
                <a:latin typeface="Open Sans Light Bold"/>
              </a:rPr>
              <a:t>03. Background &amp; Theory</a:t>
            </a:r>
          </a:p>
        </p:txBody>
      </p:sp>
      <p:sp>
        <p:nvSpPr>
          <p:cNvPr id="12" name="TextBox 12"/>
          <p:cNvSpPr txBox="1"/>
          <p:nvPr/>
        </p:nvSpPr>
        <p:spPr>
          <a:xfrm>
            <a:off x="1028700" y="952500"/>
            <a:ext cx="16230600" cy="695962"/>
          </a:xfrm>
          <a:prstGeom prst="rect">
            <a:avLst/>
          </a:prstGeom>
        </p:spPr>
        <p:txBody>
          <a:bodyPr lIns="0" tIns="0" rIns="0" bIns="0" rtlCol="0" anchor="t">
            <a:spAutoFit/>
          </a:bodyPr>
          <a:lstStyle/>
          <a:p>
            <a:pPr algn="just">
              <a:lnSpc>
                <a:spcPts val="5739"/>
              </a:lnSpc>
            </a:pPr>
            <a:r>
              <a:rPr lang="en-US" sz="4099" dirty="0">
                <a:solidFill>
                  <a:srgbClr val="000000"/>
                </a:solidFill>
                <a:latin typeface="Source Han Serif JP Bold Bold"/>
              </a:rPr>
              <a:t>Future Project Timeline</a:t>
            </a:r>
          </a:p>
        </p:txBody>
      </p:sp>
      <p:grpSp>
        <p:nvGrpSpPr>
          <p:cNvPr id="13" name="Group 13"/>
          <p:cNvGrpSpPr/>
          <p:nvPr/>
        </p:nvGrpSpPr>
        <p:grpSpPr>
          <a:xfrm>
            <a:off x="1365306" y="2769236"/>
            <a:ext cx="15557387" cy="4756506"/>
            <a:chOff x="0" y="-57149"/>
            <a:chExt cx="20743183" cy="6342009"/>
          </a:xfrm>
        </p:grpSpPr>
        <p:sp>
          <p:nvSpPr>
            <p:cNvPr id="14" name="AutoShape 14"/>
            <p:cNvSpPr/>
            <p:nvPr/>
          </p:nvSpPr>
          <p:spPr>
            <a:xfrm>
              <a:off x="5724691" y="1322493"/>
              <a:ext cx="2012424" cy="0"/>
            </a:xfrm>
            <a:prstGeom prst="line">
              <a:avLst/>
            </a:prstGeom>
            <a:ln w="50800" cap="flat">
              <a:solidFill>
                <a:srgbClr val="22466B"/>
              </a:solidFill>
              <a:prstDash val="solid"/>
              <a:headEnd type="none" w="sm" len="sm"/>
              <a:tailEnd type="triangle" w="lg" len="med"/>
            </a:ln>
          </p:spPr>
        </p:sp>
        <p:sp>
          <p:nvSpPr>
            <p:cNvPr id="15" name="TextBox 15"/>
            <p:cNvSpPr txBox="1"/>
            <p:nvPr/>
          </p:nvSpPr>
          <p:spPr>
            <a:xfrm>
              <a:off x="8209953" y="336550"/>
              <a:ext cx="5220895" cy="2016336"/>
            </a:xfrm>
            <a:prstGeom prst="rect">
              <a:avLst/>
            </a:prstGeom>
          </p:spPr>
          <p:txBody>
            <a:bodyPr lIns="0" tIns="0" rIns="0" bIns="0" rtlCol="0" anchor="t">
              <a:spAutoFit/>
            </a:bodyPr>
            <a:lstStyle/>
            <a:p>
              <a:pPr>
                <a:lnSpc>
                  <a:spcPts val="4060"/>
                </a:lnSpc>
              </a:pPr>
              <a:r>
                <a:rPr lang="en-US" sz="2900" dirty="0">
                  <a:solidFill>
                    <a:srgbClr val="000000"/>
                  </a:solidFill>
                  <a:latin typeface="Times Neue Roman"/>
                </a:rPr>
                <a:t>2. Cloud based CPU Implementation and Analysis</a:t>
              </a:r>
            </a:p>
          </p:txBody>
        </p:sp>
        <p:sp>
          <p:nvSpPr>
            <p:cNvPr id="16" name="AutoShape 16"/>
            <p:cNvSpPr/>
            <p:nvPr/>
          </p:nvSpPr>
          <p:spPr>
            <a:xfrm>
              <a:off x="13001865" y="1322493"/>
              <a:ext cx="2012424" cy="0"/>
            </a:xfrm>
            <a:prstGeom prst="line">
              <a:avLst/>
            </a:prstGeom>
            <a:ln w="50800" cap="flat">
              <a:solidFill>
                <a:srgbClr val="22466B"/>
              </a:solidFill>
              <a:prstDash val="solid"/>
              <a:headEnd type="none" w="sm" len="sm"/>
              <a:tailEnd type="triangle" w="lg" len="med"/>
            </a:ln>
          </p:spPr>
        </p:sp>
        <p:sp>
          <p:nvSpPr>
            <p:cNvPr id="17" name="TextBox 17"/>
            <p:cNvSpPr txBox="1"/>
            <p:nvPr/>
          </p:nvSpPr>
          <p:spPr>
            <a:xfrm>
              <a:off x="0" y="-57149"/>
              <a:ext cx="5220895" cy="3455134"/>
            </a:xfrm>
            <a:prstGeom prst="rect">
              <a:avLst/>
            </a:prstGeom>
          </p:spPr>
          <p:txBody>
            <a:bodyPr lIns="0" tIns="0" rIns="0" bIns="0" rtlCol="0" anchor="t">
              <a:spAutoFit/>
            </a:bodyPr>
            <a:lstStyle/>
            <a:p>
              <a:pPr marL="313056" lvl="1">
                <a:lnSpc>
                  <a:spcPts val="4060"/>
                </a:lnSpc>
              </a:pPr>
              <a:r>
                <a:rPr lang="en-US" sz="2900" dirty="0">
                  <a:solidFill>
                    <a:srgbClr val="000000"/>
                  </a:solidFill>
                  <a:latin typeface="Times Neue Roman"/>
                </a:rPr>
                <a:t>1. Testing the CPU implementation for more data and finding optimal performing conditions</a:t>
              </a:r>
            </a:p>
          </p:txBody>
        </p:sp>
        <p:sp>
          <p:nvSpPr>
            <p:cNvPr id="18" name="TextBox 18"/>
            <p:cNvSpPr txBox="1"/>
            <p:nvPr/>
          </p:nvSpPr>
          <p:spPr>
            <a:xfrm>
              <a:off x="15522288" y="285750"/>
              <a:ext cx="5220895" cy="2016336"/>
            </a:xfrm>
            <a:prstGeom prst="rect">
              <a:avLst/>
            </a:prstGeom>
          </p:spPr>
          <p:txBody>
            <a:bodyPr lIns="0" tIns="0" rIns="0" bIns="0" rtlCol="0" anchor="t">
              <a:spAutoFit/>
            </a:bodyPr>
            <a:lstStyle/>
            <a:p>
              <a:pPr>
                <a:lnSpc>
                  <a:spcPts val="4060"/>
                </a:lnSpc>
              </a:pPr>
              <a:r>
                <a:rPr lang="en-US" sz="2900">
                  <a:solidFill>
                    <a:srgbClr val="000000"/>
                  </a:solidFill>
                  <a:latin typeface="Times Neue Roman"/>
                </a:rPr>
                <a:t>3.Implementation on Xilinx Virtex 7 vc707 FPGA</a:t>
              </a:r>
            </a:p>
          </p:txBody>
        </p:sp>
        <p:sp>
          <p:nvSpPr>
            <p:cNvPr id="19" name="AutoShape 19"/>
            <p:cNvSpPr/>
            <p:nvPr/>
          </p:nvSpPr>
          <p:spPr>
            <a:xfrm>
              <a:off x="5724691" y="5237479"/>
              <a:ext cx="2012424" cy="0"/>
            </a:xfrm>
            <a:prstGeom prst="line">
              <a:avLst/>
            </a:prstGeom>
            <a:ln w="50800" cap="flat">
              <a:solidFill>
                <a:srgbClr val="22466B"/>
              </a:solidFill>
              <a:prstDash val="solid"/>
              <a:headEnd type="none" w="sm" len="sm"/>
              <a:tailEnd type="triangle" w="lg" len="med"/>
            </a:ln>
          </p:spPr>
        </p:sp>
        <p:sp>
          <p:nvSpPr>
            <p:cNvPr id="20" name="TextBox 20"/>
            <p:cNvSpPr txBox="1"/>
            <p:nvPr/>
          </p:nvSpPr>
          <p:spPr>
            <a:xfrm>
              <a:off x="503796" y="4200736"/>
              <a:ext cx="5220895" cy="2016336"/>
            </a:xfrm>
            <a:prstGeom prst="rect">
              <a:avLst/>
            </a:prstGeom>
          </p:spPr>
          <p:txBody>
            <a:bodyPr lIns="0" tIns="0" rIns="0" bIns="0" rtlCol="0" anchor="t">
              <a:spAutoFit/>
            </a:bodyPr>
            <a:lstStyle/>
            <a:p>
              <a:pPr>
                <a:lnSpc>
                  <a:spcPts val="4060"/>
                </a:lnSpc>
              </a:pPr>
              <a:r>
                <a:rPr lang="en-US" sz="2900">
                  <a:solidFill>
                    <a:srgbClr val="000000"/>
                  </a:solidFill>
                  <a:latin typeface="Times Neue Roman"/>
                </a:rPr>
                <a:t>4. Cloud Based FPGA Implementation and Analysis </a:t>
              </a:r>
            </a:p>
          </p:txBody>
        </p:sp>
        <p:sp>
          <p:nvSpPr>
            <p:cNvPr id="21" name="TextBox 21"/>
            <p:cNvSpPr txBox="1"/>
            <p:nvPr/>
          </p:nvSpPr>
          <p:spPr>
            <a:xfrm>
              <a:off x="8495889" y="3888920"/>
              <a:ext cx="3747201" cy="2016336"/>
            </a:xfrm>
            <a:prstGeom prst="rect">
              <a:avLst/>
            </a:prstGeom>
          </p:spPr>
          <p:txBody>
            <a:bodyPr lIns="0" tIns="0" rIns="0" bIns="0" rtlCol="0" anchor="t">
              <a:spAutoFit/>
            </a:bodyPr>
            <a:lstStyle/>
            <a:p>
              <a:pPr>
                <a:lnSpc>
                  <a:spcPts val="4060"/>
                </a:lnSpc>
              </a:pPr>
              <a:r>
                <a:rPr lang="en-US" sz="2900">
                  <a:solidFill>
                    <a:srgbClr val="000000"/>
                  </a:solidFill>
                  <a:latin typeface="Times Neue Roman"/>
                </a:rPr>
                <a:t>5. Cloud based implementation of Nvidia A100 GPU</a:t>
              </a:r>
            </a:p>
          </p:txBody>
        </p:sp>
        <p:sp>
          <p:nvSpPr>
            <p:cNvPr id="22" name="AutoShape 22"/>
            <p:cNvSpPr/>
            <p:nvPr/>
          </p:nvSpPr>
          <p:spPr>
            <a:xfrm>
              <a:off x="13001865" y="4925663"/>
              <a:ext cx="2012424" cy="0"/>
            </a:xfrm>
            <a:prstGeom prst="line">
              <a:avLst/>
            </a:prstGeom>
            <a:ln w="50800" cap="flat">
              <a:solidFill>
                <a:srgbClr val="22466B"/>
              </a:solidFill>
              <a:prstDash val="solid"/>
              <a:headEnd type="none" w="sm" len="sm"/>
              <a:tailEnd type="triangle" w="lg" len="med"/>
            </a:ln>
          </p:spPr>
        </p:sp>
        <p:sp>
          <p:nvSpPr>
            <p:cNvPr id="23" name="TextBox 23"/>
            <p:cNvSpPr txBox="1"/>
            <p:nvPr/>
          </p:nvSpPr>
          <p:spPr>
            <a:xfrm>
              <a:off x="15522288" y="4231820"/>
              <a:ext cx="4514749" cy="2053040"/>
            </a:xfrm>
            <a:prstGeom prst="rect">
              <a:avLst/>
            </a:prstGeom>
          </p:spPr>
          <p:txBody>
            <a:bodyPr lIns="0" tIns="0" rIns="0" bIns="0" rtlCol="0" anchor="t">
              <a:spAutoFit/>
            </a:bodyPr>
            <a:lstStyle/>
            <a:p>
              <a:pPr>
                <a:lnSpc>
                  <a:spcPts val="4060"/>
                </a:lnSpc>
              </a:pPr>
              <a:r>
                <a:rPr lang="en-US" sz="2900" dirty="0">
                  <a:solidFill>
                    <a:srgbClr val="000000"/>
                  </a:solidFill>
                  <a:latin typeface="Times Neue Roman"/>
                </a:rPr>
                <a:t>6. Development of Command Line Interface</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924300"/>
            <a:ext cx="8508788" cy="1231106"/>
          </a:xfrm>
          <a:prstGeom prst="rect">
            <a:avLst/>
          </a:prstGeom>
        </p:spPr>
        <p:txBody>
          <a:bodyPr lIns="0" tIns="0" rIns="0" bIns="0" rtlCol="0" anchor="t">
            <a:spAutoFit/>
          </a:bodyPr>
          <a:lstStyle/>
          <a:p>
            <a:pPr>
              <a:lnSpc>
                <a:spcPts val="9600"/>
              </a:lnSpc>
            </a:pPr>
            <a:r>
              <a:rPr lang="en-US" sz="8000" dirty="0">
                <a:solidFill>
                  <a:srgbClr val="22466B"/>
                </a:solidFill>
                <a:latin typeface="Source Han Serif JP Bold"/>
              </a:rPr>
              <a:t>Thank You</a:t>
            </a:r>
          </a:p>
        </p:txBody>
      </p:sp>
      <p:grpSp>
        <p:nvGrpSpPr>
          <p:cNvPr id="3" name="Group 3"/>
          <p:cNvGrpSpPr/>
          <p:nvPr/>
        </p:nvGrpSpPr>
        <p:grpSpPr>
          <a:xfrm>
            <a:off x="9144000" y="-430898"/>
            <a:ext cx="9529540" cy="5092685"/>
            <a:chOff x="0" y="0"/>
            <a:chExt cx="2509838" cy="1341283"/>
          </a:xfrm>
        </p:grpSpPr>
        <p:sp>
          <p:nvSpPr>
            <p:cNvPr id="4" name="Freeform 4"/>
            <p:cNvSpPr/>
            <p:nvPr/>
          </p:nvSpPr>
          <p:spPr>
            <a:xfrm>
              <a:off x="0" y="0"/>
              <a:ext cx="2509838" cy="1341283"/>
            </a:xfrm>
            <a:custGeom>
              <a:avLst/>
              <a:gdLst/>
              <a:ahLst/>
              <a:cxnLst/>
              <a:rect l="l" t="t" r="r" b="b"/>
              <a:pathLst>
                <a:path w="2509838" h="1341283">
                  <a:moveTo>
                    <a:pt x="0" y="0"/>
                  </a:moveTo>
                  <a:lnTo>
                    <a:pt x="2509838" y="0"/>
                  </a:lnTo>
                  <a:lnTo>
                    <a:pt x="2509838" y="1341283"/>
                  </a:lnTo>
                  <a:lnTo>
                    <a:pt x="0" y="1341283"/>
                  </a:lnTo>
                  <a:close/>
                </a:path>
              </a:pathLst>
            </a:custGeom>
            <a:solidFill>
              <a:srgbClr val="CD9461"/>
            </a:solidFill>
          </p:spPr>
        </p:sp>
        <p:sp>
          <p:nvSpPr>
            <p:cNvPr id="5" name="TextBox 5"/>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pic>
        <p:nvPicPr>
          <p:cNvPr id="6" name="Picture 6"/>
          <p:cNvPicPr>
            <a:picLocks noChangeAspect="1"/>
          </p:cNvPicPr>
          <p:nvPr/>
        </p:nvPicPr>
        <p:blipFill>
          <a:blip r:embed="rId2"/>
          <a:srcRect l="18716" r="18716"/>
          <a:stretch>
            <a:fillRect/>
          </a:stretch>
        </p:blipFill>
        <p:spPr>
          <a:xfrm>
            <a:off x="11526393" y="0"/>
            <a:ext cx="6761607" cy="63627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rtlCol="0" anchor="t">
        <a:spAutoFit/>
      </a:bodyPr>
      <a:lstStyle>
        <a:defPPr algn="just">
          <a:lnSpc>
            <a:spcPts val="3219"/>
          </a:lnSpc>
          <a:spcBef>
            <a:spcPct val="0"/>
          </a:spcBef>
          <a:defRPr sz="2299" dirty="0">
            <a:solidFill>
              <a:srgbClr val="000000"/>
            </a:solidFill>
            <a:latin typeface="Garet Bold"/>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TotalTime>
  <Words>2835</Words>
  <Application>Microsoft Office PowerPoint</Application>
  <PresentationFormat>Custom</PresentationFormat>
  <Paragraphs>523</Paragraphs>
  <Slides>42</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42</vt:i4>
      </vt:variant>
    </vt:vector>
  </HeadingPairs>
  <TitlesOfParts>
    <vt:vector size="56" baseType="lpstr">
      <vt:lpstr>Monotype Corsiva</vt:lpstr>
      <vt:lpstr>Cambria Math</vt:lpstr>
      <vt:lpstr>Arial</vt:lpstr>
      <vt:lpstr>Garet Bold</vt:lpstr>
      <vt:lpstr>Times Neue Roman</vt:lpstr>
      <vt:lpstr>Times Neue Roman Bold</vt:lpstr>
      <vt:lpstr>Mongolian Baiti</vt:lpstr>
      <vt:lpstr>Canva Sans Bold</vt:lpstr>
      <vt:lpstr>Open Sans Light Bold</vt:lpstr>
      <vt:lpstr>Open Sans Bold</vt:lpstr>
      <vt:lpstr>Source Han Serif JP Bold Bold</vt:lpstr>
      <vt:lpstr>Calibri</vt:lpstr>
      <vt:lpstr>Source Han Serif JP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Presentation Semester 7</dc:title>
  <dc:creator>Soroush Javed Sulehr</dc:creator>
  <cp:lastModifiedBy>Soroush Javed Sulehri</cp:lastModifiedBy>
  <cp:revision>23</cp:revision>
  <dcterms:created xsi:type="dcterms:W3CDTF">2006-08-16T00:00:00Z</dcterms:created>
  <dcterms:modified xsi:type="dcterms:W3CDTF">2023-01-04T11:53:36Z</dcterms:modified>
  <dc:identifier>DAFWB1BP8Sk</dc:identifier>
</cp:coreProperties>
</file>